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dof.gob.mx/" TargetMode="Externa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15.xml"/><Relationship Id="rId9" Type="http://schemas.openxmlformats.org/officeDocument/2006/relationships/slide" Target="slide16.xml"/><Relationship Id="rId10" Type="http://schemas.openxmlformats.org/officeDocument/2006/relationships/slide" Target="slide17.xml"/><Relationship Id="rId11" Type="http://schemas.openxmlformats.org/officeDocument/2006/relationships/slide" Target="slide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dof.gob.mx/"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hyperlink" Target="https://comunicacionsocial.senado.gob.mx/informacion/comisionp/cp-comunicados/15376"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municacionsocial.senado.gob.mx/informacion/comunicados/15467"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3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4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4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dof.gob.mx/"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exicoevalua.org/aplazar-las-elecciones-judiciales-a-2028-podria-dar-tiempo-a-mejorar-el-proceso-de-seleccion/"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dof.gob.mx/" TargetMode="External"/><Relationship Id="rId3" Type="http://schemas.openxmlformats.org/officeDocument/2006/relationships/hyperlink" Target="https://gaceta.diputados.gob.mx/PDF/66/2026/may/20260526-III.pdf" TargetMode="External"/><Relationship Id="rId4" Type="http://schemas.openxmlformats.org/officeDocument/2006/relationships/hyperlink" Target="https://gaceta.diputados.gob.mx/Gaceta/66/2026/may/20260525.html" TargetMode="External"/><Relationship Id="rId5" Type="http://schemas.openxmlformats.org/officeDocument/2006/relationships/hyperlink" Target="https://comunicacionsocial.diputados.gob.mx/index.php/notilegis/publica-dof-decreto-de-la-reforma-constitucional-al-poder-judicial" TargetMode="External"/><Relationship Id="rId6" Type="http://schemas.openxmlformats.org/officeDocument/2006/relationships/hyperlink" Target="https://canaldelcongreso.gob.mx/noticias/10124" TargetMode="External"/><Relationship Id="rId7" Type="http://schemas.openxmlformats.org/officeDocument/2006/relationships/hyperlink" Target="https://comunicacionsocial.senado.gob.mx/informacion/comisionp/cp-comunicados/15376" TargetMode="External"/><Relationship Id="rId8" Type="http://schemas.openxmlformats.org/officeDocument/2006/relationships/hyperlink" Target="https://comunicacionsocial.senado.gob.mx/informacion/comunicados/15451" TargetMode="External"/><Relationship Id="rId9" Type="http://schemas.openxmlformats.org/officeDocument/2006/relationships/hyperlink" Target="https://comunicacionsocial.senado.gob.mx/informacion/comunicados/15467" TargetMode="External"/><Relationship Id="rId10" Type="http://schemas.openxmlformats.org/officeDocument/2006/relationships/hyperlink" Target="https://centralelectoral.ine.mx/2026/05/13/entrega-ine-diagnostico-tecnico-a-la-camara-de-diputados-para-fundamentar-el-aplazamiento-de-la-eleccion-judicial-al-2028/" TargetMode="External"/><Relationship Id="rId11" Type="http://schemas.openxmlformats.org/officeDocument/2006/relationships/hyperlink" Target="https://centralelectoral.ine.mx/2025/12/18/recibe-ine-informe-final-de-la-evaluacion-integral-del-proceso-electoral-extraordinario-del-poder-judicial-de-la-federacion/" TargetMode="External"/><Relationship Id="rId12" Type="http://schemas.openxmlformats.org/officeDocument/2006/relationships/hyperlink" Target="https://www.gob.mx/presidencia/prensa/"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oblanco.juridicas.unam.mx/" TargetMode="External"/><Relationship Id="rId3" Type="http://schemas.openxmlformats.org/officeDocument/2006/relationships/hyperlink" Target="https://www.gaceta.unam.mx/?p=185919" TargetMode="External"/><Relationship Id="rId4" Type="http://schemas.openxmlformats.org/officeDocument/2006/relationships/hyperlink" Target="https://doi.org/10.22201/iij.24484881e.2026.55.19837" TargetMode="External"/><Relationship Id="rId5" Type="http://schemas.openxmlformats.org/officeDocument/2006/relationships/hyperlink" Target="https://doi.org/10.22201/iij.24484881e.2026.55.21287" TargetMode="External"/><Relationship Id="rId6" Type="http://schemas.openxmlformats.org/officeDocument/2006/relationships/hyperlink" Target="https://doi.org/10.18042/cepc/redc.134.01" TargetMode="External"/><Relationship Id="rId7" Type="http://schemas.openxmlformats.org/officeDocument/2006/relationships/hyperlink" Target="https://doi.org/10.5944/trc.57.2026.48720" TargetMode="External"/><Relationship Id="rId8" Type="http://schemas.openxmlformats.org/officeDocument/2006/relationships/hyperlink" Target="https://doi.org/10.22201/iij.24487929e.2025.36.20966" TargetMode="External"/><Relationship Id="rId9" Type="http://schemas.openxmlformats.org/officeDocument/2006/relationships/hyperlink" Target="https://www.sitios.scjn.gob.mx/cec/" TargetMode="External"/><Relationship Id="rId10" Type="http://schemas.openxmlformats.org/officeDocument/2006/relationships/hyperlink" Target="https://mexicoevalua.org/aplazar-las-elecciones-judiciales-a-2028-podria-dar-tiempo-a-mejorar-el-proceso-de-seleccion/" TargetMode="External"/><Relationship Id="rId11" Type="http://schemas.openxmlformats.org/officeDocument/2006/relationships/hyperlink" Target="https://www.oas.org/es/cidh/jsForm/?File=/es/cidh/prensa/comunicados/2024/213.asp" TargetMode="External"/><Relationship Id="rId12" Type="http://schemas.openxmlformats.org/officeDocument/2006/relationships/hyperlink" Target="https://spcommreports.ohchr.org/" TargetMode="External"/><Relationship Id="rId13" Type="http://schemas.openxmlformats.org/officeDocument/2006/relationships/hyperlink" Target="https://www.oas.org/fpdb/press/2025_MEXICO_MOE_Elecciones_Judiciales_-Informe_Preliminar_ESP.pdf"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jornada.com.mx/noticia/2026/06/01/politica/congreso-declara-constitucional-la-reforma-que-pospone-eleccion-del-poder-judicial-al-2028" TargetMode="External"/><Relationship Id="rId3" Type="http://schemas.openxmlformats.org/officeDocument/2006/relationships/hyperlink" Target="https://www.jornada.com.mx/2026/05/29/politica/005n1pol" TargetMode="External"/><Relationship Id="rId4" Type="http://schemas.openxmlformats.org/officeDocument/2006/relationships/hyperlink" Target="https://www.milenio.com/politica/reforma-judicial-que-se-modifica-con-publicacion-en-el-dof" TargetMode="External"/><Relationship Id="rId5" Type="http://schemas.openxmlformats.org/officeDocument/2006/relationships/hyperlink" Target="https://www.infobae.com/mexico/2026/06/03/reforma-judicial-entra-en-vigor-hoy-en-mexico-gobierno-federal-explica-el-abc-de-la-ley/" TargetMode="External"/><Relationship Id="rId6" Type="http://schemas.openxmlformats.org/officeDocument/2006/relationships/hyperlink" Target="https://www.eluniversal.com.mx/nacion/" TargetMode="External"/><Relationship Id="rId7" Type="http://schemas.openxmlformats.org/officeDocument/2006/relationships/hyperlink" Target="https://www.reforma.com/" TargetMode="External"/><Relationship Id="rId8" Type="http://schemas.openxmlformats.org/officeDocument/2006/relationships/hyperlink" Target="https://www.proceso.com.mx/nacional/politica/2026/5/28/" TargetMode="External"/><Relationship Id="rId9" Type="http://schemas.openxmlformats.org/officeDocument/2006/relationships/hyperlink" Target="https://www.elfinanciero.com.mx/nacional/2026/05/25/" TargetMode="External"/><Relationship Id="rId10" Type="http://schemas.openxmlformats.org/officeDocument/2006/relationships/hyperlink" Target="https://politica.expansion.mx/congreso/2026/05/29/"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aceta.diputados.gob.mx/PDF/66/2026/may/20260526-III.pdf" TargetMode="External"/><Relationship Id="rId3" Type="http://schemas.openxmlformats.org/officeDocument/2006/relationships/slide" Target="slide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gradFill rotWithShape="1">
            <a:gsLst>
              <a:gs pos="0">
                <a:srgbClr val="3D0A1C"/>
              </a:gs>
              <a:gs pos="100000">
                <a:srgbClr val="1A1A1A"/>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08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62895" cy="365760"/>
          </a:xfrm>
          <a:prstGeom prst="rect">
            <a:avLst/>
          </a:prstGeom>
          <a:noFill/>
        </p:spPr>
        <p:txBody>
          <a:bodyPr wrap="square" anchor="t" lIns="0" rIns="0" tIns="0" bIns="0">
            <a:spAutoFit/>
          </a:bodyPr>
          <a:lstStyle/>
          <a:p>
            <a:pPr algn="ctr">
              <a:lnSpc>
                <a:spcPct val="115000"/>
              </a:lnSpc>
            </a:pPr>
            <a:r>
              <a:rPr sz="1300" b="1">
                <a:solidFill>
                  <a:srgbClr val="98989A"/>
                </a:solidFill>
                <a:latin typeface="Montserrat"/>
              </a:rPr>
              <a:t>Análisis jurídico - Fuentes oficiales y académicas</a:t>
            </a:r>
          </a:p>
        </p:txBody>
      </p:sp>
      <p:sp>
        <p:nvSpPr>
          <p:cNvPr id="6" name="Rectangle 5"/>
          <p:cNvSpPr/>
          <p:nvPr/>
        </p:nvSpPr>
        <p:spPr>
          <a:xfrm>
            <a:off x="5455767" y="1828800"/>
            <a:ext cx="128016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029968"/>
            <a:ext cx="11094415" cy="914400"/>
          </a:xfrm>
          <a:prstGeom prst="rect">
            <a:avLst/>
          </a:prstGeom>
          <a:noFill/>
        </p:spPr>
        <p:txBody>
          <a:bodyPr wrap="square" anchor="t" lIns="0" rIns="0" tIns="0" bIns="0">
            <a:spAutoFit/>
          </a:bodyPr>
          <a:lstStyle/>
          <a:p>
            <a:pPr algn="ctr">
              <a:lnSpc>
                <a:spcPct val="115000"/>
              </a:lnSpc>
            </a:pPr>
            <a:r>
              <a:rPr sz="4000" b="1">
                <a:solidFill>
                  <a:srgbClr val="E6D194"/>
                </a:solidFill>
                <a:latin typeface="Montserrat"/>
              </a:rPr>
              <a:t>REFORMA AL PODER JUDICIAL</a:t>
            </a:r>
          </a:p>
        </p:txBody>
      </p:sp>
      <p:sp>
        <p:nvSpPr>
          <p:cNvPr id="8" name="TextBox 7"/>
          <p:cNvSpPr txBox="1"/>
          <p:nvPr/>
        </p:nvSpPr>
        <p:spPr>
          <a:xfrm>
            <a:off x="548640" y="2999232"/>
            <a:ext cx="11094415" cy="548640"/>
          </a:xfrm>
          <a:prstGeom prst="rect">
            <a:avLst/>
          </a:prstGeom>
          <a:noFill/>
        </p:spPr>
        <p:txBody>
          <a:bodyPr wrap="square" anchor="t" lIns="0" rIns="0" tIns="0" bIns="0">
            <a:spAutoFit/>
          </a:bodyPr>
          <a:lstStyle/>
          <a:p>
            <a:pPr algn="ctr">
              <a:lnSpc>
                <a:spcPct val="115000"/>
              </a:lnSpc>
            </a:pPr>
            <a:r>
              <a:rPr sz="2200" b="0">
                <a:solidFill>
                  <a:srgbClr val="F5F0EB"/>
                </a:solidFill>
                <a:latin typeface="Montserrat"/>
              </a:rPr>
              <a:t>Comparativo Antes / Después - CPEUM</a:t>
            </a:r>
          </a:p>
        </p:txBody>
      </p:sp>
      <p:sp>
        <p:nvSpPr>
          <p:cNvPr id="9" name="Rounded Rectangle 8"/>
          <p:cNvSpPr/>
          <p:nvPr/>
        </p:nvSpPr>
        <p:spPr>
          <a:xfrm>
            <a:off x="548640" y="3840480"/>
            <a:ext cx="2087209" cy="841248"/>
          </a:xfrm>
          <a:prstGeom prst="roundRect">
            <a:avLst/>
          </a:prstGeom>
          <a:noFill/>
          <a:ln w="12700">
            <a:solidFill>
              <a:srgbClr val="A57F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968496"/>
            <a:ext cx="2087209" cy="365760"/>
          </a:xfrm>
          <a:prstGeom prst="rect">
            <a:avLst/>
          </a:prstGeom>
          <a:noFill/>
        </p:spPr>
        <p:txBody>
          <a:bodyPr wrap="square" anchor="t" lIns="0" rIns="0" tIns="0" bIns="0">
            <a:spAutoFit/>
          </a:bodyPr>
          <a:lstStyle/>
          <a:p>
            <a:pPr algn="ctr">
              <a:lnSpc>
                <a:spcPct val="115000"/>
              </a:lnSpc>
            </a:pPr>
            <a:r>
              <a:rPr sz="1700" b="1">
                <a:solidFill>
                  <a:srgbClr val="E6D194"/>
                </a:solidFill>
                <a:latin typeface="Montserrat"/>
              </a:rPr>
              <a:t>02-06-2026</a:t>
            </a:r>
          </a:p>
        </p:txBody>
      </p:sp>
      <p:sp>
        <p:nvSpPr>
          <p:cNvPr id="11" name="TextBox 10"/>
          <p:cNvSpPr txBox="1"/>
          <p:nvPr/>
        </p:nvSpPr>
        <p:spPr>
          <a:xfrm>
            <a:off x="594360" y="4343400"/>
            <a:ext cx="1995769" cy="310896"/>
          </a:xfrm>
          <a:prstGeom prst="rect">
            <a:avLst/>
          </a:prstGeom>
          <a:noFill/>
        </p:spPr>
        <p:txBody>
          <a:bodyPr wrap="square" anchor="t" lIns="0" rIns="0" tIns="0" bIns="0">
            <a:spAutoFit/>
          </a:bodyPr>
          <a:lstStyle/>
          <a:p>
            <a:pPr algn="ctr">
              <a:lnSpc>
                <a:spcPct val="115000"/>
              </a:lnSpc>
            </a:pPr>
            <a:r>
              <a:rPr sz="900" b="1">
                <a:solidFill>
                  <a:srgbClr val="98989A"/>
                </a:solidFill>
                <a:latin typeface="Montserrat"/>
              </a:rPr>
              <a:t>Publicación DOF</a:t>
            </a:r>
          </a:p>
        </p:txBody>
      </p:sp>
      <p:sp>
        <p:nvSpPr>
          <p:cNvPr id="12" name="Rounded Rectangle 11"/>
          <p:cNvSpPr/>
          <p:nvPr/>
        </p:nvSpPr>
        <p:spPr>
          <a:xfrm>
            <a:off x="2800441" y="3840480"/>
            <a:ext cx="2087209" cy="841248"/>
          </a:xfrm>
          <a:prstGeom prst="roundRect">
            <a:avLst/>
          </a:prstGeom>
          <a:noFill/>
          <a:ln w="12700">
            <a:solidFill>
              <a:srgbClr val="A57F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00441" y="3968496"/>
            <a:ext cx="2087209" cy="365760"/>
          </a:xfrm>
          <a:prstGeom prst="rect">
            <a:avLst/>
          </a:prstGeom>
          <a:noFill/>
        </p:spPr>
        <p:txBody>
          <a:bodyPr wrap="square" anchor="t" lIns="0" rIns="0" tIns="0" bIns="0">
            <a:spAutoFit/>
          </a:bodyPr>
          <a:lstStyle/>
          <a:p>
            <a:pPr algn="ctr">
              <a:lnSpc>
                <a:spcPct val="115000"/>
              </a:lnSpc>
            </a:pPr>
            <a:r>
              <a:rPr sz="1700" b="1">
                <a:solidFill>
                  <a:srgbClr val="E6D194"/>
                </a:solidFill>
                <a:latin typeface="Montserrat"/>
              </a:rPr>
              <a:t>7</a:t>
            </a:r>
          </a:p>
        </p:txBody>
      </p:sp>
      <p:sp>
        <p:nvSpPr>
          <p:cNvPr id="14" name="TextBox 13"/>
          <p:cNvSpPr txBox="1"/>
          <p:nvPr/>
        </p:nvSpPr>
        <p:spPr>
          <a:xfrm>
            <a:off x="2846161" y="4343400"/>
            <a:ext cx="1995769" cy="310896"/>
          </a:xfrm>
          <a:prstGeom prst="rect">
            <a:avLst/>
          </a:prstGeom>
          <a:noFill/>
        </p:spPr>
        <p:txBody>
          <a:bodyPr wrap="square" anchor="t" lIns="0" rIns="0" tIns="0" bIns="0">
            <a:spAutoFit/>
          </a:bodyPr>
          <a:lstStyle/>
          <a:p>
            <a:pPr algn="ctr">
              <a:lnSpc>
                <a:spcPct val="115000"/>
              </a:lnSpc>
            </a:pPr>
            <a:r>
              <a:rPr sz="900" b="1">
                <a:solidFill>
                  <a:srgbClr val="98989A"/>
                </a:solidFill>
                <a:latin typeface="Montserrat"/>
              </a:rPr>
              <a:t>Artículos reformados</a:t>
            </a:r>
          </a:p>
        </p:txBody>
      </p:sp>
      <p:sp>
        <p:nvSpPr>
          <p:cNvPr id="15" name="Rounded Rectangle 14"/>
          <p:cNvSpPr/>
          <p:nvPr/>
        </p:nvSpPr>
        <p:spPr>
          <a:xfrm>
            <a:off x="5052242" y="3840480"/>
            <a:ext cx="2087209" cy="841248"/>
          </a:xfrm>
          <a:prstGeom prst="roundRect">
            <a:avLst/>
          </a:prstGeom>
          <a:noFill/>
          <a:ln w="12700">
            <a:solidFill>
              <a:srgbClr val="A57F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52242" y="3968496"/>
            <a:ext cx="2087209" cy="365760"/>
          </a:xfrm>
          <a:prstGeom prst="rect">
            <a:avLst/>
          </a:prstGeom>
          <a:noFill/>
        </p:spPr>
        <p:txBody>
          <a:bodyPr wrap="square" anchor="t" lIns="0" rIns="0" tIns="0" bIns="0">
            <a:spAutoFit/>
          </a:bodyPr>
          <a:lstStyle/>
          <a:p>
            <a:pPr algn="ctr">
              <a:lnSpc>
                <a:spcPct val="115000"/>
              </a:lnSpc>
            </a:pPr>
            <a:r>
              <a:rPr sz="1700" b="1">
                <a:solidFill>
                  <a:srgbClr val="E6D194"/>
                </a:solidFill>
                <a:latin typeface="Montserrat"/>
              </a:rPr>
              <a:t>2027 a 2028</a:t>
            </a:r>
          </a:p>
        </p:txBody>
      </p:sp>
      <p:sp>
        <p:nvSpPr>
          <p:cNvPr id="17" name="TextBox 16"/>
          <p:cNvSpPr txBox="1"/>
          <p:nvPr/>
        </p:nvSpPr>
        <p:spPr>
          <a:xfrm>
            <a:off x="5097962" y="4343400"/>
            <a:ext cx="1995769" cy="310896"/>
          </a:xfrm>
          <a:prstGeom prst="rect">
            <a:avLst/>
          </a:prstGeom>
          <a:noFill/>
        </p:spPr>
        <p:txBody>
          <a:bodyPr wrap="square" anchor="t" lIns="0" rIns="0" tIns="0" bIns="0">
            <a:spAutoFit/>
          </a:bodyPr>
          <a:lstStyle/>
          <a:p>
            <a:pPr algn="ctr">
              <a:lnSpc>
                <a:spcPct val="115000"/>
              </a:lnSpc>
            </a:pPr>
            <a:r>
              <a:rPr sz="900" b="1">
                <a:solidFill>
                  <a:srgbClr val="98989A"/>
                </a:solidFill>
                <a:latin typeface="Montserrat"/>
              </a:rPr>
              <a:t>Elección judicial</a:t>
            </a:r>
          </a:p>
        </p:txBody>
      </p:sp>
      <p:sp>
        <p:nvSpPr>
          <p:cNvPr id="18" name="Rounded Rectangle 17"/>
          <p:cNvSpPr/>
          <p:nvPr/>
        </p:nvSpPr>
        <p:spPr>
          <a:xfrm>
            <a:off x="7304044" y="3840480"/>
            <a:ext cx="2087209" cy="841248"/>
          </a:xfrm>
          <a:prstGeom prst="roundRect">
            <a:avLst/>
          </a:prstGeom>
          <a:noFill/>
          <a:ln w="12700">
            <a:solidFill>
              <a:srgbClr val="A57F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04044" y="3968496"/>
            <a:ext cx="2087209" cy="365760"/>
          </a:xfrm>
          <a:prstGeom prst="rect">
            <a:avLst/>
          </a:prstGeom>
          <a:noFill/>
        </p:spPr>
        <p:txBody>
          <a:bodyPr wrap="square" anchor="t" lIns="0" rIns="0" tIns="0" bIns="0">
            <a:spAutoFit/>
          </a:bodyPr>
          <a:lstStyle/>
          <a:p>
            <a:pPr algn="ctr">
              <a:lnSpc>
                <a:spcPct val="115000"/>
              </a:lnSpc>
            </a:pPr>
            <a:r>
              <a:rPr sz="1700" b="1">
                <a:solidFill>
                  <a:srgbClr val="E6D194"/>
                </a:solidFill>
                <a:latin typeface="Montserrat"/>
              </a:rPr>
              <a:t>Art. 135</a:t>
            </a:r>
          </a:p>
        </p:txBody>
      </p:sp>
      <p:sp>
        <p:nvSpPr>
          <p:cNvPr id="20" name="TextBox 19"/>
          <p:cNvSpPr txBox="1"/>
          <p:nvPr/>
        </p:nvSpPr>
        <p:spPr>
          <a:xfrm>
            <a:off x="7349764" y="4343400"/>
            <a:ext cx="1995769" cy="310896"/>
          </a:xfrm>
          <a:prstGeom prst="rect">
            <a:avLst/>
          </a:prstGeom>
          <a:noFill/>
        </p:spPr>
        <p:txBody>
          <a:bodyPr wrap="square" anchor="t" lIns="0" rIns="0" tIns="0" bIns="0">
            <a:spAutoFit/>
          </a:bodyPr>
          <a:lstStyle/>
          <a:p>
            <a:pPr algn="ctr">
              <a:lnSpc>
                <a:spcPct val="115000"/>
              </a:lnSpc>
            </a:pPr>
            <a:r>
              <a:rPr sz="900" b="1">
                <a:solidFill>
                  <a:srgbClr val="98989A"/>
                </a:solidFill>
                <a:latin typeface="Montserrat"/>
              </a:rPr>
              <a:t>Vía constituyente</a:t>
            </a:r>
          </a:p>
        </p:txBody>
      </p:sp>
      <p:sp>
        <p:nvSpPr>
          <p:cNvPr id="21" name="Rounded Rectangle 20"/>
          <p:cNvSpPr/>
          <p:nvPr/>
        </p:nvSpPr>
        <p:spPr>
          <a:xfrm>
            <a:off x="9555845" y="3840480"/>
            <a:ext cx="2087209" cy="841248"/>
          </a:xfrm>
          <a:prstGeom prst="roundRect">
            <a:avLst/>
          </a:prstGeom>
          <a:noFill/>
          <a:ln w="12700">
            <a:solidFill>
              <a:srgbClr val="A57F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55845" y="3968496"/>
            <a:ext cx="2087209" cy="365760"/>
          </a:xfrm>
          <a:prstGeom prst="rect">
            <a:avLst/>
          </a:prstGeom>
          <a:noFill/>
        </p:spPr>
        <p:txBody>
          <a:bodyPr wrap="square" anchor="t" lIns="0" rIns="0" tIns="0" bIns="0">
            <a:spAutoFit/>
          </a:bodyPr>
          <a:lstStyle/>
          <a:p>
            <a:pPr algn="ctr">
              <a:lnSpc>
                <a:spcPct val="115000"/>
              </a:lnSpc>
            </a:pPr>
            <a:r>
              <a:rPr sz="1700" b="1">
                <a:solidFill>
                  <a:srgbClr val="E6D194"/>
                </a:solidFill>
                <a:latin typeface="Montserrat"/>
              </a:rPr>
              <a:t>2.a</a:t>
            </a:r>
          </a:p>
        </p:txBody>
      </p:sp>
      <p:sp>
        <p:nvSpPr>
          <p:cNvPr id="23" name="TextBox 22"/>
          <p:cNvSpPr txBox="1"/>
          <p:nvPr/>
        </p:nvSpPr>
        <p:spPr>
          <a:xfrm>
            <a:off x="9601565" y="4343400"/>
            <a:ext cx="1995769" cy="310896"/>
          </a:xfrm>
          <a:prstGeom prst="rect">
            <a:avLst/>
          </a:prstGeom>
          <a:noFill/>
        </p:spPr>
        <p:txBody>
          <a:bodyPr wrap="square" anchor="t" lIns="0" rIns="0" tIns="0" bIns="0">
            <a:spAutoFit/>
          </a:bodyPr>
          <a:lstStyle/>
          <a:p>
            <a:pPr algn="ctr">
              <a:lnSpc>
                <a:spcPct val="115000"/>
              </a:lnSpc>
            </a:pPr>
            <a:r>
              <a:rPr sz="900" b="1">
                <a:solidFill>
                  <a:srgbClr val="98989A"/>
                </a:solidFill>
                <a:latin typeface="Montserrat"/>
              </a:rPr>
              <a:t>Reforma judicial</a:t>
            </a:r>
          </a:p>
        </p:txBody>
      </p:sp>
      <p:sp>
        <p:nvSpPr>
          <p:cNvPr id="24" name="TextBox 23"/>
          <p:cNvSpPr txBox="1"/>
          <p:nvPr/>
        </p:nvSpPr>
        <p:spPr>
          <a:xfrm>
            <a:off x="548640" y="6309360"/>
            <a:ext cx="11094415" cy="365760"/>
          </a:xfrm>
          <a:prstGeom prst="rect">
            <a:avLst/>
          </a:prstGeom>
          <a:noFill/>
        </p:spPr>
        <p:txBody>
          <a:bodyPr wrap="square" anchor="t" lIns="0" rIns="0" tIns="0" bIns="0">
            <a:spAutoFit/>
          </a:bodyPr>
          <a:lstStyle/>
          <a:p>
            <a:pPr algn="ctr">
              <a:lnSpc>
                <a:spcPct val="115000"/>
              </a:lnSpc>
            </a:pPr>
            <a:r>
              <a:rPr sz="1050" b="0">
                <a:solidFill>
                  <a:srgbClr val="98989A"/>
                </a:solidFill>
                <a:latin typeface="Montserrat"/>
              </a:rPr>
              <a:t>Decreto DOF 02/06/2026 - Corte informativo: 3 de junio de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0467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INDICE</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Indice de contenido</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554480"/>
            <a:ext cx="11094415" cy="4236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50800" cy="423672"/>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94944" y="1642872"/>
            <a:ext cx="310896" cy="310896"/>
          </a:xfrm>
          <a:prstGeom prst="ellipse">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Montserrat"/>
              </a:rPr>
              <a:t>01</a:t>
            </a:r>
          </a:p>
        </p:txBody>
      </p:sp>
      <p:sp>
        <p:nvSpPr>
          <p:cNvPr id="10" name="TextBox 9"/>
          <p:cNvSpPr txBox="1"/>
          <p:nvPr/>
        </p:nvSpPr>
        <p:spPr>
          <a:xfrm>
            <a:off x="1152144" y="1554480"/>
            <a:ext cx="10180015" cy="423672"/>
          </a:xfrm>
          <a:prstGeom prst="rect">
            <a:avLst/>
          </a:prstGeom>
          <a:noFill/>
        </p:spPr>
        <p:txBody>
          <a:bodyPr wrap="square" anchor="ctr" lIns="0" rIns="0" tIns="0" bIns="0">
            <a:spAutoFit/>
          </a:bodyPr>
          <a:lstStyle/>
          <a:p>
            <a:pPr algn="l">
              <a:lnSpc>
                <a:spcPct val="115000"/>
              </a:lnSpc>
            </a:pPr>
            <a:r>
              <a:rPr sz="1500" b="1">
                <a:solidFill>
                  <a:srgbClr val="1A1A1A"/>
                </a:solidFill>
                <a:latin typeface="Montserrat"/>
              </a:rPr>
              <a:t>Que se reformó (panorama)</a:t>
            </a:r>
          </a:p>
        </p:txBody>
      </p:sp>
      <p:sp>
        <p:nvSpPr>
          <p:cNvPr id="11" name="Rounded Rectangle 10">
            <a:hlinkClick action="ppaction://hlinksldjump" r:id="rId3"/>
          </p:cNvPr>
          <p:cNvSpPr/>
          <p:nvPr/>
        </p:nvSpPr>
        <p:spPr>
          <a:xfrm>
            <a:off x="11185855" y="1642872"/>
            <a:ext cx="310896" cy="310896"/>
          </a:xfrm>
          <a:prstGeom prst="roundRect">
            <a:avLst/>
          </a:prstGeom>
          <a:solidFill>
            <a:srgbClr val="EF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B1531"/>
                </a:solidFill>
                <a:latin typeface="Montserrat"/>
              </a:rPr>
              <a:t>&gt;</a:t>
            </a:r>
          </a:p>
        </p:txBody>
      </p:sp>
      <p:sp>
        <p:nvSpPr>
          <p:cNvPr id="12" name="Rectangle 11"/>
          <p:cNvSpPr/>
          <p:nvPr/>
        </p:nvSpPr>
        <p:spPr>
          <a:xfrm>
            <a:off x="548640" y="2042160"/>
            <a:ext cx="11094415" cy="4236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42160"/>
            <a:ext cx="50800" cy="423672"/>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94944" y="2130552"/>
            <a:ext cx="310896" cy="310896"/>
          </a:xfrm>
          <a:prstGeom prst="ellipse">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Montserrat"/>
              </a:rPr>
              <a:t>02</a:t>
            </a:r>
          </a:p>
        </p:txBody>
      </p:sp>
      <p:sp>
        <p:nvSpPr>
          <p:cNvPr id="15" name="TextBox 14"/>
          <p:cNvSpPr txBox="1"/>
          <p:nvPr/>
        </p:nvSpPr>
        <p:spPr>
          <a:xfrm>
            <a:off x="1152144" y="2042160"/>
            <a:ext cx="10180015" cy="423672"/>
          </a:xfrm>
          <a:prstGeom prst="rect">
            <a:avLst/>
          </a:prstGeom>
          <a:noFill/>
        </p:spPr>
        <p:txBody>
          <a:bodyPr wrap="square" anchor="ctr" lIns="0" rIns="0" tIns="0" bIns="0">
            <a:spAutoFit/>
          </a:bodyPr>
          <a:lstStyle/>
          <a:p>
            <a:pPr algn="l">
              <a:lnSpc>
                <a:spcPct val="115000"/>
              </a:lnSpc>
            </a:pPr>
            <a:r>
              <a:rPr sz="1500" b="1">
                <a:solidFill>
                  <a:srgbClr val="1A1A1A"/>
                </a:solidFill>
                <a:latin typeface="Montserrat"/>
              </a:rPr>
              <a:t>Origen y actores clave</a:t>
            </a:r>
          </a:p>
        </p:txBody>
      </p:sp>
      <p:sp>
        <p:nvSpPr>
          <p:cNvPr id="16" name="Rounded Rectangle 15">
            <a:hlinkClick action="ppaction://hlinksldjump" r:id="rId4"/>
          </p:cNvPr>
          <p:cNvSpPr/>
          <p:nvPr/>
        </p:nvSpPr>
        <p:spPr>
          <a:xfrm>
            <a:off x="11185855" y="2130552"/>
            <a:ext cx="310896" cy="310896"/>
          </a:xfrm>
          <a:prstGeom prst="roundRect">
            <a:avLst/>
          </a:prstGeom>
          <a:solidFill>
            <a:srgbClr val="EF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B1531"/>
                </a:solidFill>
                <a:latin typeface="Montserrat"/>
              </a:rPr>
              <a:t>&gt;</a:t>
            </a:r>
          </a:p>
        </p:txBody>
      </p:sp>
      <p:sp>
        <p:nvSpPr>
          <p:cNvPr id="17" name="Rectangle 16"/>
          <p:cNvSpPr/>
          <p:nvPr/>
        </p:nvSpPr>
        <p:spPr>
          <a:xfrm>
            <a:off x="548640" y="2529840"/>
            <a:ext cx="11094415" cy="4236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2529840"/>
            <a:ext cx="50800" cy="423672"/>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94944" y="2618232"/>
            <a:ext cx="310896" cy="310896"/>
          </a:xfrm>
          <a:prstGeom prst="ellipse">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Montserrat"/>
              </a:rPr>
              <a:t>03</a:t>
            </a:r>
          </a:p>
        </p:txBody>
      </p:sp>
      <p:sp>
        <p:nvSpPr>
          <p:cNvPr id="20" name="TextBox 19"/>
          <p:cNvSpPr txBox="1"/>
          <p:nvPr/>
        </p:nvSpPr>
        <p:spPr>
          <a:xfrm>
            <a:off x="1152144" y="2529840"/>
            <a:ext cx="10180015" cy="423672"/>
          </a:xfrm>
          <a:prstGeom prst="rect">
            <a:avLst/>
          </a:prstGeom>
          <a:noFill/>
        </p:spPr>
        <p:txBody>
          <a:bodyPr wrap="square" anchor="ctr" lIns="0" rIns="0" tIns="0" bIns="0">
            <a:spAutoFit/>
          </a:bodyPr>
          <a:lstStyle/>
          <a:p>
            <a:pPr algn="l">
              <a:lnSpc>
                <a:spcPct val="115000"/>
              </a:lnSpc>
            </a:pPr>
            <a:r>
              <a:rPr sz="1500" b="1">
                <a:solidFill>
                  <a:srgbClr val="1A1A1A"/>
                </a:solidFill>
                <a:latin typeface="Montserrat"/>
              </a:rPr>
              <a:t>Trámite legislativo y votos</a:t>
            </a:r>
          </a:p>
        </p:txBody>
      </p:sp>
      <p:sp>
        <p:nvSpPr>
          <p:cNvPr id="21" name="Rounded Rectangle 20">
            <a:hlinkClick action="ppaction://hlinksldjump" r:id="rId5"/>
          </p:cNvPr>
          <p:cNvSpPr/>
          <p:nvPr/>
        </p:nvSpPr>
        <p:spPr>
          <a:xfrm>
            <a:off x="11185855" y="2618232"/>
            <a:ext cx="310896" cy="310896"/>
          </a:xfrm>
          <a:prstGeom prst="roundRect">
            <a:avLst/>
          </a:prstGeom>
          <a:solidFill>
            <a:srgbClr val="EF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B1531"/>
                </a:solidFill>
                <a:latin typeface="Montserrat"/>
              </a:rPr>
              <a:t>&gt;</a:t>
            </a:r>
          </a:p>
        </p:txBody>
      </p:sp>
      <p:sp>
        <p:nvSpPr>
          <p:cNvPr id="22" name="Rectangle 21"/>
          <p:cNvSpPr/>
          <p:nvPr/>
        </p:nvSpPr>
        <p:spPr>
          <a:xfrm>
            <a:off x="548640" y="3017520"/>
            <a:ext cx="11094415" cy="4236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017520"/>
            <a:ext cx="50800" cy="423672"/>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94944" y="3105912"/>
            <a:ext cx="310896" cy="310896"/>
          </a:xfrm>
          <a:prstGeom prst="ellipse">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Montserrat"/>
              </a:rPr>
              <a:t>04</a:t>
            </a:r>
          </a:p>
        </p:txBody>
      </p:sp>
      <p:sp>
        <p:nvSpPr>
          <p:cNvPr id="25" name="TextBox 24"/>
          <p:cNvSpPr txBox="1"/>
          <p:nvPr/>
        </p:nvSpPr>
        <p:spPr>
          <a:xfrm>
            <a:off x="1152144" y="3017520"/>
            <a:ext cx="10180015" cy="423672"/>
          </a:xfrm>
          <a:prstGeom prst="rect">
            <a:avLst/>
          </a:prstGeom>
          <a:noFill/>
        </p:spPr>
        <p:txBody>
          <a:bodyPr wrap="square" anchor="ctr" lIns="0" rIns="0" tIns="0" bIns="0">
            <a:spAutoFit/>
          </a:bodyPr>
          <a:lstStyle/>
          <a:p>
            <a:pPr algn="l">
              <a:lnSpc>
                <a:spcPct val="115000"/>
              </a:lnSpc>
            </a:pPr>
            <a:r>
              <a:rPr sz="1500" b="1">
                <a:solidFill>
                  <a:srgbClr val="1A1A1A"/>
                </a:solidFill>
                <a:latin typeface="Montserrat"/>
              </a:rPr>
              <a:t>Por que (exposición de motivos)</a:t>
            </a:r>
          </a:p>
        </p:txBody>
      </p:sp>
      <p:sp>
        <p:nvSpPr>
          <p:cNvPr id="26" name="Rounded Rectangle 25">
            <a:hlinkClick action="ppaction://hlinksldjump" r:id="rId6"/>
          </p:cNvPr>
          <p:cNvSpPr/>
          <p:nvPr/>
        </p:nvSpPr>
        <p:spPr>
          <a:xfrm>
            <a:off x="11185855" y="3105912"/>
            <a:ext cx="310896" cy="310896"/>
          </a:xfrm>
          <a:prstGeom prst="roundRect">
            <a:avLst/>
          </a:prstGeom>
          <a:solidFill>
            <a:srgbClr val="EF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B1531"/>
                </a:solidFill>
                <a:latin typeface="Montserrat"/>
              </a:rPr>
              <a:t>&gt;</a:t>
            </a:r>
          </a:p>
        </p:txBody>
      </p:sp>
      <p:sp>
        <p:nvSpPr>
          <p:cNvPr id="27" name="Rectangle 26"/>
          <p:cNvSpPr/>
          <p:nvPr/>
        </p:nvSpPr>
        <p:spPr>
          <a:xfrm>
            <a:off x="548640" y="3505200"/>
            <a:ext cx="11094415" cy="4236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505200"/>
            <a:ext cx="50800" cy="423672"/>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94944" y="3593592"/>
            <a:ext cx="310896" cy="310896"/>
          </a:xfrm>
          <a:prstGeom prst="ellipse">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Montserrat"/>
              </a:rPr>
              <a:t>05</a:t>
            </a:r>
          </a:p>
        </p:txBody>
      </p:sp>
      <p:sp>
        <p:nvSpPr>
          <p:cNvPr id="30" name="TextBox 29"/>
          <p:cNvSpPr txBox="1"/>
          <p:nvPr/>
        </p:nvSpPr>
        <p:spPr>
          <a:xfrm>
            <a:off x="1152144" y="3505200"/>
            <a:ext cx="10180015" cy="423672"/>
          </a:xfrm>
          <a:prstGeom prst="rect">
            <a:avLst/>
          </a:prstGeom>
          <a:noFill/>
        </p:spPr>
        <p:txBody>
          <a:bodyPr wrap="square" anchor="ctr" lIns="0" rIns="0" tIns="0" bIns="0">
            <a:spAutoFit/>
          </a:bodyPr>
          <a:lstStyle/>
          <a:p>
            <a:pPr algn="l">
              <a:lnSpc>
                <a:spcPct val="115000"/>
              </a:lnSpc>
            </a:pPr>
            <a:r>
              <a:rPr sz="1500" b="1">
                <a:solidFill>
                  <a:srgbClr val="1A1A1A"/>
                </a:solidFill>
                <a:latin typeface="Montserrat"/>
              </a:rPr>
              <a:t>Comparativo por artículo (fracción)</a:t>
            </a:r>
          </a:p>
        </p:txBody>
      </p:sp>
      <p:sp>
        <p:nvSpPr>
          <p:cNvPr id="31" name="Rounded Rectangle 30">
            <a:hlinkClick action="ppaction://hlinksldjump" r:id="rId7"/>
          </p:cNvPr>
          <p:cNvSpPr/>
          <p:nvPr/>
        </p:nvSpPr>
        <p:spPr>
          <a:xfrm>
            <a:off x="11185855" y="3593592"/>
            <a:ext cx="310896" cy="310896"/>
          </a:xfrm>
          <a:prstGeom prst="roundRect">
            <a:avLst/>
          </a:prstGeom>
          <a:solidFill>
            <a:srgbClr val="EF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B1531"/>
                </a:solidFill>
                <a:latin typeface="Montserrat"/>
              </a:rPr>
              <a:t>&gt;</a:t>
            </a:r>
          </a:p>
        </p:txBody>
      </p:sp>
      <p:sp>
        <p:nvSpPr>
          <p:cNvPr id="32" name="Rectangle 31"/>
          <p:cNvSpPr/>
          <p:nvPr/>
        </p:nvSpPr>
        <p:spPr>
          <a:xfrm>
            <a:off x="548640" y="3992880"/>
            <a:ext cx="11094415" cy="4236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3992880"/>
            <a:ext cx="50800" cy="423672"/>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94944" y="4081272"/>
            <a:ext cx="310896" cy="310896"/>
          </a:xfrm>
          <a:prstGeom prst="ellipse">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Montserrat"/>
              </a:rPr>
              <a:t>06</a:t>
            </a:r>
          </a:p>
        </p:txBody>
      </p:sp>
      <p:sp>
        <p:nvSpPr>
          <p:cNvPr id="35" name="TextBox 34"/>
          <p:cNvSpPr txBox="1"/>
          <p:nvPr/>
        </p:nvSpPr>
        <p:spPr>
          <a:xfrm>
            <a:off x="1152144" y="3992880"/>
            <a:ext cx="10180015" cy="423672"/>
          </a:xfrm>
          <a:prstGeom prst="rect">
            <a:avLst/>
          </a:prstGeom>
          <a:noFill/>
        </p:spPr>
        <p:txBody>
          <a:bodyPr wrap="square" anchor="ctr" lIns="0" rIns="0" tIns="0" bIns="0">
            <a:spAutoFit/>
          </a:bodyPr>
          <a:lstStyle/>
          <a:p>
            <a:pPr algn="l">
              <a:lnSpc>
                <a:spcPct val="115000"/>
              </a:lnSpc>
            </a:pPr>
            <a:r>
              <a:rPr sz="1500" b="1">
                <a:solidFill>
                  <a:srgbClr val="1A1A1A"/>
                </a:solidFill>
                <a:latin typeface="Montserrat"/>
              </a:rPr>
              <a:t>Transitorios y calendario</a:t>
            </a:r>
          </a:p>
        </p:txBody>
      </p:sp>
      <p:sp>
        <p:nvSpPr>
          <p:cNvPr id="36" name="Rounded Rectangle 35">
            <a:hlinkClick action="ppaction://hlinksldjump" r:id="rId8"/>
          </p:cNvPr>
          <p:cNvSpPr/>
          <p:nvPr/>
        </p:nvSpPr>
        <p:spPr>
          <a:xfrm>
            <a:off x="11185855" y="4081272"/>
            <a:ext cx="310896" cy="310896"/>
          </a:xfrm>
          <a:prstGeom prst="roundRect">
            <a:avLst/>
          </a:prstGeom>
          <a:solidFill>
            <a:srgbClr val="EF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B1531"/>
                </a:solidFill>
                <a:latin typeface="Montserrat"/>
              </a:rPr>
              <a:t>&gt;</a:t>
            </a:r>
          </a:p>
        </p:txBody>
      </p:sp>
      <p:sp>
        <p:nvSpPr>
          <p:cNvPr id="37" name="Rectangle 36"/>
          <p:cNvSpPr/>
          <p:nvPr/>
        </p:nvSpPr>
        <p:spPr>
          <a:xfrm>
            <a:off x="548640" y="4480560"/>
            <a:ext cx="11094415" cy="4236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4480560"/>
            <a:ext cx="50800" cy="423672"/>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94944" y="4568952"/>
            <a:ext cx="310896" cy="310896"/>
          </a:xfrm>
          <a:prstGeom prst="ellipse">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Montserrat"/>
              </a:rPr>
              <a:t>07</a:t>
            </a:r>
          </a:p>
        </p:txBody>
      </p:sp>
      <p:sp>
        <p:nvSpPr>
          <p:cNvPr id="40" name="TextBox 39"/>
          <p:cNvSpPr txBox="1"/>
          <p:nvPr/>
        </p:nvSpPr>
        <p:spPr>
          <a:xfrm>
            <a:off x="1152144" y="4480560"/>
            <a:ext cx="10180015" cy="423672"/>
          </a:xfrm>
          <a:prstGeom prst="rect">
            <a:avLst/>
          </a:prstGeom>
          <a:noFill/>
        </p:spPr>
        <p:txBody>
          <a:bodyPr wrap="square" anchor="ctr" lIns="0" rIns="0" tIns="0" bIns="0">
            <a:spAutoFit/>
          </a:bodyPr>
          <a:lstStyle/>
          <a:p>
            <a:pPr algn="l">
              <a:lnSpc>
                <a:spcPct val="115000"/>
              </a:lnSpc>
            </a:pPr>
            <a:r>
              <a:rPr sz="1500" b="1">
                <a:solidFill>
                  <a:srgbClr val="1A1A1A"/>
                </a:solidFill>
                <a:latin typeface="Montserrat"/>
              </a:rPr>
              <a:t>Implicaciones: debate</a:t>
            </a:r>
          </a:p>
        </p:txBody>
      </p:sp>
      <p:sp>
        <p:nvSpPr>
          <p:cNvPr id="41" name="Rounded Rectangle 40">
            <a:hlinkClick action="ppaction://hlinksldjump" r:id="rId9"/>
          </p:cNvPr>
          <p:cNvSpPr/>
          <p:nvPr/>
        </p:nvSpPr>
        <p:spPr>
          <a:xfrm>
            <a:off x="11185855" y="4568952"/>
            <a:ext cx="310896" cy="310896"/>
          </a:xfrm>
          <a:prstGeom prst="roundRect">
            <a:avLst/>
          </a:prstGeom>
          <a:solidFill>
            <a:srgbClr val="EF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B1531"/>
                </a:solidFill>
                <a:latin typeface="Montserrat"/>
              </a:rPr>
              <a:t>&gt;</a:t>
            </a:r>
          </a:p>
        </p:txBody>
      </p:sp>
      <p:sp>
        <p:nvSpPr>
          <p:cNvPr id="42" name="Rectangle 41"/>
          <p:cNvSpPr/>
          <p:nvPr/>
        </p:nvSpPr>
        <p:spPr>
          <a:xfrm>
            <a:off x="548640" y="4968240"/>
            <a:ext cx="11094415" cy="4236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 y="4968240"/>
            <a:ext cx="50800" cy="423672"/>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94944" y="5056632"/>
            <a:ext cx="310896" cy="310896"/>
          </a:xfrm>
          <a:prstGeom prst="ellipse">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Montserrat"/>
              </a:rPr>
              <a:t>08</a:t>
            </a:r>
          </a:p>
        </p:txBody>
      </p:sp>
      <p:sp>
        <p:nvSpPr>
          <p:cNvPr id="45" name="TextBox 44"/>
          <p:cNvSpPr txBox="1"/>
          <p:nvPr/>
        </p:nvSpPr>
        <p:spPr>
          <a:xfrm>
            <a:off x="1152144" y="4968240"/>
            <a:ext cx="10180015" cy="423672"/>
          </a:xfrm>
          <a:prstGeom prst="rect">
            <a:avLst/>
          </a:prstGeom>
          <a:noFill/>
        </p:spPr>
        <p:txBody>
          <a:bodyPr wrap="square" anchor="ctr" lIns="0" rIns="0" tIns="0" bIns="0">
            <a:spAutoFit/>
          </a:bodyPr>
          <a:lstStyle/>
          <a:p>
            <a:pPr algn="l">
              <a:lnSpc>
                <a:spcPct val="115000"/>
              </a:lnSpc>
            </a:pPr>
            <a:r>
              <a:rPr sz="1500" b="1">
                <a:solidFill>
                  <a:srgbClr val="1A1A1A"/>
                </a:solidFill>
                <a:latin typeface="Montserrat"/>
              </a:rPr>
              <a:t>Fuentes (APA 7)</a:t>
            </a:r>
          </a:p>
        </p:txBody>
      </p:sp>
      <p:sp>
        <p:nvSpPr>
          <p:cNvPr id="46" name="Rounded Rectangle 45">
            <a:hlinkClick action="ppaction://hlinksldjump" r:id="rId10"/>
          </p:cNvPr>
          <p:cNvSpPr/>
          <p:nvPr/>
        </p:nvSpPr>
        <p:spPr>
          <a:xfrm>
            <a:off x="11185855" y="5056632"/>
            <a:ext cx="310896" cy="310896"/>
          </a:xfrm>
          <a:prstGeom prst="roundRect">
            <a:avLst/>
          </a:prstGeom>
          <a:solidFill>
            <a:srgbClr val="EF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B1531"/>
                </a:solidFill>
                <a:latin typeface="Montserrat"/>
              </a:rPr>
              <a:t>&gt;</a:t>
            </a:r>
          </a:p>
        </p:txBody>
      </p:sp>
      <p:sp>
        <p:nvSpPr>
          <p:cNvPr id="47" name="Rectangle 46"/>
          <p:cNvSpPr/>
          <p:nvPr/>
        </p:nvSpPr>
        <p:spPr>
          <a:xfrm>
            <a:off x="548640" y="5455920"/>
            <a:ext cx="11094415" cy="4236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48640" y="5455920"/>
            <a:ext cx="50800" cy="423672"/>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94944" y="5544312"/>
            <a:ext cx="310896" cy="310896"/>
          </a:xfrm>
          <a:prstGeom prst="ellipse">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Montserrat"/>
              </a:rPr>
              <a:t>09</a:t>
            </a:r>
          </a:p>
        </p:txBody>
      </p:sp>
      <p:sp>
        <p:nvSpPr>
          <p:cNvPr id="50" name="TextBox 49"/>
          <p:cNvSpPr txBox="1"/>
          <p:nvPr/>
        </p:nvSpPr>
        <p:spPr>
          <a:xfrm>
            <a:off x="1152144" y="5455920"/>
            <a:ext cx="10180015" cy="423672"/>
          </a:xfrm>
          <a:prstGeom prst="rect">
            <a:avLst/>
          </a:prstGeom>
          <a:noFill/>
        </p:spPr>
        <p:txBody>
          <a:bodyPr wrap="square" anchor="ctr" lIns="0" rIns="0" tIns="0" bIns="0">
            <a:spAutoFit/>
          </a:bodyPr>
          <a:lstStyle/>
          <a:p>
            <a:pPr algn="l">
              <a:lnSpc>
                <a:spcPct val="115000"/>
              </a:lnSpc>
            </a:pPr>
            <a:r>
              <a:rPr sz="1500" b="1">
                <a:solidFill>
                  <a:srgbClr val="1A1A1A"/>
                </a:solidFill>
                <a:latin typeface="Montserrat"/>
              </a:rPr>
              <a:t>ANEXO: artículos completos</a:t>
            </a:r>
          </a:p>
        </p:txBody>
      </p:sp>
      <p:sp>
        <p:nvSpPr>
          <p:cNvPr id="51" name="Rounded Rectangle 50">
            <a:hlinkClick action="ppaction://hlinksldjump" r:id="rId11"/>
          </p:cNvPr>
          <p:cNvSpPr/>
          <p:nvPr/>
        </p:nvSpPr>
        <p:spPr>
          <a:xfrm>
            <a:off x="11185855" y="5544312"/>
            <a:ext cx="310896" cy="310896"/>
          </a:xfrm>
          <a:prstGeom prst="roundRect">
            <a:avLst/>
          </a:prstGeom>
          <a:solidFill>
            <a:srgbClr val="EF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B1531"/>
                </a:solidFill>
                <a:latin typeface="Montserrat"/>
              </a:rPr>
              <a:t>&gt;</a:t>
            </a:r>
          </a:p>
        </p:txBody>
      </p:sp>
      <p:sp>
        <p:nvSpPr>
          <p:cNvPr id="52" name="TextBox 51"/>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Secretaria de Gobernación. (2026, 2 de junio). Decreto... en materia de reforma al Poder Judicial. DOF.</a:t>
            </a:r>
          </a:p>
        </p:txBody>
      </p:sp>
      <p:sp>
        <p:nvSpPr>
          <p:cNvPr id="53" name="Rectangle 52"/>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ÍNDICE</a:t>
            </a:r>
          </a:p>
        </p:txBody>
      </p:sp>
      <p:sp>
        <p:nvSpPr>
          <p:cNvPr id="56" name="TextBox 55"/>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2 / 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969264"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PANORAMA</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¿Qué se reformó?</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81328"/>
            <a:ext cx="11094415" cy="457200"/>
          </a:xfrm>
          <a:prstGeom prst="rect">
            <a:avLst/>
          </a:prstGeom>
          <a:noFill/>
        </p:spPr>
        <p:txBody>
          <a:bodyPr wrap="square" anchor="t" lIns="0" rIns="0" tIns="0" bIns="0">
            <a:spAutoFit/>
          </a:bodyPr>
          <a:lstStyle/>
          <a:p>
            <a:pPr algn="l">
              <a:lnSpc>
                <a:spcPct val="135000"/>
              </a:lnSpc>
            </a:pPr>
            <a:r>
              <a:rPr sz="1250" b="0">
                <a:solidFill>
                  <a:srgbClr val="4A4A4A"/>
                </a:solidFill>
                <a:latin typeface="Montserrat"/>
              </a:rPr>
              <a:t>Segunda reforma judicial, complementaria y correctiva de la del 15-09-2024. Toca siete artículos y los transitorios.</a:t>
            </a:r>
          </a:p>
        </p:txBody>
      </p:sp>
      <p:sp>
        <p:nvSpPr>
          <p:cNvPr id="8" name="TextBox 7"/>
          <p:cNvSpPr txBox="1"/>
          <p:nvPr/>
        </p:nvSpPr>
        <p:spPr>
          <a:xfrm>
            <a:off x="548640" y="1965960"/>
            <a:ext cx="1920240" cy="585216"/>
          </a:xfrm>
          <a:prstGeom prst="rect">
            <a:avLst/>
          </a:prstGeom>
          <a:noFill/>
        </p:spPr>
        <p:txBody>
          <a:bodyPr wrap="square" anchor="ctr" lIns="0" rIns="0" tIns="0" bIns="0">
            <a:spAutoFit/>
          </a:bodyPr>
          <a:lstStyle/>
          <a:p>
            <a:pPr algn="l">
              <a:lnSpc>
                <a:spcPct val="115000"/>
              </a:lnSpc>
            </a:pPr>
            <a:r>
              <a:rPr sz="1200" b="1">
                <a:solidFill>
                  <a:srgbClr val="6B1531"/>
                </a:solidFill>
                <a:latin typeface="Montserrat"/>
              </a:rPr>
              <a:t>Art. 35 IX-3</a:t>
            </a:r>
          </a:p>
        </p:txBody>
      </p:sp>
      <p:sp>
        <p:nvSpPr>
          <p:cNvPr id="9" name="TextBox 8"/>
          <p:cNvSpPr txBox="1"/>
          <p:nvPr/>
        </p:nvSpPr>
        <p:spPr>
          <a:xfrm>
            <a:off x="2514600" y="1965960"/>
            <a:ext cx="9128455" cy="585216"/>
          </a:xfrm>
          <a:prstGeom prst="rect">
            <a:avLst/>
          </a:prstGeom>
          <a:noFill/>
        </p:spPr>
        <p:txBody>
          <a:bodyPr wrap="square" anchor="ctr" lIns="0" rIns="0" tIns="0" bIns="0">
            <a:spAutoFit/>
          </a:bodyPr>
          <a:lstStyle/>
          <a:p>
            <a:pPr algn="l">
              <a:lnSpc>
                <a:spcPct val="125000"/>
              </a:lnSpc>
            </a:pPr>
            <a:r>
              <a:rPr sz="1150" b="0">
                <a:solidFill>
                  <a:srgbClr val="4A4A4A"/>
                </a:solidFill>
                <a:latin typeface="Montserrat"/>
              </a:rPr>
              <a:t>Revocación de mandato en fecha coincidente con las jornadas electorales.</a:t>
            </a:r>
          </a:p>
        </p:txBody>
      </p:sp>
      <p:sp>
        <p:nvSpPr>
          <p:cNvPr id="10" name="Rectangle 9"/>
          <p:cNvSpPr/>
          <p:nvPr/>
        </p:nvSpPr>
        <p:spPr>
          <a:xfrm>
            <a:off x="548640" y="2511044"/>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51176"/>
            <a:ext cx="1920240" cy="585216"/>
          </a:xfrm>
          <a:prstGeom prst="rect">
            <a:avLst/>
          </a:prstGeom>
          <a:noFill/>
        </p:spPr>
        <p:txBody>
          <a:bodyPr wrap="square" anchor="ctr" lIns="0" rIns="0" tIns="0" bIns="0">
            <a:spAutoFit/>
          </a:bodyPr>
          <a:lstStyle/>
          <a:p>
            <a:pPr algn="l">
              <a:lnSpc>
                <a:spcPct val="115000"/>
              </a:lnSpc>
            </a:pPr>
            <a:r>
              <a:rPr sz="1200" b="1">
                <a:solidFill>
                  <a:srgbClr val="6B1531"/>
                </a:solidFill>
                <a:latin typeface="Montserrat"/>
              </a:rPr>
              <a:t>Art. 94</a:t>
            </a:r>
          </a:p>
        </p:txBody>
      </p:sp>
      <p:sp>
        <p:nvSpPr>
          <p:cNvPr id="12" name="TextBox 11"/>
          <p:cNvSpPr txBox="1"/>
          <p:nvPr/>
        </p:nvSpPr>
        <p:spPr>
          <a:xfrm>
            <a:off x="2514600" y="2551176"/>
            <a:ext cx="9128455" cy="585216"/>
          </a:xfrm>
          <a:prstGeom prst="rect">
            <a:avLst/>
          </a:prstGeom>
          <a:noFill/>
        </p:spPr>
        <p:txBody>
          <a:bodyPr wrap="square" anchor="ctr" lIns="0" rIns="0" tIns="0" bIns="0">
            <a:spAutoFit/>
          </a:bodyPr>
          <a:lstStyle/>
          <a:p>
            <a:pPr algn="l">
              <a:lnSpc>
                <a:spcPct val="125000"/>
              </a:lnSpc>
            </a:pPr>
            <a:r>
              <a:rPr sz="1150" b="0">
                <a:solidFill>
                  <a:srgbClr val="4A4A4A"/>
                </a:solidFill>
                <a:latin typeface="Montserrat"/>
              </a:rPr>
              <a:t>La SCJN podrá funcionar en dos secciones, además del Pleno.</a:t>
            </a:r>
          </a:p>
        </p:txBody>
      </p:sp>
      <p:sp>
        <p:nvSpPr>
          <p:cNvPr id="13" name="Rectangle 12"/>
          <p:cNvSpPr/>
          <p:nvPr/>
        </p:nvSpPr>
        <p:spPr>
          <a:xfrm>
            <a:off x="548640" y="3096260"/>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136392"/>
            <a:ext cx="1920240" cy="585216"/>
          </a:xfrm>
          <a:prstGeom prst="rect">
            <a:avLst/>
          </a:prstGeom>
          <a:noFill/>
        </p:spPr>
        <p:txBody>
          <a:bodyPr wrap="square" anchor="ctr" lIns="0" rIns="0" tIns="0" bIns="0">
            <a:spAutoFit/>
          </a:bodyPr>
          <a:lstStyle/>
          <a:p>
            <a:pPr algn="l">
              <a:lnSpc>
                <a:spcPct val="115000"/>
              </a:lnSpc>
            </a:pPr>
            <a:r>
              <a:rPr sz="1200" b="1">
                <a:solidFill>
                  <a:srgbClr val="6B1531"/>
                </a:solidFill>
                <a:latin typeface="Montserrat"/>
              </a:rPr>
              <a:t>Art. 96</a:t>
            </a:r>
          </a:p>
        </p:txBody>
      </p:sp>
      <p:sp>
        <p:nvSpPr>
          <p:cNvPr id="15" name="TextBox 14"/>
          <p:cNvSpPr txBox="1"/>
          <p:nvPr/>
        </p:nvSpPr>
        <p:spPr>
          <a:xfrm>
            <a:off x="2514600" y="3136392"/>
            <a:ext cx="9128455" cy="585216"/>
          </a:xfrm>
          <a:prstGeom prst="rect">
            <a:avLst/>
          </a:prstGeom>
          <a:noFill/>
        </p:spPr>
        <p:txBody>
          <a:bodyPr wrap="square" anchor="ctr" lIns="0" rIns="0" tIns="0" bIns="0">
            <a:spAutoFit/>
          </a:bodyPr>
          <a:lstStyle/>
          <a:p>
            <a:pPr algn="l">
              <a:lnSpc>
                <a:spcPct val="125000"/>
              </a:lnSpc>
            </a:pPr>
            <a:r>
              <a:rPr sz="1150" b="0">
                <a:solidFill>
                  <a:srgbClr val="4A4A4A"/>
                </a:solidFill>
                <a:latin typeface="Montserrat"/>
              </a:rPr>
              <a:t>Comisión Coordinadora, menos candidaturas (insaculación a 2) y boletas claras.</a:t>
            </a:r>
          </a:p>
        </p:txBody>
      </p:sp>
      <p:sp>
        <p:nvSpPr>
          <p:cNvPr id="16" name="Rectangle 15"/>
          <p:cNvSpPr/>
          <p:nvPr/>
        </p:nvSpPr>
        <p:spPr>
          <a:xfrm>
            <a:off x="548640" y="3681476"/>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21608"/>
            <a:ext cx="1920240" cy="585216"/>
          </a:xfrm>
          <a:prstGeom prst="rect">
            <a:avLst/>
          </a:prstGeom>
          <a:noFill/>
        </p:spPr>
        <p:txBody>
          <a:bodyPr wrap="square" anchor="ctr" lIns="0" rIns="0" tIns="0" bIns="0">
            <a:spAutoFit/>
          </a:bodyPr>
          <a:lstStyle/>
          <a:p>
            <a:pPr algn="l">
              <a:lnSpc>
                <a:spcPct val="115000"/>
              </a:lnSpc>
            </a:pPr>
            <a:r>
              <a:rPr sz="1200" b="1">
                <a:solidFill>
                  <a:srgbClr val="6B1531"/>
                </a:solidFill>
                <a:latin typeface="Montserrat"/>
              </a:rPr>
              <a:t>Art. 98</a:t>
            </a:r>
          </a:p>
        </p:txBody>
      </p:sp>
      <p:sp>
        <p:nvSpPr>
          <p:cNvPr id="18" name="TextBox 17"/>
          <p:cNvSpPr txBox="1"/>
          <p:nvPr/>
        </p:nvSpPr>
        <p:spPr>
          <a:xfrm>
            <a:off x="2514600" y="3721608"/>
            <a:ext cx="9128455" cy="585216"/>
          </a:xfrm>
          <a:prstGeom prst="rect">
            <a:avLst/>
          </a:prstGeom>
          <a:noFill/>
        </p:spPr>
        <p:txBody>
          <a:bodyPr wrap="square" anchor="ctr" lIns="0" rIns="0" tIns="0" bIns="0">
            <a:spAutoFit/>
          </a:bodyPr>
          <a:lstStyle/>
          <a:p>
            <a:pPr algn="l">
              <a:lnSpc>
                <a:spcPct val="125000"/>
              </a:lnSpc>
            </a:pPr>
            <a:r>
              <a:rPr sz="1150" b="0">
                <a:solidFill>
                  <a:srgbClr val="4A4A4A"/>
                </a:solidFill>
                <a:latin typeface="Montserrat"/>
              </a:rPr>
              <a:t>Vacantes, licencias y renuncia irrevocable para contender por otro cargo.</a:t>
            </a:r>
          </a:p>
        </p:txBody>
      </p:sp>
      <p:sp>
        <p:nvSpPr>
          <p:cNvPr id="19" name="Rectangle 18"/>
          <p:cNvSpPr/>
          <p:nvPr/>
        </p:nvSpPr>
        <p:spPr>
          <a:xfrm>
            <a:off x="548640" y="4266692"/>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306824"/>
            <a:ext cx="1920240" cy="585216"/>
          </a:xfrm>
          <a:prstGeom prst="rect">
            <a:avLst/>
          </a:prstGeom>
          <a:noFill/>
        </p:spPr>
        <p:txBody>
          <a:bodyPr wrap="square" anchor="ctr" lIns="0" rIns="0" tIns="0" bIns="0">
            <a:spAutoFit/>
          </a:bodyPr>
          <a:lstStyle/>
          <a:p>
            <a:pPr algn="l">
              <a:lnSpc>
                <a:spcPct val="115000"/>
              </a:lnSpc>
            </a:pPr>
            <a:r>
              <a:rPr sz="1200" b="1">
                <a:solidFill>
                  <a:srgbClr val="6B1531"/>
                </a:solidFill>
                <a:latin typeface="Montserrat"/>
              </a:rPr>
              <a:t>Art. 100</a:t>
            </a:r>
          </a:p>
        </p:txBody>
      </p:sp>
      <p:sp>
        <p:nvSpPr>
          <p:cNvPr id="21" name="TextBox 20"/>
          <p:cNvSpPr txBox="1"/>
          <p:nvPr/>
        </p:nvSpPr>
        <p:spPr>
          <a:xfrm>
            <a:off x="2514600" y="4306824"/>
            <a:ext cx="9128455" cy="585216"/>
          </a:xfrm>
          <a:prstGeom prst="rect">
            <a:avLst/>
          </a:prstGeom>
          <a:noFill/>
        </p:spPr>
        <p:txBody>
          <a:bodyPr wrap="square" anchor="ctr" lIns="0" rIns="0" tIns="0" bIns="0">
            <a:spAutoFit/>
          </a:bodyPr>
          <a:lstStyle/>
          <a:p>
            <a:pPr algn="l">
              <a:lnSpc>
                <a:spcPct val="125000"/>
              </a:lnSpc>
            </a:pPr>
            <a:r>
              <a:rPr sz="1150" b="0">
                <a:solidFill>
                  <a:srgbClr val="4A4A4A"/>
                </a:solidFill>
                <a:latin typeface="Montserrat"/>
              </a:rPr>
              <a:t>Evaluación del primer año + capacitación (Escuela Nac. de Formación Judicial).</a:t>
            </a:r>
          </a:p>
        </p:txBody>
      </p:sp>
      <p:sp>
        <p:nvSpPr>
          <p:cNvPr id="22" name="Rectangle 21"/>
          <p:cNvSpPr/>
          <p:nvPr/>
        </p:nvSpPr>
        <p:spPr>
          <a:xfrm>
            <a:off x="548640" y="4851908"/>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892040"/>
            <a:ext cx="1920240" cy="585216"/>
          </a:xfrm>
          <a:prstGeom prst="rect">
            <a:avLst/>
          </a:prstGeom>
          <a:noFill/>
        </p:spPr>
        <p:txBody>
          <a:bodyPr wrap="square" anchor="ctr" lIns="0" rIns="0" tIns="0" bIns="0">
            <a:spAutoFit/>
          </a:bodyPr>
          <a:lstStyle/>
          <a:p>
            <a:pPr algn="l">
              <a:lnSpc>
                <a:spcPct val="115000"/>
              </a:lnSpc>
            </a:pPr>
            <a:r>
              <a:rPr sz="1200" b="1">
                <a:solidFill>
                  <a:srgbClr val="6B1531"/>
                </a:solidFill>
                <a:latin typeface="Montserrat"/>
              </a:rPr>
              <a:t>Arts. 116 y 122</a:t>
            </a:r>
          </a:p>
        </p:txBody>
      </p:sp>
      <p:sp>
        <p:nvSpPr>
          <p:cNvPr id="24" name="TextBox 23"/>
          <p:cNvSpPr txBox="1"/>
          <p:nvPr/>
        </p:nvSpPr>
        <p:spPr>
          <a:xfrm>
            <a:off x="2514600" y="4892040"/>
            <a:ext cx="9128455" cy="585216"/>
          </a:xfrm>
          <a:prstGeom prst="rect">
            <a:avLst/>
          </a:prstGeom>
          <a:noFill/>
        </p:spPr>
        <p:txBody>
          <a:bodyPr wrap="square" anchor="ctr" lIns="0" rIns="0" tIns="0" bIns="0">
            <a:spAutoFit/>
          </a:bodyPr>
          <a:lstStyle/>
          <a:p>
            <a:pPr algn="l">
              <a:lnSpc>
                <a:spcPct val="125000"/>
              </a:lnSpc>
            </a:pPr>
            <a:r>
              <a:rPr sz="1150" b="0">
                <a:solidFill>
                  <a:srgbClr val="4A4A4A"/>
                </a:solidFill>
                <a:latin typeface="Montserrat"/>
              </a:rPr>
              <a:t>Replica obligatoria del modelo federal en estados y CDMX.</a:t>
            </a:r>
          </a:p>
        </p:txBody>
      </p:sp>
      <p:sp>
        <p:nvSpPr>
          <p:cNvPr id="25" name="Rectangle 24"/>
          <p:cNvSpPr/>
          <p:nvPr/>
        </p:nvSpPr>
        <p:spPr>
          <a:xfrm>
            <a:off x="548640" y="5437124"/>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477256"/>
            <a:ext cx="1920240" cy="585216"/>
          </a:xfrm>
          <a:prstGeom prst="rect">
            <a:avLst/>
          </a:prstGeom>
          <a:noFill/>
        </p:spPr>
        <p:txBody>
          <a:bodyPr wrap="square" anchor="ctr" lIns="0" rIns="0" tIns="0" bIns="0">
            <a:spAutoFit/>
          </a:bodyPr>
          <a:lstStyle/>
          <a:p>
            <a:pPr algn="l">
              <a:lnSpc>
                <a:spcPct val="115000"/>
              </a:lnSpc>
            </a:pPr>
            <a:r>
              <a:rPr sz="1200" b="1">
                <a:solidFill>
                  <a:srgbClr val="6B1531"/>
                </a:solidFill>
                <a:latin typeface="Montserrat"/>
              </a:rPr>
              <a:t>Transitorios</a:t>
            </a:r>
          </a:p>
        </p:txBody>
      </p:sp>
      <p:sp>
        <p:nvSpPr>
          <p:cNvPr id="27" name="TextBox 26"/>
          <p:cNvSpPr txBox="1"/>
          <p:nvPr/>
        </p:nvSpPr>
        <p:spPr>
          <a:xfrm>
            <a:off x="2514600" y="5477256"/>
            <a:ext cx="9128455" cy="585216"/>
          </a:xfrm>
          <a:prstGeom prst="rect">
            <a:avLst/>
          </a:prstGeom>
          <a:noFill/>
        </p:spPr>
        <p:txBody>
          <a:bodyPr wrap="square" anchor="ctr" lIns="0" rIns="0" tIns="0" bIns="0">
            <a:spAutoFit/>
          </a:bodyPr>
          <a:lstStyle/>
          <a:p>
            <a:pPr algn="l">
              <a:lnSpc>
                <a:spcPct val="125000"/>
              </a:lnSpc>
            </a:pPr>
            <a:r>
              <a:rPr sz="1150" b="0">
                <a:solidFill>
                  <a:srgbClr val="4A4A4A"/>
                </a:solidFill>
                <a:latin typeface="Montserrat"/>
              </a:rPr>
              <a:t>Elección judicial 2027 a 2028; reelección del TEPJF; plazos de armonización.</a:t>
            </a:r>
          </a:p>
        </p:txBody>
      </p:sp>
      <p:sp>
        <p:nvSpPr>
          <p:cNvPr id="28" name="Rectangle 27"/>
          <p:cNvSpPr/>
          <p:nvPr/>
        </p:nvSpPr>
        <p:spPr>
          <a:xfrm>
            <a:off x="548640" y="6022340"/>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Secretaria de Gobernación. (2026, 2 de junio). Decreto... en materia de reforma al Poder Judicial. DOF.</a:t>
            </a:r>
          </a:p>
        </p:txBody>
      </p:sp>
      <p:sp>
        <p:nvSpPr>
          <p:cNvPr id="30" name="Rectangle 29"/>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PANORAMA</a:t>
            </a:r>
          </a:p>
        </p:txBody>
      </p:sp>
      <p:sp>
        <p:nvSpPr>
          <p:cNvPr id="33" name="TextBox 32"/>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3 / 48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1380744"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ACTORES CLAVE</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Quien la propone y la conduce</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sheinbaum.png"/>
          <p:cNvPicPr>
            <a:picLocks noChangeAspect="1"/>
          </p:cNvPicPr>
          <p:nvPr/>
        </p:nvPicPr>
        <p:blipFill>
          <a:blip r:embed="rId2"/>
          <a:stretch>
            <a:fillRect/>
          </a:stretch>
        </p:blipFill>
        <p:spPr>
          <a:xfrm>
            <a:off x="822960" y="1828800"/>
            <a:ext cx="1554480" cy="1554480"/>
          </a:xfrm>
          <a:prstGeom prst="rect">
            <a:avLst/>
          </a:prstGeom>
        </p:spPr>
      </p:pic>
      <p:sp>
        <p:nvSpPr>
          <p:cNvPr id="8" name="TextBox 7"/>
          <p:cNvSpPr txBox="1"/>
          <p:nvPr/>
        </p:nvSpPr>
        <p:spPr>
          <a:xfrm>
            <a:off x="548640" y="3493008"/>
            <a:ext cx="2103120" cy="329184"/>
          </a:xfrm>
          <a:prstGeom prst="rect">
            <a:avLst/>
          </a:prstGeom>
          <a:noFill/>
        </p:spPr>
        <p:txBody>
          <a:bodyPr wrap="square" anchor="t" lIns="0" rIns="0" tIns="0" bIns="0">
            <a:spAutoFit/>
          </a:bodyPr>
          <a:lstStyle/>
          <a:p>
            <a:pPr algn="ctr">
              <a:lnSpc>
                <a:spcPct val="115000"/>
              </a:lnSpc>
            </a:pPr>
            <a:r>
              <a:rPr sz="1350" b="1">
                <a:solidFill>
                  <a:srgbClr val="6B1531"/>
                </a:solidFill>
                <a:latin typeface="Montserrat"/>
              </a:rPr>
              <a:t>Claudia Sheinbaum</a:t>
            </a:r>
          </a:p>
        </p:txBody>
      </p:sp>
      <p:sp>
        <p:nvSpPr>
          <p:cNvPr id="9" name="TextBox 8"/>
          <p:cNvSpPr txBox="1"/>
          <p:nvPr/>
        </p:nvSpPr>
        <p:spPr>
          <a:xfrm>
            <a:off x="548640" y="3840480"/>
            <a:ext cx="2103120" cy="640080"/>
          </a:xfrm>
          <a:prstGeom prst="rect">
            <a:avLst/>
          </a:prstGeom>
          <a:noFill/>
        </p:spPr>
        <p:txBody>
          <a:bodyPr wrap="square" anchor="t" lIns="0" rIns="0" tIns="0" bIns="0">
            <a:spAutoFit/>
          </a:bodyPr>
          <a:lstStyle/>
          <a:p>
            <a:pPr algn="ctr">
              <a:lnSpc>
                <a:spcPct val="125000"/>
              </a:lnSpc>
            </a:pPr>
            <a:r>
              <a:rPr sz="1050" b="0">
                <a:solidFill>
                  <a:srgbClr val="4A4A4A"/>
                </a:solidFill>
                <a:latin typeface="Montserrat"/>
              </a:rPr>
              <a:t>Presidenta - promulga el decreto</a:t>
            </a:r>
          </a:p>
        </p:txBody>
      </p:sp>
      <p:pic>
        <p:nvPicPr>
          <p:cNvPr id="10" name="Picture 9" descr="act_rosa_icela.png"/>
          <p:cNvPicPr>
            <a:picLocks noChangeAspect="1"/>
          </p:cNvPicPr>
          <p:nvPr/>
        </p:nvPicPr>
        <p:blipFill>
          <a:blip r:embed="rId3"/>
          <a:stretch>
            <a:fillRect/>
          </a:stretch>
        </p:blipFill>
        <p:spPr>
          <a:xfrm>
            <a:off x="3070783" y="1828800"/>
            <a:ext cx="1554480" cy="1554480"/>
          </a:xfrm>
          <a:prstGeom prst="rect">
            <a:avLst/>
          </a:prstGeom>
        </p:spPr>
      </p:pic>
      <p:sp>
        <p:nvSpPr>
          <p:cNvPr id="11" name="TextBox 10"/>
          <p:cNvSpPr txBox="1"/>
          <p:nvPr/>
        </p:nvSpPr>
        <p:spPr>
          <a:xfrm>
            <a:off x="2796463" y="3493008"/>
            <a:ext cx="2103120" cy="329184"/>
          </a:xfrm>
          <a:prstGeom prst="rect">
            <a:avLst/>
          </a:prstGeom>
          <a:noFill/>
        </p:spPr>
        <p:txBody>
          <a:bodyPr wrap="square" anchor="t" lIns="0" rIns="0" tIns="0" bIns="0">
            <a:spAutoFit/>
          </a:bodyPr>
          <a:lstStyle/>
          <a:p>
            <a:pPr algn="ctr">
              <a:lnSpc>
                <a:spcPct val="115000"/>
              </a:lnSpc>
            </a:pPr>
            <a:r>
              <a:rPr sz="1350" b="1">
                <a:solidFill>
                  <a:srgbClr val="6B1531"/>
                </a:solidFill>
                <a:latin typeface="Montserrat"/>
              </a:rPr>
              <a:t>Rosa Icela Rodríguez</a:t>
            </a:r>
          </a:p>
        </p:txBody>
      </p:sp>
      <p:sp>
        <p:nvSpPr>
          <p:cNvPr id="12" name="TextBox 11"/>
          <p:cNvSpPr txBox="1"/>
          <p:nvPr/>
        </p:nvSpPr>
        <p:spPr>
          <a:xfrm>
            <a:off x="2796463" y="3840480"/>
            <a:ext cx="2103120" cy="640080"/>
          </a:xfrm>
          <a:prstGeom prst="rect">
            <a:avLst/>
          </a:prstGeom>
          <a:noFill/>
        </p:spPr>
        <p:txBody>
          <a:bodyPr wrap="square" anchor="t" lIns="0" rIns="0" tIns="0" bIns="0">
            <a:spAutoFit/>
          </a:bodyPr>
          <a:lstStyle/>
          <a:p>
            <a:pPr algn="ctr">
              <a:lnSpc>
                <a:spcPct val="125000"/>
              </a:lnSpc>
            </a:pPr>
            <a:r>
              <a:rPr sz="1050" b="0">
                <a:solidFill>
                  <a:srgbClr val="4A4A4A"/>
                </a:solidFill>
                <a:latin typeface="Montserrat"/>
              </a:rPr>
              <a:t>Sec. de Gobernación - entrega la iniciativa</a:t>
            </a:r>
          </a:p>
        </p:txBody>
      </p:sp>
      <p:pic>
        <p:nvPicPr>
          <p:cNvPr id="13" name="Picture 12" descr="act_alcalde.png"/>
          <p:cNvPicPr>
            <a:picLocks noChangeAspect="1"/>
          </p:cNvPicPr>
          <p:nvPr/>
        </p:nvPicPr>
        <p:blipFill>
          <a:blip r:embed="rId4"/>
          <a:stretch>
            <a:fillRect/>
          </a:stretch>
        </p:blipFill>
        <p:spPr>
          <a:xfrm>
            <a:off x="5318607" y="1828800"/>
            <a:ext cx="1554480" cy="1554480"/>
          </a:xfrm>
          <a:prstGeom prst="rect">
            <a:avLst/>
          </a:prstGeom>
        </p:spPr>
      </p:pic>
      <p:sp>
        <p:nvSpPr>
          <p:cNvPr id="14" name="TextBox 13"/>
          <p:cNvSpPr txBox="1"/>
          <p:nvPr/>
        </p:nvSpPr>
        <p:spPr>
          <a:xfrm>
            <a:off x="5044287" y="3493008"/>
            <a:ext cx="2103120" cy="329184"/>
          </a:xfrm>
          <a:prstGeom prst="rect">
            <a:avLst/>
          </a:prstGeom>
          <a:noFill/>
        </p:spPr>
        <p:txBody>
          <a:bodyPr wrap="square" anchor="t" lIns="0" rIns="0" tIns="0" bIns="0">
            <a:spAutoFit/>
          </a:bodyPr>
          <a:lstStyle/>
          <a:p>
            <a:pPr algn="ctr">
              <a:lnSpc>
                <a:spcPct val="115000"/>
              </a:lnSpc>
            </a:pPr>
            <a:r>
              <a:rPr sz="1350" b="1">
                <a:solidFill>
                  <a:srgbClr val="6B1531"/>
                </a:solidFill>
                <a:latin typeface="Montserrat"/>
              </a:rPr>
              <a:t>Luisa María Alcalde</a:t>
            </a:r>
          </a:p>
        </p:txBody>
      </p:sp>
      <p:sp>
        <p:nvSpPr>
          <p:cNvPr id="15" name="TextBox 14"/>
          <p:cNvSpPr txBox="1"/>
          <p:nvPr/>
        </p:nvSpPr>
        <p:spPr>
          <a:xfrm>
            <a:off x="5044287" y="3840480"/>
            <a:ext cx="2103120" cy="640080"/>
          </a:xfrm>
          <a:prstGeom prst="rect">
            <a:avLst/>
          </a:prstGeom>
          <a:noFill/>
        </p:spPr>
        <p:txBody>
          <a:bodyPr wrap="square" anchor="t" lIns="0" rIns="0" tIns="0" bIns="0">
            <a:spAutoFit/>
          </a:bodyPr>
          <a:lstStyle/>
          <a:p>
            <a:pPr algn="ctr">
              <a:lnSpc>
                <a:spcPct val="125000"/>
              </a:lnSpc>
            </a:pPr>
            <a:r>
              <a:rPr sz="1050" b="0">
                <a:solidFill>
                  <a:srgbClr val="4A4A4A"/>
                </a:solidFill>
                <a:latin typeface="Montserrat"/>
              </a:rPr>
              <a:t>Consejera Jurídica - disena y defiende</a:t>
            </a:r>
          </a:p>
        </p:txBody>
      </p:sp>
      <p:pic>
        <p:nvPicPr>
          <p:cNvPr id="16" name="Picture 15" descr="act_mier.png"/>
          <p:cNvPicPr>
            <a:picLocks noChangeAspect="1"/>
          </p:cNvPicPr>
          <p:nvPr/>
        </p:nvPicPr>
        <p:blipFill>
          <a:blip r:embed="rId5"/>
          <a:stretch>
            <a:fillRect/>
          </a:stretch>
        </p:blipFill>
        <p:spPr>
          <a:xfrm>
            <a:off x="7566431" y="1828800"/>
            <a:ext cx="1554480" cy="1554480"/>
          </a:xfrm>
          <a:prstGeom prst="rect">
            <a:avLst/>
          </a:prstGeom>
        </p:spPr>
      </p:pic>
      <p:sp>
        <p:nvSpPr>
          <p:cNvPr id="17" name="TextBox 16"/>
          <p:cNvSpPr txBox="1"/>
          <p:nvPr/>
        </p:nvSpPr>
        <p:spPr>
          <a:xfrm>
            <a:off x="7292111" y="3493008"/>
            <a:ext cx="2103120" cy="329184"/>
          </a:xfrm>
          <a:prstGeom prst="rect">
            <a:avLst/>
          </a:prstGeom>
          <a:noFill/>
        </p:spPr>
        <p:txBody>
          <a:bodyPr wrap="square" anchor="t" lIns="0" rIns="0" tIns="0" bIns="0">
            <a:spAutoFit/>
          </a:bodyPr>
          <a:lstStyle/>
          <a:p>
            <a:pPr algn="ctr">
              <a:lnSpc>
                <a:spcPct val="115000"/>
              </a:lnSpc>
            </a:pPr>
            <a:r>
              <a:rPr sz="1350" b="1">
                <a:solidFill>
                  <a:srgbClr val="6B1531"/>
                </a:solidFill>
                <a:latin typeface="Montserrat"/>
              </a:rPr>
              <a:t>Ignacio Mier</a:t>
            </a:r>
          </a:p>
        </p:txBody>
      </p:sp>
      <p:sp>
        <p:nvSpPr>
          <p:cNvPr id="18" name="TextBox 17"/>
          <p:cNvSpPr txBox="1"/>
          <p:nvPr/>
        </p:nvSpPr>
        <p:spPr>
          <a:xfrm>
            <a:off x="7292111" y="3840480"/>
            <a:ext cx="2103120" cy="640080"/>
          </a:xfrm>
          <a:prstGeom prst="rect">
            <a:avLst/>
          </a:prstGeom>
          <a:noFill/>
        </p:spPr>
        <p:txBody>
          <a:bodyPr wrap="square" anchor="t" lIns="0" rIns="0" tIns="0" bIns="0">
            <a:spAutoFit/>
          </a:bodyPr>
          <a:lstStyle/>
          <a:p>
            <a:pPr algn="ctr">
              <a:lnSpc>
                <a:spcPct val="125000"/>
              </a:lnSpc>
            </a:pPr>
            <a:r>
              <a:rPr sz="1050" b="0">
                <a:solidFill>
                  <a:srgbClr val="4A4A4A"/>
                </a:solidFill>
                <a:latin typeface="Montserrat"/>
              </a:rPr>
              <a:t>Coordinador - vocero del aplazamiento</a:t>
            </a:r>
          </a:p>
        </p:txBody>
      </p:sp>
      <p:pic>
        <p:nvPicPr>
          <p:cNvPr id="19" name="Picture 18" descr="act_monreal.png"/>
          <p:cNvPicPr>
            <a:picLocks noChangeAspect="1"/>
          </p:cNvPicPr>
          <p:nvPr/>
        </p:nvPicPr>
        <p:blipFill>
          <a:blip r:embed="rId6"/>
          <a:stretch>
            <a:fillRect/>
          </a:stretch>
        </p:blipFill>
        <p:spPr>
          <a:xfrm>
            <a:off x="9814255" y="1828800"/>
            <a:ext cx="1554480" cy="1554480"/>
          </a:xfrm>
          <a:prstGeom prst="rect">
            <a:avLst/>
          </a:prstGeom>
        </p:spPr>
      </p:pic>
      <p:sp>
        <p:nvSpPr>
          <p:cNvPr id="20" name="TextBox 19"/>
          <p:cNvSpPr txBox="1"/>
          <p:nvPr/>
        </p:nvSpPr>
        <p:spPr>
          <a:xfrm>
            <a:off x="9539935" y="3493008"/>
            <a:ext cx="2103120" cy="329184"/>
          </a:xfrm>
          <a:prstGeom prst="rect">
            <a:avLst/>
          </a:prstGeom>
          <a:noFill/>
        </p:spPr>
        <p:txBody>
          <a:bodyPr wrap="square" anchor="t" lIns="0" rIns="0" tIns="0" bIns="0">
            <a:spAutoFit/>
          </a:bodyPr>
          <a:lstStyle/>
          <a:p>
            <a:pPr algn="ctr">
              <a:lnSpc>
                <a:spcPct val="115000"/>
              </a:lnSpc>
            </a:pPr>
            <a:r>
              <a:rPr sz="1350" b="1">
                <a:solidFill>
                  <a:srgbClr val="6B1531"/>
                </a:solidFill>
                <a:latin typeface="Montserrat"/>
              </a:rPr>
              <a:t>Ricardo Monreal</a:t>
            </a:r>
          </a:p>
        </p:txBody>
      </p:sp>
      <p:sp>
        <p:nvSpPr>
          <p:cNvPr id="21" name="TextBox 20"/>
          <p:cNvSpPr txBox="1"/>
          <p:nvPr/>
        </p:nvSpPr>
        <p:spPr>
          <a:xfrm>
            <a:off x="9539935" y="3840480"/>
            <a:ext cx="2103120" cy="640080"/>
          </a:xfrm>
          <a:prstGeom prst="rect">
            <a:avLst/>
          </a:prstGeom>
          <a:noFill/>
        </p:spPr>
        <p:txBody>
          <a:bodyPr wrap="square" anchor="t" lIns="0" rIns="0" tIns="0" bIns="0">
            <a:spAutoFit/>
          </a:bodyPr>
          <a:lstStyle/>
          <a:p>
            <a:pPr algn="ctr">
              <a:lnSpc>
                <a:spcPct val="125000"/>
              </a:lnSpc>
            </a:pPr>
            <a:r>
              <a:rPr sz="1050" b="0">
                <a:solidFill>
                  <a:srgbClr val="4A4A4A"/>
                </a:solidFill>
                <a:latin typeface="Montserrat"/>
              </a:rPr>
              <a:t>Pres. Jucopo (Diputados) - conducción</a:t>
            </a:r>
          </a:p>
        </p:txBody>
      </p:sp>
      <p:sp>
        <p:nvSpPr>
          <p:cNvPr id="22" name="TextBox 21"/>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7"/>
              </a:rPr>
              <a:t>Fuente: Senado de la República. (2026, 20 de mayo). Recibe el Congreso iniciativa en materia de reforma al Poder Judicial (Com. 014).</a:t>
            </a:r>
          </a:p>
        </p:txBody>
      </p:sp>
      <p:sp>
        <p:nvSpPr>
          <p:cNvPr id="23" name="Rectangle 22"/>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ACTORES</a:t>
            </a:r>
          </a:p>
        </p:txBody>
      </p:sp>
      <p:sp>
        <p:nvSpPr>
          <p:cNvPr id="26" name="TextBox 25"/>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4 / 48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1874519"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TRÁMITE LEGISLATIVO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Cronologia y votaciones (fast-track)</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572768"/>
            <a:ext cx="11094415" cy="36576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572768"/>
            <a:ext cx="1444752" cy="365760"/>
          </a:xfrm>
          <a:prstGeom prst="rect">
            <a:avLst/>
          </a:prstGeom>
          <a:noFill/>
        </p:spPr>
        <p:txBody>
          <a:bodyPr wrap="square" anchor="ctr" lIns="0" rIns="0" tIns="0" bIns="0">
            <a:spAutoFit/>
          </a:bodyPr>
          <a:lstStyle/>
          <a:p>
            <a:pPr algn="l">
              <a:lnSpc>
                <a:spcPct val="115000"/>
              </a:lnSpc>
            </a:pPr>
            <a:r>
              <a:rPr sz="1100" b="1">
                <a:solidFill>
                  <a:srgbClr val="FFFFFF"/>
                </a:solidFill>
                <a:latin typeface="Montserrat"/>
              </a:rPr>
              <a:t>Fecha</a:t>
            </a:r>
          </a:p>
        </p:txBody>
      </p:sp>
      <p:sp>
        <p:nvSpPr>
          <p:cNvPr id="9" name="TextBox 8"/>
          <p:cNvSpPr txBox="1"/>
          <p:nvPr/>
        </p:nvSpPr>
        <p:spPr>
          <a:xfrm>
            <a:off x="2212848" y="1572768"/>
            <a:ext cx="7875727" cy="365760"/>
          </a:xfrm>
          <a:prstGeom prst="rect">
            <a:avLst/>
          </a:prstGeom>
          <a:noFill/>
        </p:spPr>
        <p:txBody>
          <a:bodyPr wrap="square" anchor="ctr" lIns="0" rIns="0" tIns="0" bIns="0">
            <a:spAutoFit/>
          </a:bodyPr>
          <a:lstStyle/>
          <a:p>
            <a:pPr algn="l">
              <a:lnSpc>
                <a:spcPct val="115000"/>
              </a:lnSpc>
            </a:pPr>
            <a:r>
              <a:rPr sz="1100" b="1">
                <a:solidFill>
                  <a:srgbClr val="FFFFFF"/>
                </a:solidFill>
                <a:latin typeface="Montserrat"/>
              </a:rPr>
              <a:t>Hito</a:t>
            </a:r>
          </a:p>
        </p:txBody>
      </p:sp>
      <p:sp>
        <p:nvSpPr>
          <p:cNvPr id="10" name="TextBox 9"/>
          <p:cNvSpPr txBox="1"/>
          <p:nvPr/>
        </p:nvSpPr>
        <p:spPr>
          <a:xfrm>
            <a:off x="10198303" y="1572768"/>
            <a:ext cx="1444752" cy="365760"/>
          </a:xfrm>
          <a:prstGeom prst="rect">
            <a:avLst/>
          </a:prstGeom>
          <a:noFill/>
        </p:spPr>
        <p:txBody>
          <a:bodyPr wrap="square" anchor="ctr" lIns="0" rIns="0" tIns="0" bIns="0">
            <a:spAutoFit/>
          </a:bodyPr>
          <a:lstStyle/>
          <a:p>
            <a:pPr algn="l">
              <a:lnSpc>
                <a:spcPct val="115000"/>
              </a:lnSpc>
            </a:pPr>
            <a:r>
              <a:rPr sz="1100" b="1">
                <a:solidFill>
                  <a:srgbClr val="FFFFFF"/>
                </a:solidFill>
                <a:latin typeface="Montserrat"/>
              </a:rPr>
              <a:t>Votación</a:t>
            </a:r>
          </a:p>
        </p:txBody>
      </p:sp>
      <p:sp>
        <p:nvSpPr>
          <p:cNvPr id="11" name="TextBox 10"/>
          <p:cNvSpPr txBox="1"/>
          <p:nvPr/>
        </p:nvSpPr>
        <p:spPr>
          <a:xfrm>
            <a:off x="658368" y="1938528"/>
            <a:ext cx="1371600" cy="460629"/>
          </a:xfrm>
          <a:prstGeom prst="rect">
            <a:avLst/>
          </a:prstGeom>
          <a:noFill/>
        </p:spPr>
        <p:txBody>
          <a:bodyPr wrap="square" anchor="ctr" lIns="0" rIns="0" tIns="0" bIns="0">
            <a:spAutoFit/>
          </a:bodyPr>
          <a:lstStyle/>
          <a:p>
            <a:pPr algn="l">
              <a:lnSpc>
                <a:spcPct val="115000"/>
              </a:lnSpc>
            </a:pPr>
            <a:r>
              <a:rPr sz="1100" b="1">
                <a:solidFill>
                  <a:srgbClr val="6B1531"/>
                </a:solidFill>
                <a:latin typeface="Montserrat"/>
              </a:rPr>
              <a:t>20 may 2026</a:t>
            </a:r>
          </a:p>
        </p:txBody>
      </p:sp>
      <p:sp>
        <p:nvSpPr>
          <p:cNvPr id="12" name="TextBox 11"/>
          <p:cNvSpPr txBox="1"/>
          <p:nvPr/>
        </p:nvSpPr>
        <p:spPr>
          <a:xfrm>
            <a:off x="2212848" y="1938528"/>
            <a:ext cx="7802575"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Ejecutivo entrega la iniciativa a la Comisión Permanente</a:t>
            </a:r>
          </a:p>
        </p:txBody>
      </p:sp>
      <p:sp>
        <p:nvSpPr>
          <p:cNvPr id="13" name="TextBox 12"/>
          <p:cNvSpPr txBox="1"/>
          <p:nvPr/>
        </p:nvSpPr>
        <p:spPr>
          <a:xfrm>
            <a:off x="10198303" y="1938528"/>
            <a:ext cx="1371600"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a:t>
            </a:r>
          </a:p>
        </p:txBody>
      </p:sp>
      <p:sp>
        <p:nvSpPr>
          <p:cNvPr id="14" name="Rectangle 13"/>
          <p:cNvSpPr/>
          <p:nvPr/>
        </p:nvSpPr>
        <p:spPr>
          <a:xfrm>
            <a:off x="548640" y="2389632"/>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399157"/>
            <a:ext cx="11094415" cy="460629"/>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399157"/>
            <a:ext cx="1371600" cy="460629"/>
          </a:xfrm>
          <a:prstGeom prst="rect">
            <a:avLst/>
          </a:prstGeom>
          <a:noFill/>
        </p:spPr>
        <p:txBody>
          <a:bodyPr wrap="square" anchor="ctr" lIns="0" rIns="0" tIns="0" bIns="0">
            <a:spAutoFit/>
          </a:bodyPr>
          <a:lstStyle/>
          <a:p>
            <a:pPr algn="l">
              <a:lnSpc>
                <a:spcPct val="115000"/>
              </a:lnSpc>
            </a:pPr>
            <a:r>
              <a:rPr sz="1100" b="1">
                <a:solidFill>
                  <a:srgbClr val="6B1531"/>
                </a:solidFill>
                <a:latin typeface="Montserrat"/>
              </a:rPr>
              <a:t>25-26 may 2026</a:t>
            </a:r>
          </a:p>
        </p:txBody>
      </p:sp>
      <p:sp>
        <p:nvSpPr>
          <p:cNvPr id="17" name="TextBox 16"/>
          <p:cNvSpPr txBox="1"/>
          <p:nvPr/>
        </p:nvSpPr>
        <p:spPr>
          <a:xfrm>
            <a:off x="2212848" y="2399157"/>
            <a:ext cx="7802575"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Dictamen - Gaceta Parlamentaria núm. 7045-7046</a:t>
            </a:r>
          </a:p>
        </p:txBody>
      </p:sp>
      <p:sp>
        <p:nvSpPr>
          <p:cNvPr id="18" name="TextBox 17"/>
          <p:cNvSpPr txBox="1"/>
          <p:nvPr/>
        </p:nvSpPr>
        <p:spPr>
          <a:xfrm>
            <a:off x="10198303" y="2399157"/>
            <a:ext cx="1371600"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a:t>
            </a:r>
          </a:p>
        </p:txBody>
      </p:sp>
      <p:sp>
        <p:nvSpPr>
          <p:cNvPr id="19" name="Rectangle 18"/>
          <p:cNvSpPr/>
          <p:nvPr/>
        </p:nvSpPr>
        <p:spPr>
          <a:xfrm>
            <a:off x="548640" y="2850261"/>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2859786"/>
            <a:ext cx="1371600" cy="460629"/>
          </a:xfrm>
          <a:prstGeom prst="rect">
            <a:avLst/>
          </a:prstGeom>
          <a:noFill/>
        </p:spPr>
        <p:txBody>
          <a:bodyPr wrap="square" anchor="ctr" lIns="0" rIns="0" tIns="0" bIns="0">
            <a:spAutoFit/>
          </a:bodyPr>
          <a:lstStyle/>
          <a:p>
            <a:pPr algn="l">
              <a:lnSpc>
                <a:spcPct val="115000"/>
              </a:lnSpc>
            </a:pPr>
            <a:r>
              <a:rPr sz="1100" b="1">
                <a:solidFill>
                  <a:srgbClr val="6B1531"/>
                </a:solidFill>
                <a:latin typeface="Montserrat"/>
              </a:rPr>
              <a:t>26 may 2026</a:t>
            </a:r>
          </a:p>
        </p:txBody>
      </p:sp>
      <p:sp>
        <p:nvSpPr>
          <p:cNvPr id="21" name="TextBox 20"/>
          <p:cNvSpPr txBox="1"/>
          <p:nvPr/>
        </p:nvSpPr>
        <p:spPr>
          <a:xfrm>
            <a:off x="2212848" y="2859786"/>
            <a:ext cx="7802575"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Pleno de Diputados - en lo general</a:t>
            </a:r>
          </a:p>
        </p:txBody>
      </p:sp>
      <p:sp>
        <p:nvSpPr>
          <p:cNvPr id="22" name="TextBox 21"/>
          <p:cNvSpPr txBox="1"/>
          <p:nvPr/>
        </p:nvSpPr>
        <p:spPr>
          <a:xfrm>
            <a:off x="10198303" y="2859786"/>
            <a:ext cx="1371600"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341-124-0</a:t>
            </a:r>
          </a:p>
        </p:txBody>
      </p:sp>
      <p:sp>
        <p:nvSpPr>
          <p:cNvPr id="23" name="Rectangle 22"/>
          <p:cNvSpPr/>
          <p:nvPr/>
        </p:nvSpPr>
        <p:spPr>
          <a:xfrm>
            <a:off x="548640" y="3310890"/>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320415"/>
            <a:ext cx="11094415" cy="460629"/>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3320415"/>
            <a:ext cx="1371600" cy="460629"/>
          </a:xfrm>
          <a:prstGeom prst="rect">
            <a:avLst/>
          </a:prstGeom>
          <a:noFill/>
        </p:spPr>
        <p:txBody>
          <a:bodyPr wrap="square" anchor="ctr" lIns="0" rIns="0" tIns="0" bIns="0">
            <a:spAutoFit/>
          </a:bodyPr>
          <a:lstStyle/>
          <a:p>
            <a:pPr algn="l">
              <a:lnSpc>
                <a:spcPct val="115000"/>
              </a:lnSpc>
            </a:pPr>
            <a:r>
              <a:rPr sz="1100" b="1">
                <a:solidFill>
                  <a:srgbClr val="6B1531"/>
                </a:solidFill>
                <a:latin typeface="Montserrat"/>
              </a:rPr>
              <a:t>28 may 2026</a:t>
            </a:r>
          </a:p>
        </p:txBody>
      </p:sp>
      <p:sp>
        <p:nvSpPr>
          <p:cNvPr id="26" name="TextBox 25"/>
          <p:cNvSpPr txBox="1"/>
          <p:nvPr/>
        </p:nvSpPr>
        <p:spPr>
          <a:xfrm>
            <a:off x="2212848" y="3320415"/>
            <a:ext cx="7802575"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Pleno de Diputados - en lo particular</a:t>
            </a:r>
          </a:p>
        </p:txBody>
      </p:sp>
      <p:sp>
        <p:nvSpPr>
          <p:cNvPr id="27" name="TextBox 26"/>
          <p:cNvSpPr txBox="1"/>
          <p:nvPr/>
        </p:nvSpPr>
        <p:spPr>
          <a:xfrm>
            <a:off x="10198303" y="3320415"/>
            <a:ext cx="1371600"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322-132-22</a:t>
            </a:r>
          </a:p>
        </p:txBody>
      </p:sp>
      <p:sp>
        <p:nvSpPr>
          <p:cNvPr id="28" name="Rectangle 27"/>
          <p:cNvSpPr/>
          <p:nvPr/>
        </p:nvSpPr>
        <p:spPr>
          <a:xfrm>
            <a:off x="548640" y="3771519"/>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781044"/>
            <a:ext cx="1371600" cy="460629"/>
          </a:xfrm>
          <a:prstGeom prst="rect">
            <a:avLst/>
          </a:prstGeom>
          <a:noFill/>
        </p:spPr>
        <p:txBody>
          <a:bodyPr wrap="square" anchor="ctr" lIns="0" rIns="0" tIns="0" bIns="0">
            <a:spAutoFit/>
          </a:bodyPr>
          <a:lstStyle/>
          <a:p>
            <a:pPr algn="l">
              <a:lnSpc>
                <a:spcPct val="115000"/>
              </a:lnSpc>
            </a:pPr>
            <a:r>
              <a:rPr sz="1100" b="1">
                <a:solidFill>
                  <a:srgbClr val="6B1531"/>
                </a:solidFill>
                <a:latin typeface="Montserrat"/>
              </a:rPr>
              <a:t>29 may 2026</a:t>
            </a:r>
          </a:p>
        </p:txBody>
      </p:sp>
      <p:sp>
        <p:nvSpPr>
          <p:cNvPr id="30" name="TextBox 29"/>
          <p:cNvSpPr txBox="1"/>
          <p:nvPr/>
        </p:nvSpPr>
        <p:spPr>
          <a:xfrm>
            <a:off x="2212848" y="3781044"/>
            <a:ext cx="7802575"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Pleno del Senado - en lo general</a:t>
            </a:r>
          </a:p>
        </p:txBody>
      </p:sp>
      <p:sp>
        <p:nvSpPr>
          <p:cNvPr id="31" name="TextBox 30"/>
          <p:cNvSpPr txBox="1"/>
          <p:nvPr/>
        </p:nvSpPr>
        <p:spPr>
          <a:xfrm>
            <a:off x="10198303" y="3781044"/>
            <a:ext cx="1371600"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87-40-0</a:t>
            </a:r>
          </a:p>
        </p:txBody>
      </p:sp>
      <p:sp>
        <p:nvSpPr>
          <p:cNvPr id="32" name="Rectangle 31"/>
          <p:cNvSpPr/>
          <p:nvPr/>
        </p:nvSpPr>
        <p:spPr>
          <a:xfrm>
            <a:off x="548640" y="4232148"/>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4241673"/>
            <a:ext cx="11094415" cy="460629"/>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4241673"/>
            <a:ext cx="1371600" cy="460629"/>
          </a:xfrm>
          <a:prstGeom prst="rect">
            <a:avLst/>
          </a:prstGeom>
          <a:noFill/>
        </p:spPr>
        <p:txBody>
          <a:bodyPr wrap="square" anchor="ctr" lIns="0" rIns="0" tIns="0" bIns="0">
            <a:spAutoFit/>
          </a:bodyPr>
          <a:lstStyle/>
          <a:p>
            <a:pPr algn="l">
              <a:lnSpc>
                <a:spcPct val="115000"/>
              </a:lnSpc>
            </a:pPr>
            <a:r>
              <a:rPr sz="1100" b="1">
                <a:solidFill>
                  <a:srgbClr val="6B1531"/>
                </a:solidFill>
                <a:latin typeface="Montserrat"/>
              </a:rPr>
              <a:t>29-31 may 2026</a:t>
            </a:r>
          </a:p>
        </p:txBody>
      </p:sp>
      <p:sp>
        <p:nvSpPr>
          <p:cNvPr id="35" name="TextBox 34"/>
          <p:cNvSpPr txBox="1"/>
          <p:nvPr/>
        </p:nvSpPr>
        <p:spPr>
          <a:xfrm>
            <a:off x="2212848" y="4241673"/>
            <a:ext cx="7802575"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Congresos estatales (se requerian 17)</a:t>
            </a:r>
          </a:p>
        </p:txBody>
      </p:sp>
      <p:sp>
        <p:nvSpPr>
          <p:cNvPr id="36" name="TextBox 35"/>
          <p:cNvSpPr txBox="1"/>
          <p:nvPr/>
        </p:nvSpPr>
        <p:spPr>
          <a:xfrm>
            <a:off x="10198303" y="4241673"/>
            <a:ext cx="1371600"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25 a favor</a:t>
            </a:r>
          </a:p>
        </p:txBody>
      </p:sp>
      <p:sp>
        <p:nvSpPr>
          <p:cNvPr id="37" name="Rectangle 36"/>
          <p:cNvSpPr/>
          <p:nvPr/>
        </p:nvSpPr>
        <p:spPr>
          <a:xfrm>
            <a:off x="548640" y="4692777"/>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4702302"/>
            <a:ext cx="1371600" cy="460629"/>
          </a:xfrm>
          <a:prstGeom prst="rect">
            <a:avLst/>
          </a:prstGeom>
          <a:noFill/>
        </p:spPr>
        <p:txBody>
          <a:bodyPr wrap="square" anchor="ctr" lIns="0" rIns="0" tIns="0" bIns="0">
            <a:spAutoFit/>
          </a:bodyPr>
          <a:lstStyle/>
          <a:p>
            <a:pPr algn="l">
              <a:lnSpc>
                <a:spcPct val="115000"/>
              </a:lnSpc>
            </a:pPr>
            <a:r>
              <a:rPr sz="1100" b="1">
                <a:solidFill>
                  <a:srgbClr val="6B1531"/>
                </a:solidFill>
                <a:latin typeface="Montserrat"/>
              </a:rPr>
              <a:t>1 jun 2026</a:t>
            </a:r>
          </a:p>
        </p:txBody>
      </p:sp>
      <p:sp>
        <p:nvSpPr>
          <p:cNvPr id="39" name="TextBox 38"/>
          <p:cNvSpPr txBox="1"/>
          <p:nvPr/>
        </p:nvSpPr>
        <p:spPr>
          <a:xfrm>
            <a:off x="2212848" y="4702302"/>
            <a:ext cx="7802575"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Comisión Permanente - declaratoria de constitucionalidad</a:t>
            </a:r>
          </a:p>
        </p:txBody>
      </p:sp>
      <p:sp>
        <p:nvSpPr>
          <p:cNvPr id="40" name="TextBox 39"/>
          <p:cNvSpPr txBox="1"/>
          <p:nvPr/>
        </p:nvSpPr>
        <p:spPr>
          <a:xfrm>
            <a:off x="10198303" y="4702302"/>
            <a:ext cx="1371600"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a:t>
            </a:r>
          </a:p>
        </p:txBody>
      </p:sp>
      <p:sp>
        <p:nvSpPr>
          <p:cNvPr id="41" name="Rectangle 40"/>
          <p:cNvSpPr/>
          <p:nvPr/>
        </p:nvSpPr>
        <p:spPr>
          <a:xfrm>
            <a:off x="548640" y="5153406"/>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8640" y="5162931"/>
            <a:ext cx="11094415" cy="460629"/>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 y="5162931"/>
            <a:ext cx="1371600" cy="460629"/>
          </a:xfrm>
          <a:prstGeom prst="rect">
            <a:avLst/>
          </a:prstGeom>
          <a:noFill/>
        </p:spPr>
        <p:txBody>
          <a:bodyPr wrap="square" anchor="ctr" lIns="0" rIns="0" tIns="0" bIns="0">
            <a:spAutoFit/>
          </a:bodyPr>
          <a:lstStyle/>
          <a:p>
            <a:pPr algn="l">
              <a:lnSpc>
                <a:spcPct val="115000"/>
              </a:lnSpc>
            </a:pPr>
            <a:r>
              <a:rPr sz="1100" b="1">
                <a:solidFill>
                  <a:srgbClr val="6B1531"/>
                </a:solidFill>
                <a:latin typeface="Montserrat"/>
              </a:rPr>
              <a:t>2 jun 2026</a:t>
            </a:r>
          </a:p>
        </p:txBody>
      </p:sp>
      <p:sp>
        <p:nvSpPr>
          <p:cNvPr id="44" name="TextBox 43"/>
          <p:cNvSpPr txBox="1"/>
          <p:nvPr/>
        </p:nvSpPr>
        <p:spPr>
          <a:xfrm>
            <a:off x="2212848" y="5162931"/>
            <a:ext cx="7802575"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Publicación en el DOF - 3 jun: entra en vigor</a:t>
            </a:r>
          </a:p>
        </p:txBody>
      </p:sp>
      <p:sp>
        <p:nvSpPr>
          <p:cNvPr id="45" name="TextBox 44"/>
          <p:cNvSpPr txBox="1"/>
          <p:nvPr/>
        </p:nvSpPr>
        <p:spPr>
          <a:xfrm>
            <a:off x="10198303" y="5162931"/>
            <a:ext cx="1371600" cy="460629"/>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a:t>
            </a:r>
          </a:p>
        </p:txBody>
      </p:sp>
      <p:sp>
        <p:nvSpPr>
          <p:cNvPr id="46" name="Rectangle 45"/>
          <p:cNvSpPr/>
          <p:nvPr/>
        </p:nvSpPr>
        <p:spPr>
          <a:xfrm>
            <a:off x="548640" y="5614035"/>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5833872"/>
            <a:ext cx="11094415" cy="365760"/>
          </a:xfrm>
          <a:prstGeom prst="rect">
            <a:avLst/>
          </a:prstGeom>
          <a:noFill/>
        </p:spPr>
        <p:txBody>
          <a:bodyPr wrap="square" anchor="t" lIns="0" rIns="0" tIns="0" bIns="0">
            <a:spAutoFit/>
          </a:bodyPr>
          <a:lstStyle/>
          <a:p>
            <a:pPr algn="l">
              <a:lnSpc>
                <a:spcPct val="120000"/>
              </a:lnSpc>
            </a:pPr>
            <a:r>
              <a:rPr sz="1000" b="0">
                <a:solidFill>
                  <a:srgbClr val="98989A"/>
                </a:solidFill>
                <a:latin typeface="Montserrat"/>
              </a:rPr>
              <a:t>A favor: Morena, PVEM y PT. En contra: PAN, PRI y MC. 22 abstenciones en Morena por la reelección del TEPJF.</a:t>
            </a:r>
          </a:p>
        </p:txBody>
      </p:sp>
      <p:sp>
        <p:nvSpPr>
          <p:cNvPr id="48" name="TextBox 47"/>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Senado de la República. (2026, 29 de mayo). Senado aprueba reforma que aplaza la elección del Poder Judicial de 2027 a 2028 (Com. 1466).</a:t>
            </a:r>
          </a:p>
        </p:txBody>
      </p:sp>
      <p:sp>
        <p:nvSpPr>
          <p:cNvPr id="49" name="Rectangle 48"/>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TRÁMITE</a:t>
            </a:r>
          </a:p>
        </p:txBody>
      </p:sp>
      <p:sp>
        <p:nvSpPr>
          <p:cNvPr id="52" name="TextBox 51"/>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5 / 48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EXPOSICIÓN DE MOTIVOS</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¿Por qué? (según el dictamen)</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81328"/>
            <a:ext cx="11094415" cy="457200"/>
          </a:xfrm>
          <a:prstGeom prst="rect">
            <a:avLst/>
          </a:prstGeom>
          <a:noFill/>
        </p:spPr>
        <p:txBody>
          <a:bodyPr wrap="square" anchor="t" lIns="0" rIns="0" tIns="0" bIns="0">
            <a:spAutoFit/>
          </a:bodyPr>
          <a:lstStyle/>
          <a:p>
            <a:pPr algn="l">
              <a:lnSpc>
                <a:spcPct val="135000"/>
              </a:lnSpc>
            </a:pPr>
            <a:r>
              <a:rPr sz="1250" b="0">
                <a:solidFill>
                  <a:srgbClr val="4A4A4A"/>
                </a:solidFill>
                <a:latin typeface="Montserrat"/>
              </a:rPr>
              <a:t>La iniciativa presidencial se organiza en 7 ejes. El dictamen (Gaceta 7046) los vincula a cada artículo.</a:t>
            </a:r>
          </a:p>
        </p:txBody>
      </p:sp>
      <p:sp>
        <p:nvSpPr>
          <p:cNvPr id="8" name="TextBox 7"/>
          <p:cNvSpPr txBox="1"/>
          <p:nvPr/>
        </p:nvSpPr>
        <p:spPr>
          <a:xfrm>
            <a:off x="548640" y="1965960"/>
            <a:ext cx="1920240" cy="819302"/>
          </a:xfrm>
          <a:prstGeom prst="rect">
            <a:avLst/>
          </a:prstGeom>
          <a:noFill/>
        </p:spPr>
        <p:txBody>
          <a:bodyPr wrap="square" anchor="ctr" lIns="0" rIns="0" tIns="0" bIns="0">
            <a:spAutoFit/>
          </a:bodyPr>
          <a:lstStyle/>
          <a:p>
            <a:pPr algn="l">
              <a:lnSpc>
                <a:spcPct val="115000"/>
              </a:lnSpc>
            </a:pPr>
            <a:r>
              <a:rPr sz="1200" b="1">
                <a:solidFill>
                  <a:srgbClr val="6B1531"/>
                </a:solidFill>
                <a:latin typeface="Montserrat"/>
              </a:rPr>
              <a:t>Eje I - Art. 35</a:t>
            </a:r>
          </a:p>
        </p:txBody>
      </p:sp>
      <p:sp>
        <p:nvSpPr>
          <p:cNvPr id="9" name="TextBox 8"/>
          <p:cNvSpPr txBox="1"/>
          <p:nvPr/>
        </p:nvSpPr>
        <p:spPr>
          <a:xfrm>
            <a:off x="2514600" y="1965960"/>
            <a:ext cx="9128455" cy="819302"/>
          </a:xfrm>
          <a:prstGeom prst="rect">
            <a:avLst/>
          </a:prstGeom>
          <a:noFill/>
        </p:spPr>
        <p:txBody>
          <a:bodyPr wrap="square" anchor="ctr" lIns="0" rIns="0" tIns="0" bIns="0">
            <a:spAutoFit/>
          </a:bodyPr>
          <a:lstStyle/>
          <a:p>
            <a:pPr algn="l">
              <a:lnSpc>
                <a:spcPct val="125000"/>
              </a:lnSpc>
            </a:pPr>
            <a:r>
              <a:rPr sz="1150" b="0">
                <a:solidFill>
                  <a:srgbClr val="4A4A4A"/>
                </a:solidFill>
                <a:latin typeface="Montserrat"/>
              </a:rPr>
              <a:t>Concurrencia electoral para 'dotar de mayor racionalidad, eficiencia y funcionalidad... evitando la duplicidad de estructuras, recursos humanos, materiales y financieros'.</a:t>
            </a:r>
          </a:p>
        </p:txBody>
      </p:sp>
      <p:sp>
        <p:nvSpPr>
          <p:cNvPr id="10" name="Rectangle 9"/>
          <p:cNvSpPr/>
          <p:nvPr/>
        </p:nvSpPr>
        <p:spPr>
          <a:xfrm>
            <a:off x="548640" y="2745130"/>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785262"/>
            <a:ext cx="1920240" cy="819302"/>
          </a:xfrm>
          <a:prstGeom prst="rect">
            <a:avLst/>
          </a:prstGeom>
          <a:noFill/>
        </p:spPr>
        <p:txBody>
          <a:bodyPr wrap="square" anchor="ctr" lIns="0" rIns="0" tIns="0" bIns="0">
            <a:spAutoFit/>
          </a:bodyPr>
          <a:lstStyle/>
          <a:p>
            <a:pPr algn="l">
              <a:lnSpc>
                <a:spcPct val="115000"/>
              </a:lnSpc>
            </a:pPr>
            <a:r>
              <a:rPr sz="1200" b="1">
                <a:solidFill>
                  <a:srgbClr val="6B1531"/>
                </a:solidFill>
                <a:latin typeface="Montserrat"/>
              </a:rPr>
              <a:t>Eje VI - Art. 94</a:t>
            </a:r>
          </a:p>
        </p:txBody>
      </p:sp>
      <p:sp>
        <p:nvSpPr>
          <p:cNvPr id="12" name="TextBox 11"/>
          <p:cNvSpPr txBox="1"/>
          <p:nvPr/>
        </p:nvSpPr>
        <p:spPr>
          <a:xfrm>
            <a:off x="2514600" y="2785262"/>
            <a:ext cx="9128455" cy="819302"/>
          </a:xfrm>
          <a:prstGeom prst="rect">
            <a:avLst/>
          </a:prstGeom>
          <a:noFill/>
        </p:spPr>
        <p:txBody>
          <a:bodyPr wrap="square" anchor="ctr" lIns="0" rIns="0" tIns="0" bIns="0">
            <a:spAutoFit/>
          </a:bodyPr>
          <a:lstStyle/>
          <a:p>
            <a:pPr algn="l">
              <a:lnSpc>
                <a:spcPct val="125000"/>
              </a:lnSpc>
            </a:pPr>
            <a:r>
              <a:rPr sz="1150" b="0">
                <a:solidFill>
                  <a:srgbClr val="4A4A4A"/>
                </a:solidFill>
                <a:latin typeface="Montserrat"/>
              </a:rPr>
              <a:t>Secciones que permitan al Pleno conocer los asuntos de fondo y 'gestionar de manera más eficiente' los asuntos de trámite.</a:t>
            </a:r>
          </a:p>
        </p:txBody>
      </p:sp>
      <p:sp>
        <p:nvSpPr>
          <p:cNvPr id="13" name="Rectangle 12"/>
          <p:cNvSpPr/>
          <p:nvPr/>
        </p:nvSpPr>
        <p:spPr>
          <a:xfrm>
            <a:off x="548640" y="3564432"/>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04564"/>
            <a:ext cx="1920240" cy="819302"/>
          </a:xfrm>
          <a:prstGeom prst="rect">
            <a:avLst/>
          </a:prstGeom>
          <a:noFill/>
        </p:spPr>
        <p:txBody>
          <a:bodyPr wrap="square" anchor="ctr" lIns="0" rIns="0" tIns="0" bIns="0">
            <a:spAutoFit/>
          </a:bodyPr>
          <a:lstStyle/>
          <a:p>
            <a:pPr algn="l">
              <a:lnSpc>
                <a:spcPct val="115000"/>
              </a:lnSpc>
            </a:pPr>
            <a:r>
              <a:rPr sz="1200" b="1">
                <a:solidFill>
                  <a:srgbClr val="6B1531"/>
                </a:solidFill>
                <a:latin typeface="Montserrat"/>
              </a:rPr>
              <a:t>Ejes II-III - Art. 96</a:t>
            </a:r>
          </a:p>
        </p:txBody>
      </p:sp>
      <p:sp>
        <p:nvSpPr>
          <p:cNvPr id="15" name="TextBox 14"/>
          <p:cNvSpPr txBox="1"/>
          <p:nvPr/>
        </p:nvSpPr>
        <p:spPr>
          <a:xfrm>
            <a:off x="2514600" y="3604564"/>
            <a:ext cx="9128455" cy="819302"/>
          </a:xfrm>
          <a:prstGeom prst="rect">
            <a:avLst/>
          </a:prstGeom>
          <a:noFill/>
        </p:spPr>
        <p:txBody>
          <a:bodyPr wrap="square" anchor="ctr" lIns="0" rIns="0" tIns="0" bIns="0">
            <a:spAutoFit/>
          </a:bodyPr>
          <a:lstStyle/>
          <a:p>
            <a:pPr algn="l">
              <a:lnSpc>
                <a:spcPct val="125000"/>
              </a:lnSpc>
            </a:pPr>
            <a:r>
              <a:rPr sz="1150" b="0">
                <a:solidFill>
                  <a:srgbClr val="4A4A4A"/>
                </a:solidFill>
                <a:latin typeface="Montserrat"/>
              </a:rPr>
              <a:t>Comisión con metodologías homologadas y exámenes; reducir 'de diez a cuatro' porque 'un muy alto número de candidaturas... puede dificultar la deliberación ciudadana'.</a:t>
            </a:r>
          </a:p>
        </p:txBody>
      </p:sp>
      <p:sp>
        <p:nvSpPr>
          <p:cNvPr id="16" name="Rectangle 15"/>
          <p:cNvSpPr/>
          <p:nvPr/>
        </p:nvSpPr>
        <p:spPr>
          <a:xfrm>
            <a:off x="548640" y="4383735"/>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423867"/>
            <a:ext cx="1920240" cy="819302"/>
          </a:xfrm>
          <a:prstGeom prst="rect">
            <a:avLst/>
          </a:prstGeom>
          <a:noFill/>
        </p:spPr>
        <p:txBody>
          <a:bodyPr wrap="square" anchor="ctr" lIns="0" rIns="0" tIns="0" bIns="0">
            <a:spAutoFit/>
          </a:bodyPr>
          <a:lstStyle/>
          <a:p>
            <a:pPr algn="l">
              <a:lnSpc>
                <a:spcPct val="115000"/>
              </a:lnSpc>
            </a:pPr>
            <a:r>
              <a:rPr sz="1200" b="1">
                <a:solidFill>
                  <a:srgbClr val="6B1531"/>
                </a:solidFill>
                <a:latin typeface="Montserrat"/>
              </a:rPr>
              <a:t>Eje V - Arts. 98 y 100</a:t>
            </a:r>
          </a:p>
        </p:txBody>
      </p:sp>
      <p:sp>
        <p:nvSpPr>
          <p:cNvPr id="18" name="TextBox 17"/>
          <p:cNvSpPr txBox="1"/>
          <p:nvPr/>
        </p:nvSpPr>
        <p:spPr>
          <a:xfrm>
            <a:off x="2514600" y="4423867"/>
            <a:ext cx="9128455" cy="819302"/>
          </a:xfrm>
          <a:prstGeom prst="rect">
            <a:avLst/>
          </a:prstGeom>
          <a:noFill/>
        </p:spPr>
        <p:txBody>
          <a:bodyPr wrap="square" anchor="ctr" lIns="0" rIns="0" tIns="0" bIns="0">
            <a:spAutoFit/>
          </a:bodyPr>
          <a:lstStyle/>
          <a:p>
            <a:pPr algn="l">
              <a:lnSpc>
                <a:spcPct val="125000"/>
              </a:lnSpc>
            </a:pPr>
            <a:r>
              <a:rPr sz="1150" b="0">
                <a:solidFill>
                  <a:srgbClr val="4A4A4A"/>
                </a:solidFill>
                <a:latin typeface="Montserrat"/>
              </a:rPr>
              <a:t>Separación mediante 'renuncia expresa e irrevocable'; elevar a rango constitucional la 'capacitación y actualización permanente'.</a:t>
            </a:r>
          </a:p>
        </p:txBody>
      </p:sp>
      <p:sp>
        <p:nvSpPr>
          <p:cNvPr id="19" name="Rectangle 18"/>
          <p:cNvSpPr/>
          <p:nvPr/>
        </p:nvSpPr>
        <p:spPr>
          <a:xfrm>
            <a:off x="548640" y="5203037"/>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243169"/>
            <a:ext cx="1920240" cy="819302"/>
          </a:xfrm>
          <a:prstGeom prst="rect">
            <a:avLst/>
          </a:prstGeom>
          <a:noFill/>
        </p:spPr>
        <p:txBody>
          <a:bodyPr wrap="square" anchor="ctr" lIns="0" rIns="0" tIns="0" bIns="0">
            <a:spAutoFit/>
          </a:bodyPr>
          <a:lstStyle/>
          <a:p>
            <a:pPr algn="l">
              <a:lnSpc>
                <a:spcPct val="115000"/>
              </a:lnSpc>
            </a:pPr>
            <a:r>
              <a:rPr sz="1200" b="1">
                <a:solidFill>
                  <a:srgbClr val="6B1531"/>
                </a:solidFill>
                <a:latin typeface="Montserrat"/>
              </a:rPr>
              <a:t>Eje VII - Arts. 116 y 122</a:t>
            </a:r>
          </a:p>
        </p:txBody>
      </p:sp>
      <p:sp>
        <p:nvSpPr>
          <p:cNvPr id="21" name="TextBox 20"/>
          <p:cNvSpPr txBox="1"/>
          <p:nvPr/>
        </p:nvSpPr>
        <p:spPr>
          <a:xfrm>
            <a:off x="2514600" y="5243169"/>
            <a:ext cx="9128455" cy="819302"/>
          </a:xfrm>
          <a:prstGeom prst="rect">
            <a:avLst/>
          </a:prstGeom>
          <a:noFill/>
        </p:spPr>
        <p:txBody>
          <a:bodyPr wrap="square" anchor="ctr" lIns="0" rIns="0" tIns="0" bIns="0">
            <a:spAutoFit/>
          </a:bodyPr>
          <a:lstStyle/>
          <a:p>
            <a:pPr algn="l">
              <a:lnSpc>
                <a:spcPct val="125000"/>
              </a:lnSpc>
            </a:pPr>
            <a:r>
              <a:rPr sz="1150" b="0">
                <a:solidFill>
                  <a:srgbClr val="4A4A4A"/>
                </a:solidFill>
                <a:latin typeface="Montserrat"/>
              </a:rPr>
              <a:t>Replicar el orden federal por 'casos en que diversos Estados no se ajustaron al diseno constitucional' (AI 92/2025, 97/2025, 98/2025).</a:t>
            </a:r>
          </a:p>
        </p:txBody>
      </p:sp>
      <p:sp>
        <p:nvSpPr>
          <p:cNvPr id="22" name="Rectangle 21"/>
          <p:cNvSpPr/>
          <p:nvPr/>
        </p:nvSpPr>
        <p:spPr>
          <a:xfrm>
            <a:off x="548640" y="6022340"/>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24" name="Rectangle 23"/>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PANORAMA</a:t>
            </a:r>
          </a:p>
        </p:txBody>
      </p:sp>
      <p:sp>
        <p:nvSpPr>
          <p:cNvPr id="27" name="TextBox 26"/>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6 / 48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86207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35 - FRAC. IX - NÚM. 3</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Revocación de mandato: fecha coincidente</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357055" y="457200"/>
            <a:ext cx="2286000" cy="329184"/>
          </a:xfrm>
          <a:prstGeom prst="round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3D0A1C"/>
                </a:solidFill>
                <a:latin typeface="Montserrat"/>
              </a:rPr>
              <a:t>Ver artículo COMPLETO &gt;</a:t>
            </a:r>
          </a:p>
        </p:txBody>
      </p:sp>
      <p:sp>
        <p:nvSpPr>
          <p:cNvPr id="8" name="Rectangle 7"/>
          <p:cNvSpPr/>
          <p:nvPr/>
        </p:nvSpPr>
        <p:spPr>
          <a:xfrm>
            <a:off x="548640" y="1371600"/>
            <a:ext cx="5410047" cy="324612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324612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3o. Se realizará mediante votación libre, directa y secreta de ciudadanos y ciudadanas inscritos en la lista nominal, </a:t>
            </a:r>
            <a:r>
              <a:rPr sz="1100" b="1" u="none">
                <a:solidFill>
                  <a:srgbClr val="1A1A1A"/>
                </a:solidFill>
                <a:latin typeface="Montserrat"/>
              </a:rPr>
              <a:t>el domingo siguiente a los noventa días posteriores a la convocatoria y en fecha no coincidente</a:t>
            </a:r>
            <a:r>
              <a:rPr sz="1100" b="0" u="none">
                <a:solidFill>
                  <a:srgbClr val="1A1A1A"/>
                </a:solidFill>
                <a:latin typeface="Montserrat"/>
              </a:rPr>
              <a:t> con las jornadas electorales, federal o locales.</a:t>
            </a:r>
          </a:p>
        </p:txBody>
      </p:sp>
      <p:sp>
        <p:nvSpPr>
          <p:cNvPr id="12" name="Rectangle 11"/>
          <p:cNvSpPr/>
          <p:nvPr/>
        </p:nvSpPr>
        <p:spPr>
          <a:xfrm>
            <a:off x="6233007" y="1371600"/>
            <a:ext cx="5410047" cy="324612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324612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3o. Se realizará mediante votación libre, directa y secreta de ciudadanos y ciudadanas inscritos en la lista nominal, </a:t>
            </a:r>
            <a:r>
              <a:rPr sz="1100" b="1" u="none">
                <a:solidFill>
                  <a:srgbClr val="1A1A1A"/>
                </a:solidFill>
                <a:latin typeface="Montserrat"/>
              </a:rPr>
              <a:t>el primer domingo de junio del cuarto año del periodo constitucional de forma coincidente</a:t>
            </a:r>
            <a:r>
              <a:rPr sz="1100" b="0" u="none">
                <a:solidFill>
                  <a:srgbClr val="1A1A1A"/>
                </a:solidFill>
                <a:latin typeface="Montserrat"/>
              </a:rPr>
              <a:t> con las jornadas electorales, federal o locales.</a:t>
            </a:r>
          </a:p>
        </p:txBody>
      </p:sp>
      <p:sp>
        <p:nvSpPr>
          <p:cNvPr id="16" name="Rectangle 15"/>
          <p:cNvSpPr/>
          <p:nvPr/>
        </p:nvSpPr>
        <p:spPr>
          <a:xfrm>
            <a:off x="548640"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QUÉ CAMBIA</a:t>
            </a:r>
          </a:p>
        </p:txBody>
      </p:sp>
      <p:sp>
        <p:nvSpPr>
          <p:cNvPr id="19" name="TextBox 18"/>
          <p:cNvSpPr txBox="1"/>
          <p:nvPr/>
        </p:nvSpPr>
        <p:spPr>
          <a:xfrm>
            <a:off x="676656"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La revocación de mandato se fija al 1er domingo de junio del 4o año y se empalma al calendario electoral (en este sexenio, 2028).</a:t>
            </a:r>
          </a:p>
        </p:txBody>
      </p:sp>
      <p:sp>
        <p:nvSpPr>
          <p:cNvPr id="20" name="Rectangle 19"/>
          <p:cNvSpPr/>
          <p:nvPr/>
        </p:nvSpPr>
        <p:spPr>
          <a:xfrm>
            <a:off x="6233007"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1023"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POR QUÉ (DICTAMEN)</a:t>
            </a:r>
          </a:p>
        </p:txBody>
      </p:sp>
      <p:sp>
        <p:nvSpPr>
          <p:cNvPr id="23" name="TextBox 22"/>
          <p:cNvSpPr txBox="1"/>
          <p:nvPr/>
        </p:nvSpPr>
        <p:spPr>
          <a:xfrm>
            <a:off x="6361023"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Eje I: 'dotar de mayor racionalidad, eficiencia y funcionalidad al sistema electoral... evitando la duplicidad de estructuras, recursos humanos, materiales y financieros'.</a:t>
            </a:r>
          </a:p>
        </p:txBody>
      </p:sp>
      <p:sp>
        <p:nvSpPr>
          <p:cNvPr id="24" name="TextBox 23"/>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25" name="Rectangle 24"/>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8" name="TextBox 27"/>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7 / 48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3108960"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94 - PÁRRAFOS 3o, 4o Y 5o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La SCJN podrá funcionar en dos secciones</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357055" y="457200"/>
            <a:ext cx="2286000" cy="329184"/>
          </a:xfrm>
          <a:prstGeom prst="round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3D0A1C"/>
                </a:solidFill>
                <a:latin typeface="Montserrat"/>
              </a:rPr>
              <a:t>Ver artículo COMPLETO &gt;</a:t>
            </a:r>
          </a:p>
        </p:txBody>
      </p:sp>
      <p:sp>
        <p:nvSpPr>
          <p:cNvPr id="8" name="Rectangle 7"/>
          <p:cNvSpPr/>
          <p:nvPr/>
        </p:nvSpPr>
        <p:spPr>
          <a:xfrm>
            <a:off x="548640" y="1371600"/>
            <a:ext cx="5410047" cy="324612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324612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 Suprema Corte de Justicia de la Nación se compondrá de nueve integrantes, Ministras y Ministros, y </a:t>
            </a:r>
            <a:r>
              <a:rPr sz="1100" b="1" u="none">
                <a:solidFill>
                  <a:srgbClr val="1A1A1A"/>
                </a:solidFill>
                <a:latin typeface="Montserrat"/>
              </a:rPr>
              <a:t>funcionará en Pleno</a:t>
            </a:r>
            <a:r>
              <a:rPr sz="1100" b="0" u="none">
                <a:solidFill>
                  <a:srgbClr val="1A1A1A"/>
                </a:solidFill>
                <a:latin typeface="Montserrat"/>
              </a:rPr>
              <a:t>. Su presidencia se renovará cada dos años de manera rotatoria en función del número de votos que obtenga cada candidatura en la elección respectiva, correspondiendo la presidencia a quienes alcancen mayor votación.</a:t>
            </a:r>
          </a:p>
          <a:p>
            <a:pPr>
              <a:lnSpc>
                <a:spcPct val="118000"/>
              </a:lnSpc>
              <a:spcAft>
                <a:spcPts val="300"/>
              </a:spcAft>
            </a:pPr>
            <a:r>
              <a:rPr sz="1100" b="0" u="none">
                <a:solidFill>
                  <a:srgbClr val="1A1A1A"/>
                </a:solidFill>
                <a:latin typeface="Montserrat"/>
              </a:rPr>
              <a:t>En los términos que la ley disponga las </a:t>
            </a:r>
            <a:r>
              <a:rPr sz="1100" b="1" u="none">
                <a:solidFill>
                  <a:srgbClr val="1A1A1A"/>
                </a:solidFill>
                <a:latin typeface="Montserrat"/>
              </a:rPr>
              <a:t>sesiones del Pleno serán públicas</a:t>
            </a:r>
            <a:r>
              <a:rPr sz="1100" b="0" u="none">
                <a:solidFill>
                  <a:srgbClr val="1A1A1A"/>
                </a:solidFill>
                <a:latin typeface="Montserrat"/>
              </a:rPr>
              <a:t>.</a:t>
            </a:r>
          </a:p>
          <a:p>
            <a:pPr>
              <a:lnSpc>
                <a:spcPct val="118000"/>
              </a:lnSpc>
              <a:spcAft>
                <a:spcPts val="300"/>
              </a:spcAft>
            </a:pPr>
            <a:r>
              <a:rPr sz="1100" b="0" u="none">
                <a:solidFill>
                  <a:srgbClr val="1A1A1A"/>
                </a:solidFill>
                <a:latin typeface="Montserrat"/>
              </a:rPr>
              <a:t>La competencia de la Suprema Corte, su </a:t>
            </a:r>
            <a:r>
              <a:rPr sz="1100" b="1" u="none">
                <a:solidFill>
                  <a:srgbClr val="1A1A1A"/>
                </a:solidFill>
                <a:latin typeface="Montserrat"/>
              </a:rPr>
              <a:t>funcionamiento en Pleno</a:t>
            </a:r>
            <a:r>
              <a:rPr sz="1100" b="0" u="none">
                <a:solidFill>
                  <a:srgbClr val="1A1A1A"/>
                </a:solidFill>
                <a:latin typeface="Montserrat"/>
              </a:rPr>
              <a:t>, la competencia de los Plenos Regionales, de los Tribunales de Circuito, de los Juzgados de Distrito y del Tribunal Electoral, así como las responsabilidades en que incurran las servidoras y los servidores públicos del Poder Judicial de la Federación, se regiran por lo que dispongan las leyes y los acuerdos generales correspondientes, de conformidad con las bases que esta Constitución establece.</a:t>
            </a:r>
          </a:p>
        </p:txBody>
      </p:sp>
      <p:sp>
        <p:nvSpPr>
          <p:cNvPr id="12" name="Rectangle 11"/>
          <p:cNvSpPr/>
          <p:nvPr/>
        </p:nvSpPr>
        <p:spPr>
          <a:xfrm>
            <a:off x="6233007" y="1371600"/>
            <a:ext cx="5410047" cy="324612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324612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 Suprema Corte de Justicia de la Nación se compondrá de nueve integrantes, Ministras y Ministros, y funcionará en Pleno; </a:t>
            </a:r>
            <a:r>
              <a:rPr sz="1100" b="1" u="none">
                <a:solidFill>
                  <a:srgbClr val="1A1A1A"/>
                </a:solidFill>
                <a:latin typeface="Montserrat"/>
              </a:rPr>
              <a:t>tambien, con aprobación del Pleno, podrá funcionar en dos secciones</a:t>
            </a:r>
            <a:r>
              <a:rPr sz="1100" b="0" u="none">
                <a:solidFill>
                  <a:srgbClr val="1A1A1A"/>
                </a:solidFill>
                <a:latin typeface="Montserrat"/>
              </a:rPr>
              <a:t>. La presidencia de la Corte se renovará cada dos años de manera rotatoria en función del número de votos que obtenga cada candidatura en la elección respectiva, correspondiendo la presidencia a quienes alcancen mayor votación.</a:t>
            </a:r>
          </a:p>
          <a:p>
            <a:pPr>
              <a:lnSpc>
                <a:spcPct val="118000"/>
              </a:lnSpc>
              <a:spcAft>
                <a:spcPts val="300"/>
              </a:spcAft>
            </a:pPr>
            <a:r>
              <a:rPr sz="1100" b="0" u="none">
                <a:solidFill>
                  <a:srgbClr val="1A1A1A"/>
                </a:solidFill>
                <a:latin typeface="Montserrat"/>
              </a:rPr>
              <a:t>En los términos que la ley disponga las </a:t>
            </a:r>
            <a:r>
              <a:rPr sz="1100" b="1" u="none">
                <a:solidFill>
                  <a:srgbClr val="1A1A1A"/>
                </a:solidFill>
                <a:latin typeface="Montserrat"/>
              </a:rPr>
              <a:t>sesiones del Pleno y de las secciones serán públicas</a:t>
            </a:r>
            <a:r>
              <a:rPr sz="1100" b="0" u="none">
                <a:solidFill>
                  <a:srgbClr val="1A1A1A"/>
                </a:solidFill>
                <a:latin typeface="Montserrat"/>
              </a:rPr>
              <a:t>.</a:t>
            </a:r>
          </a:p>
          <a:p>
            <a:pPr>
              <a:lnSpc>
                <a:spcPct val="118000"/>
              </a:lnSpc>
              <a:spcAft>
                <a:spcPts val="300"/>
              </a:spcAft>
            </a:pPr>
            <a:r>
              <a:rPr sz="1100" b="0" u="none">
                <a:solidFill>
                  <a:srgbClr val="1A1A1A"/>
                </a:solidFill>
                <a:latin typeface="Montserrat"/>
              </a:rPr>
              <a:t>La competencia de la Suprema Corte, su </a:t>
            </a:r>
            <a:r>
              <a:rPr sz="1100" b="1" u="none">
                <a:solidFill>
                  <a:srgbClr val="1A1A1A"/>
                </a:solidFill>
                <a:latin typeface="Montserrat"/>
              </a:rPr>
              <a:t>funcionamiento en Pleno y en secciones</a:t>
            </a:r>
            <a:r>
              <a:rPr sz="1100" b="0" u="none">
                <a:solidFill>
                  <a:srgbClr val="1A1A1A"/>
                </a:solidFill>
                <a:latin typeface="Montserrat"/>
              </a:rPr>
              <a:t>, la competencia de los Plenos Regionales, de los Tribunales de Circuito, de los Juzgados de Distrito y del Tribunal Electoral, así como las responsabilidades en que incurran las servidoras y los servidores públicos del Poder Judicial de la Federación, se regiran por lo que dispongan las leyes y los acuerdos generales correspondientes, de conformidad con las bases que esta Constitución establece.</a:t>
            </a:r>
          </a:p>
        </p:txBody>
      </p:sp>
      <p:sp>
        <p:nvSpPr>
          <p:cNvPr id="16" name="Rectangle 15"/>
          <p:cNvSpPr/>
          <p:nvPr/>
        </p:nvSpPr>
        <p:spPr>
          <a:xfrm>
            <a:off x="548640"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QUÉ CAMBIA</a:t>
            </a:r>
          </a:p>
        </p:txBody>
      </p:sp>
      <p:sp>
        <p:nvSpPr>
          <p:cNvPr id="19" name="TextBox 18"/>
          <p:cNvSpPr txBox="1"/>
          <p:nvPr/>
        </p:nvSpPr>
        <p:spPr>
          <a:xfrm>
            <a:off x="676656"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Se habilitan dos secciones (con aprobación del Pleno), cercanas a las Salas suprimidas en 2024, y sus sesiones serán públicas.</a:t>
            </a:r>
          </a:p>
        </p:txBody>
      </p:sp>
      <p:sp>
        <p:nvSpPr>
          <p:cNvPr id="20" name="Rectangle 19"/>
          <p:cNvSpPr/>
          <p:nvPr/>
        </p:nvSpPr>
        <p:spPr>
          <a:xfrm>
            <a:off x="6233007"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1023"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POR QUÉ (DICTAMEN)</a:t>
            </a:r>
          </a:p>
        </p:txBody>
      </p:sp>
      <p:sp>
        <p:nvSpPr>
          <p:cNvPr id="23" name="TextBox 22"/>
          <p:cNvSpPr txBox="1"/>
          <p:nvPr/>
        </p:nvSpPr>
        <p:spPr>
          <a:xfrm>
            <a:off x="6361023"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Eje VI: que el Pleno conozca 'los asuntos de fondo que sienten criterios obligatorios' y gestione 'de manera más eficiente' los asuntos de trámite (la SCJN procesa ~20% menos asuntos).</a:t>
            </a:r>
          </a:p>
        </p:txBody>
      </p:sp>
      <p:sp>
        <p:nvSpPr>
          <p:cNvPr id="24" name="TextBox 23"/>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25" name="Rectangle 24"/>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8" name="TextBox 27"/>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8 / 48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944368"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96 (1/2) - FRAC. I Y II</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Convocatoria, Comisión Coordinadora e insaculación</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357055" y="457200"/>
            <a:ext cx="2286000" cy="329184"/>
          </a:xfrm>
          <a:prstGeom prst="round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3D0A1C"/>
                </a:solidFill>
                <a:latin typeface="Montserrat"/>
              </a:rPr>
              <a:t>Ver artículo COMPLETO &gt;</a:t>
            </a:r>
          </a:p>
        </p:txBody>
      </p:sp>
      <p:sp>
        <p:nvSpPr>
          <p:cNvPr id="8" name="Rectangle 7"/>
          <p:cNvSpPr/>
          <p:nvPr/>
        </p:nvSpPr>
        <p:spPr>
          <a:xfrm>
            <a:off x="548640" y="1371600"/>
            <a:ext cx="5410047" cy="324612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324612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I. El Senado de la República publicará la convocatoria para la integración del listado de candidaturas </a:t>
            </a:r>
            <a:r>
              <a:rPr sz="1100" b="1" u="none">
                <a:solidFill>
                  <a:srgbClr val="1A1A1A"/>
                </a:solidFill>
                <a:latin typeface="Montserrat"/>
              </a:rPr>
              <a:t>dentro de los treinta días naturales siguientes a la instalación del primer periodo ordinario de sesiones del año anterior</a:t>
            </a:r>
            <a:r>
              <a:rPr sz="1100" b="0" u="none">
                <a:solidFill>
                  <a:srgbClr val="1A1A1A"/>
                </a:solidFill>
                <a:latin typeface="Montserrat"/>
              </a:rPr>
              <a:t> al de la elección que corresponda, que contendra las etapas completas del procedimiento, sus fechas y plazos improrrogables y los cargos a elegir.</a:t>
            </a:r>
          </a:p>
          <a:p>
            <a:pPr>
              <a:lnSpc>
                <a:spcPct val="118000"/>
              </a:lnSpc>
              <a:spcAft>
                <a:spcPts val="300"/>
              </a:spcAft>
            </a:pPr>
            <a:r>
              <a:rPr sz="1100" b="0" u="none">
                <a:solidFill>
                  <a:srgbClr val="1A1A1A"/>
                </a:solidFill>
                <a:latin typeface="Montserrat"/>
              </a:rPr>
              <a:t>II. b) Cada Poder integrará un Comite de Evaluación conformado por cinco personas reconocidas en la actividad jurídica, que recibirá los expedientes de las personas aspirantes, evaluará el cumplimiento de los requisitos e identificara a las personas mejor evaluadas.</a:t>
            </a:r>
          </a:p>
          <a:p>
            <a:pPr>
              <a:lnSpc>
                <a:spcPct val="118000"/>
              </a:lnSpc>
              <a:spcAft>
                <a:spcPts val="300"/>
              </a:spcAft>
            </a:pPr>
            <a:r>
              <a:rPr sz="1100" b="0" u="none">
                <a:solidFill>
                  <a:srgbClr val="1A1A1A"/>
                </a:solidFill>
                <a:latin typeface="Montserrat"/>
              </a:rPr>
              <a:t>c) Los Comites de Evaluación integrarán un listado de las </a:t>
            </a:r>
            <a:r>
              <a:rPr sz="1100" b="1" u="none">
                <a:solidFill>
                  <a:srgbClr val="1A1A1A"/>
                </a:solidFill>
                <a:latin typeface="Montserrat"/>
              </a:rPr>
              <a:t>diez</a:t>
            </a:r>
            <a:r>
              <a:rPr sz="1100" b="0" u="none">
                <a:solidFill>
                  <a:srgbClr val="1A1A1A"/>
                </a:solidFill>
                <a:latin typeface="Montserrat"/>
              </a:rPr>
              <a:t> personas mejor evaluadas para cada cargo (Ministras/os, Sala Superior y salas regionales del TE e integrantes del TDJ) y de las </a:t>
            </a:r>
            <a:r>
              <a:rPr sz="1100" b="1" u="none">
                <a:solidFill>
                  <a:srgbClr val="1A1A1A"/>
                </a:solidFill>
                <a:latin typeface="Montserrat"/>
              </a:rPr>
              <a:t>seis</a:t>
            </a:r>
            <a:r>
              <a:rPr sz="1100" b="0" u="none">
                <a:solidFill>
                  <a:srgbClr val="1A1A1A"/>
                </a:solidFill>
                <a:latin typeface="Montserrat"/>
              </a:rPr>
              <a:t> (Magistraturas de Circuito y Juzgados de Distrito). Posteriormente, depurarán dicho listado mediante </a:t>
            </a:r>
            <a:r>
              <a:rPr sz="1100" b="1" u="none">
                <a:solidFill>
                  <a:srgbClr val="1A1A1A"/>
                </a:solidFill>
                <a:latin typeface="Montserrat"/>
              </a:rPr>
              <a:t>insaculación pública para ajustarlo al número de postulaciones</a:t>
            </a:r>
            <a:r>
              <a:rPr sz="1100" b="0" u="none">
                <a:solidFill>
                  <a:srgbClr val="1A1A1A"/>
                </a:solidFill>
                <a:latin typeface="Montserrat"/>
              </a:rPr>
              <a:t> para cada cargo, observando la paridad de género.</a:t>
            </a:r>
          </a:p>
          <a:p>
            <a:pPr>
              <a:lnSpc>
                <a:spcPct val="118000"/>
              </a:lnSpc>
              <a:spcAft>
                <a:spcPts val="300"/>
              </a:spcAft>
            </a:pPr>
            <a:r>
              <a:rPr sz="1100" b="0" u="none">
                <a:solidFill>
                  <a:srgbClr val="1A1A1A"/>
                </a:solidFill>
                <a:latin typeface="Montserrat"/>
              </a:rPr>
              <a:t>Postulación: el Poder Ejecutivo </a:t>
            </a:r>
            <a:r>
              <a:rPr sz="1100" b="1" u="none">
                <a:solidFill>
                  <a:srgbClr val="1A1A1A"/>
                </a:solidFill>
                <a:latin typeface="Montserrat"/>
              </a:rPr>
              <a:t>hasta tres</a:t>
            </a:r>
            <a:r>
              <a:rPr sz="1100" b="0" u="none">
                <a:solidFill>
                  <a:srgbClr val="1A1A1A"/>
                </a:solidFill>
                <a:latin typeface="Montserrat"/>
              </a:rPr>
              <a:t>; el Legislativo </a:t>
            </a:r>
            <a:r>
              <a:rPr sz="1100" b="1" u="none">
                <a:solidFill>
                  <a:srgbClr val="1A1A1A"/>
                </a:solidFill>
                <a:latin typeface="Montserrat"/>
              </a:rPr>
              <a:t>hasta tres</a:t>
            </a:r>
            <a:r>
              <a:rPr sz="1100" b="0" u="none">
                <a:solidFill>
                  <a:srgbClr val="1A1A1A"/>
                </a:solidFill>
                <a:latin typeface="Montserrat"/>
              </a:rPr>
              <a:t>; el Judicial </a:t>
            </a:r>
            <a:r>
              <a:rPr sz="1100" b="1" u="none">
                <a:solidFill>
                  <a:srgbClr val="1A1A1A"/>
                </a:solidFill>
                <a:latin typeface="Montserrat"/>
              </a:rPr>
              <a:t>hasta tres</a:t>
            </a:r>
            <a:r>
              <a:rPr sz="1100" b="0" u="none">
                <a:solidFill>
                  <a:srgbClr val="1A1A1A"/>
                </a:solidFill>
                <a:latin typeface="Montserrat"/>
              </a:rPr>
              <a:t> (Circuito/Distrito, hasta dos).</a:t>
            </a:r>
          </a:p>
        </p:txBody>
      </p:sp>
      <p:sp>
        <p:nvSpPr>
          <p:cNvPr id="12" name="Rectangle 11"/>
          <p:cNvSpPr/>
          <p:nvPr/>
        </p:nvSpPr>
        <p:spPr>
          <a:xfrm>
            <a:off x="6233007" y="1371600"/>
            <a:ext cx="5410047" cy="324612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324612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I. El Senado de la República publicará la convocatoria para la integración del listado de candidaturas </a:t>
            </a:r>
            <a:r>
              <a:rPr sz="1100" b="1" u="none">
                <a:solidFill>
                  <a:srgbClr val="1A1A1A"/>
                </a:solidFill>
                <a:latin typeface="Montserrat"/>
              </a:rPr>
              <a:t>a más tardar el treinta de abril del año anterior</a:t>
            </a:r>
            <a:r>
              <a:rPr sz="1100" b="0" u="none">
                <a:solidFill>
                  <a:srgbClr val="1A1A1A"/>
                </a:solidFill>
                <a:latin typeface="Montserrat"/>
              </a:rPr>
              <a:t> al de la elección judicial que corresponda, que contendra las etapas completas del procedimiento, sus fechas y plazos improrrogables y los cargos a elegir.</a:t>
            </a:r>
          </a:p>
          <a:p>
            <a:pPr>
              <a:lnSpc>
                <a:spcPct val="118000"/>
              </a:lnSpc>
              <a:spcAft>
                <a:spcPts val="300"/>
              </a:spcAft>
            </a:pPr>
            <a:r>
              <a:rPr sz="1100" b="0" u="none">
                <a:solidFill>
                  <a:srgbClr val="1A1A1A"/>
                </a:solidFill>
                <a:latin typeface="Montserrat"/>
              </a:rPr>
              <a:t>II. b) Cada Poder integrará un Comite de Evaluación conformado por cinco personas reconocidas en la actividad jurídica, quienes elegiran de entre sus integrantes a la persona que coordine sus trabajos. </a:t>
            </a:r>
            <a:r>
              <a:rPr sz="1100" b="1" u="none">
                <a:solidFill>
                  <a:srgbClr val="1A1A1A"/>
                </a:solidFill>
                <a:latin typeface="Montserrat"/>
              </a:rPr>
              <a:t>Las personas coordinadoras de los tres Comites integrarán una Comisión Coordinadora, responsable de verificar el cumplimiento de los requisitos, establecer criterios y metodologías homologadas de evaluación, selección y exámenes de conocimientos, y emitir acuerdos que regulen los trabajos de los tres Comites.</a:t>
            </a:r>
          </a:p>
          <a:p>
            <a:pPr>
              <a:lnSpc>
                <a:spcPct val="118000"/>
              </a:lnSpc>
              <a:spcAft>
                <a:spcPts val="300"/>
              </a:spcAft>
            </a:pPr>
            <a:r>
              <a:rPr sz="1100" b="0" u="none">
                <a:solidFill>
                  <a:srgbClr val="1A1A1A"/>
                </a:solidFill>
                <a:latin typeface="Montserrat"/>
              </a:rPr>
              <a:t>c) Los Comites integrarán un listado de las </a:t>
            </a:r>
            <a:r>
              <a:rPr sz="1100" b="1" u="none">
                <a:solidFill>
                  <a:srgbClr val="1A1A1A"/>
                </a:solidFill>
                <a:latin typeface="Montserrat"/>
              </a:rPr>
              <a:t>cuatro</a:t>
            </a:r>
            <a:r>
              <a:rPr sz="1100" b="0" u="none">
                <a:solidFill>
                  <a:srgbClr val="1A1A1A"/>
                </a:solidFill>
                <a:latin typeface="Montserrat"/>
              </a:rPr>
              <a:t> personas mejor evaluadas para cada cargo. Posteriormente, depurarán dicho listado mediante </a:t>
            </a:r>
            <a:r>
              <a:rPr sz="1100" b="1" u="none">
                <a:solidFill>
                  <a:srgbClr val="1A1A1A"/>
                </a:solidFill>
                <a:latin typeface="Montserrat"/>
              </a:rPr>
              <a:t>insaculación pública para ajustarlo a dos personas para cada cargo</a:t>
            </a:r>
            <a:r>
              <a:rPr sz="1100" b="0" u="none">
                <a:solidFill>
                  <a:srgbClr val="1A1A1A"/>
                </a:solidFill>
                <a:latin typeface="Montserrat"/>
              </a:rPr>
              <a:t>. Los Comites garantizarán la paridad de género en el listado a insacular y en el posterior a la insaculación.</a:t>
            </a:r>
          </a:p>
          <a:p>
            <a:pPr>
              <a:lnSpc>
                <a:spcPct val="118000"/>
              </a:lnSpc>
              <a:spcAft>
                <a:spcPts val="300"/>
              </a:spcAft>
            </a:pPr>
            <a:r>
              <a:rPr sz="1100" b="0" u="none">
                <a:solidFill>
                  <a:srgbClr val="1A1A1A"/>
                </a:solidFill>
                <a:latin typeface="Montserrat"/>
              </a:rPr>
              <a:t>Postulación: cada Poder de la Union </a:t>
            </a:r>
            <a:r>
              <a:rPr sz="1100" b="1" u="none">
                <a:solidFill>
                  <a:srgbClr val="1A1A1A"/>
                </a:solidFill>
                <a:latin typeface="Montserrat"/>
              </a:rPr>
              <a:t>postulará dos personas para cada cargo</a:t>
            </a:r>
            <a:r>
              <a:rPr sz="1100" b="0" u="none">
                <a:solidFill>
                  <a:srgbClr val="1A1A1A"/>
                </a:solidFill>
                <a:latin typeface="Montserrat"/>
              </a:rPr>
              <a:t>.</a:t>
            </a:r>
          </a:p>
        </p:txBody>
      </p:sp>
      <p:sp>
        <p:nvSpPr>
          <p:cNvPr id="16" name="Rectangle 15"/>
          <p:cNvSpPr/>
          <p:nvPr/>
        </p:nvSpPr>
        <p:spPr>
          <a:xfrm>
            <a:off x="548640"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QUÉ CAMBIA</a:t>
            </a:r>
          </a:p>
        </p:txBody>
      </p:sp>
      <p:sp>
        <p:nvSpPr>
          <p:cNvPr id="19" name="TextBox 18"/>
          <p:cNvSpPr txBox="1"/>
          <p:nvPr/>
        </p:nvSpPr>
        <p:spPr>
          <a:xfrm>
            <a:off x="676656"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Convocatoria adelantada (30 de abril); nace la Comisión Coordinadora con exámenes; el listado baja de 10/6 a 4 y la insaculación deja 2 por cargo; cada Poder postula 2.</a:t>
            </a:r>
          </a:p>
        </p:txBody>
      </p:sp>
      <p:sp>
        <p:nvSpPr>
          <p:cNvPr id="20" name="Rectangle 19"/>
          <p:cNvSpPr/>
          <p:nvPr/>
        </p:nvSpPr>
        <p:spPr>
          <a:xfrm>
            <a:off x="6233007"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1023"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POR QUÉ (DICTAMEN)</a:t>
            </a:r>
          </a:p>
        </p:txBody>
      </p:sp>
      <p:sp>
        <p:nvSpPr>
          <p:cNvPr id="23" name="TextBox 22"/>
          <p:cNvSpPr txBox="1"/>
          <p:nvPr/>
        </p:nvSpPr>
        <p:spPr>
          <a:xfrm>
            <a:off x="6361023"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Ejes II-III: homologar criterios dispares de 2025 e incorporar exámenes; reducir 'de diez a cuatro' porque 'un muy alto número de candidaturas por cargo puede dificultar la deliberación ciudadana'.</a:t>
            </a:r>
          </a:p>
        </p:txBody>
      </p:sp>
      <p:sp>
        <p:nvSpPr>
          <p:cNvPr id="24" name="TextBox 23"/>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25" name="Rectangle 24"/>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8" name="TextBox 27"/>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9 / 48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3602735"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96 (2/2) - PÁRRAFOS ADICIONADOS</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Elección por circuito, boletas y jornada</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357055" y="457200"/>
            <a:ext cx="2286000" cy="329184"/>
          </a:xfrm>
          <a:prstGeom prst="round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3D0A1C"/>
                </a:solidFill>
                <a:latin typeface="Montserrat"/>
              </a:rPr>
              <a:t>Ver artículo COMPLETO &gt;</a:t>
            </a:r>
          </a:p>
        </p:txBody>
      </p:sp>
      <p:sp>
        <p:nvSpPr>
          <p:cNvPr id="8" name="Rectangle 7"/>
          <p:cNvSpPr/>
          <p:nvPr/>
        </p:nvSpPr>
        <p:spPr>
          <a:xfrm>
            <a:off x="548640" y="1371600"/>
            <a:ext cx="5410047" cy="324612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324612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Texto anterior: la elección de Magistraturas de Circuito y Juzgados de Distrito se realizaba 'por circuito judicial conforme al procedimiento establecido en este artículo'. </a:t>
            </a:r>
            <a:r>
              <a:rPr sz="1100" b="1" u="none">
                <a:solidFill>
                  <a:srgbClr val="1A1A1A"/>
                </a:solidFill>
                <a:latin typeface="Montserrat"/>
              </a:rPr>
              <a:t>No existian</a:t>
            </a:r>
            <a:r>
              <a:rPr sz="1100" b="0" u="none">
                <a:solidFill>
                  <a:srgbClr val="1A1A1A"/>
                </a:solidFill>
                <a:latin typeface="Montserrat"/>
              </a:rPr>
              <a:t> reglas constitucionales sobre división en distritos judiciales, asignación aleatoria de candidaturas por distrito, contenido de las boletas, sede de la jornada judicial ni computo en casilla (párrafos adicionados por la reforma).</a:t>
            </a:r>
          </a:p>
        </p:txBody>
      </p:sp>
      <p:sp>
        <p:nvSpPr>
          <p:cNvPr id="12" name="Rectangle 11"/>
          <p:cNvSpPr/>
          <p:nvPr/>
        </p:nvSpPr>
        <p:spPr>
          <a:xfrm>
            <a:off x="6233007" y="1371600"/>
            <a:ext cx="5410047" cy="324612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324612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Para Magistraturas de Circuito y Juzgados de Distrito la elección se realizará </a:t>
            </a:r>
            <a:r>
              <a:rPr sz="1100" b="1" u="none">
                <a:solidFill>
                  <a:srgbClr val="1A1A1A"/>
                </a:solidFill>
                <a:latin typeface="Montserrat"/>
              </a:rPr>
              <a:t>por circuito y distrito judicial</a:t>
            </a:r>
            <a:r>
              <a:rPr sz="1100" b="0" u="none">
                <a:solidFill>
                  <a:srgbClr val="1A1A1A"/>
                </a:solidFill>
                <a:latin typeface="Montserrat"/>
              </a:rPr>
              <a:t>: el INE dividirá cada circuito en los distritos necesarios; generará una lista por especialidad distinguiendo Poder postulante y género, y en acto público </a:t>
            </a:r>
            <a:r>
              <a:rPr sz="1100" b="1" u="none">
                <a:solidFill>
                  <a:srgbClr val="1A1A1A"/>
                </a:solidFill>
                <a:latin typeface="Montserrat"/>
              </a:rPr>
              <a:t>asignará aleatoriamente</a:t>
            </a:r>
            <a:r>
              <a:rPr sz="1100" b="0" u="none">
                <a:solidFill>
                  <a:srgbClr val="1A1A1A"/>
                </a:solidFill>
                <a:latin typeface="Montserrat"/>
              </a:rPr>
              <a:t> las candidaturas a cada distrito (dos personas del mismo género por especialidad).</a:t>
            </a:r>
          </a:p>
          <a:p>
            <a:pPr>
              <a:lnSpc>
                <a:spcPct val="118000"/>
              </a:lnSpc>
              <a:spcAft>
                <a:spcPts val="300"/>
              </a:spcAft>
            </a:pPr>
            <a:r>
              <a:rPr sz="1100" b="0" u="none">
                <a:solidFill>
                  <a:srgbClr val="1A1A1A"/>
                </a:solidFill>
                <a:latin typeface="Montserrat"/>
              </a:rPr>
              <a:t>Las </a:t>
            </a:r>
            <a:r>
              <a:rPr sz="1100" b="1" u="none">
                <a:solidFill>
                  <a:srgbClr val="1A1A1A"/>
                </a:solidFill>
                <a:latin typeface="Montserrat"/>
              </a:rPr>
              <a:t>boletas distinguirán al Poder postulante</a:t>
            </a:r>
            <a:r>
              <a:rPr sz="1100" b="0" u="none">
                <a:solidFill>
                  <a:srgbClr val="1A1A1A"/>
                </a:solidFill>
                <a:latin typeface="Montserrat"/>
              </a:rPr>
              <a:t> y a las personas juzgadoras en funciones, con los nombres completos en recuadros.</a:t>
            </a:r>
          </a:p>
          <a:p>
            <a:pPr>
              <a:lnSpc>
                <a:spcPct val="118000"/>
              </a:lnSpc>
              <a:spcAft>
                <a:spcPts val="300"/>
              </a:spcAft>
            </a:pPr>
            <a:r>
              <a:rPr sz="1100" b="0" u="none">
                <a:solidFill>
                  <a:srgbClr val="1A1A1A"/>
                </a:solidFill>
                <a:latin typeface="Montserrat"/>
              </a:rPr>
              <a:t>La </a:t>
            </a:r>
            <a:r>
              <a:rPr sz="1100" b="1" u="none">
                <a:solidFill>
                  <a:srgbClr val="1A1A1A"/>
                </a:solidFill>
                <a:latin typeface="Montserrat"/>
              </a:rPr>
              <a:t>jornada electoral judicial</a:t>
            </a:r>
            <a:r>
              <a:rPr sz="1100" b="0" u="none">
                <a:solidFill>
                  <a:srgbClr val="1A1A1A"/>
                </a:solidFill>
                <a:latin typeface="Montserrat"/>
              </a:rPr>
              <a:t> se celebrará en la misma ubicación de las elecciones ordinarias y </a:t>
            </a:r>
            <a:r>
              <a:rPr sz="1100" b="1" u="none">
                <a:solidFill>
                  <a:srgbClr val="1A1A1A"/>
                </a:solidFill>
                <a:latin typeface="Montserrat"/>
              </a:rPr>
              <a:t>sin la intervención de representantes de partidos políticos</a:t>
            </a:r>
            <a:r>
              <a:rPr sz="1100" b="0" u="none">
                <a:solidFill>
                  <a:srgbClr val="1A1A1A"/>
                </a:solidFill>
                <a:latin typeface="Montserrat"/>
              </a:rPr>
              <a:t>.</a:t>
            </a:r>
          </a:p>
          <a:p>
            <a:pPr>
              <a:lnSpc>
                <a:spcPct val="118000"/>
              </a:lnSpc>
              <a:spcAft>
                <a:spcPts val="300"/>
              </a:spcAft>
            </a:pPr>
            <a:r>
              <a:rPr sz="1100" b="0" u="none">
                <a:solidFill>
                  <a:srgbClr val="1A1A1A"/>
                </a:solidFill>
                <a:latin typeface="Montserrat"/>
              </a:rPr>
              <a:t>El escrutinio y computo se realizará </a:t>
            </a:r>
            <a:r>
              <a:rPr sz="1100" b="1" u="none">
                <a:solidFill>
                  <a:srgbClr val="1A1A1A"/>
                </a:solidFill>
                <a:latin typeface="Montserrat"/>
              </a:rPr>
              <a:t>en la casilla</a:t>
            </a:r>
            <a:r>
              <a:rPr sz="1100" b="0" u="none">
                <a:solidFill>
                  <a:srgbClr val="1A1A1A"/>
                </a:solidFill>
                <a:latin typeface="Montserrat"/>
              </a:rPr>
              <a:t> donde fueron sufragados.</a:t>
            </a:r>
          </a:p>
        </p:txBody>
      </p:sp>
      <p:sp>
        <p:nvSpPr>
          <p:cNvPr id="16" name="Rectangle 15"/>
          <p:cNvSpPr/>
          <p:nvPr/>
        </p:nvSpPr>
        <p:spPr>
          <a:xfrm>
            <a:off x="548640"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QUÉ CAMBIA</a:t>
            </a:r>
          </a:p>
        </p:txBody>
      </p:sp>
      <p:sp>
        <p:nvSpPr>
          <p:cNvPr id="19" name="TextBox 18"/>
          <p:cNvSpPr txBox="1"/>
          <p:nvPr/>
        </p:nvSpPr>
        <p:spPr>
          <a:xfrm>
            <a:off x="676656"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Se constitucionaliza la geografia electoral judicial (circuito/distrito), el contenido de las boletas, la jornada sin partidos y el computo en casilla.</a:t>
            </a:r>
          </a:p>
        </p:txBody>
      </p:sp>
      <p:sp>
        <p:nvSpPr>
          <p:cNvPr id="20" name="Rectangle 19"/>
          <p:cNvSpPr/>
          <p:nvPr/>
        </p:nvSpPr>
        <p:spPr>
          <a:xfrm>
            <a:off x="6233007"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1023"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POR QUÉ (DICTAMEN)</a:t>
            </a:r>
          </a:p>
        </p:txBody>
      </p:sp>
      <p:sp>
        <p:nvSpPr>
          <p:cNvPr id="23" name="TextBox 22"/>
          <p:cNvSpPr txBox="1"/>
          <p:nvPr/>
        </p:nvSpPr>
        <p:spPr>
          <a:xfrm>
            <a:off x="6361023"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Ejes II-III: facilitar el voto informado y ordenar la operación electoral judicial que en 2025 género confusión logística.</a:t>
            </a:r>
          </a:p>
        </p:txBody>
      </p:sp>
      <p:sp>
        <p:nvSpPr>
          <p:cNvPr id="24" name="TextBox 23"/>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25" name="Rectangle 24"/>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8" name="TextBox 27"/>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10 / 48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3108960"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98 - PÁRRAFOS 1o, 3o Y 4o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Vacantes, licencias y renuncia irrevocable</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357055" y="457200"/>
            <a:ext cx="2286000" cy="329184"/>
          </a:xfrm>
          <a:prstGeom prst="round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3D0A1C"/>
                </a:solidFill>
                <a:latin typeface="Montserrat"/>
              </a:rPr>
              <a:t>Ver artículo COMPLETO &gt;</a:t>
            </a:r>
          </a:p>
        </p:txBody>
      </p:sp>
      <p:sp>
        <p:nvSpPr>
          <p:cNvPr id="8" name="Rectangle 7"/>
          <p:cNvSpPr/>
          <p:nvPr/>
        </p:nvSpPr>
        <p:spPr>
          <a:xfrm>
            <a:off x="548640" y="1371600"/>
            <a:ext cx="5410047" cy="324612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324612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Cuando la falta de una Ministra o Ministro, Magistrada o Magistrado del Tribunal de Disciplina Judicial, del Tribunal Electoral, </a:t>
            </a:r>
            <a:r>
              <a:rPr sz="1100" b="1" u="none">
                <a:solidFill>
                  <a:srgbClr val="1A1A1A"/>
                </a:solidFill>
                <a:latin typeface="Montserrat"/>
              </a:rPr>
              <a:t>de Circuito y de Distrito</a:t>
            </a:r>
            <a:r>
              <a:rPr sz="1100" b="0" u="none">
                <a:solidFill>
                  <a:srgbClr val="1A1A1A"/>
                </a:solidFill>
                <a:latin typeface="Montserrat"/>
              </a:rPr>
              <a:t> excediere de un mes o sea definitiva, ocupará la vacante la </a:t>
            </a:r>
            <a:r>
              <a:rPr sz="1100" b="1" u="none">
                <a:solidFill>
                  <a:srgbClr val="1A1A1A"/>
                </a:solidFill>
                <a:latin typeface="Montserrat"/>
              </a:rPr>
              <a:t>persona del mismo género que haya obtenido el segundo lugar</a:t>
            </a:r>
            <a:r>
              <a:rPr sz="1100" b="0" u="none">
                <a:solidFill>
                  <a:srgbClr val="1A1A1A"/>
                </a:solidFill>
                <a:latin typeface="Montserrat"/>
              </a:rPr>
              <a:t> en número de votos; en caso de declinación, seguirá en prelación quien obtuvo mayor votación. El Senado tomará protesta a la persona sustituta por el periodo que reste.</a:t>
            </a:r>
          </a:p>
          <a:p>
            <a:pPr>
              <a:lnSpc>
                <a:spcPct val="118000"/>
              </a:lnSpc>
              <a:spcAft>
                <a:spcPts val="300"/>
              </a:spcAft>
            </a:pPr>
            <a:r>
              <a:rPr sz="1100" b="0" u="none">
                <a:solidFill>
                  <a:srgbClr val="1A1A1A"/>
                </a:solidFill>
                <a:latin typeface="Montserrat"/>
              </a:rPr>
              <a:t>Las licencias menores a un mes las conceden los respectivos Plenos o el órgano de administración judicial; las mayores, sin goce de sueldo, el Senado o la Comisión Permanente. Ninguna licencia podrá exceder de un año.</a:t>
            </a:r>
          </a:p>
          <a:p>
            <a:pPr>
              <a:lnSpc>
                <a:spcPct val="118000"/>
              </a:lnSpc>
              <a:spcAft>
                <a:spcPts val="300"/>
              </a:spcAft>
            </a:pPr>
            <a:r>
              <a:rPr sz="1100" b="0" u="none">
                <a:solidFill>
                  <a:srgbClr val="1A1A1A"/>
                </a:solidFill>
                <a:latin typeface="Montserrat"/>
              </a:rPr>
              <a:t>(No existia regla de separación para contender por otro cargo.)</a:t>
            </a:r>
          </a:p>
        </p:txBody>
      </p:sp>
      <p:sp>
        <p:nvSpPr>
          <p:cNvPr id="12" name="Rectangle 11"/>
          <p:cNvSpPr/>
          <p:nvPr/>
        </p:nvSpPr>
        <p:spPr>
          <a:xfrm>
            <a:off x="6233007" y="1371600"/>
            <a:ext cx="5410047" cy="324612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324612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Cuando la falta de una Ministra o Ministro, del Tribunal de Disciplina Judicial </a:t>
            </a:r>
            <a:r>
              <a:rPr sz="1100" b="1" u="none">
                <a:solidFill>
                  <a:srgbClr val="1A1A1A"/>
                </a:solidFill>
                <a:latin typeface="Montserrat"/>
              </a:rPr>
              <a:t>y</a:t>
            </a:r>
            <a:r>
              <a:rPr sz="1100" b="0" u="none">
                <a:solidFill>
                  <a:srgbClr val="1A1A1A"/>
                </a:solidFill>
                <a:latin typeface="Montserrat"/>
              </a:rPr>
              <a:t> del Tribunal Electoral excediere de un mes o sea definitiva, ocupará la vacante la persona del mismo género que obtuvo el segundo lugar... </a:t>
            </a:r>
            <a:r>
              <a:rPr sz="1100" b="1" u="none">
                <a:solidFill>
                  <a:srgbClr val="1A1A1A"/>
                </a:solidFill>
                <a:latin typeface="Montserrat"/>
              </a:rPr>
              <a:t>En caso de defunción, renuncia, destitución o ausencia definitiva de Magistradas o Magistrados de Circuito y Juezas o Jueces de Distrito, el órgano de administración judicial declarará vacante el cargo y deberá renovarse... en la elección inmediata posterior</a:t>
            </a:r>
            <a:r>
              <a:rPr sz="1100" b="0" u="none">
                <a:solidFill>
                  <a:srgbClr val="1A1A1A"/>
                </a:solidFill>
                <a:latin typeface="Montserrat"/>
              </a:rPr>
              <a:t>.</a:t>
            </a:r>
          </a:p>
          <a:p>
            <a:pPr>
              <a:lnSpc>
                <a:spcPct val="118000"/>
              </a:lnSpc>
              <a:spcAft>
                <a:spcPts val="300"/>
              </a:spcAft>
            </a:pPr>
            <a:r>
              <a:rPr sz="1100" b="0" u="none">
                <a:solidFill>
                  <a:srgbClr val="1A1A1A"/>
                </a:solidFill>
                <a:latin typeface="Montserrat"/>
              </a:rPr>
              <a:t>Las licencias... salvo Circuito o Distrito, que podrán concederse sin goce de sueldo por el órgano de administración judicial. Ninguna licencia excedera de un año.</a:t>
            </a:r>
          </a:p>
          <a:p>
            <a:pPr>
              <a:lnSpc>
                <a:spcPct val="118000"/>
              </a:lnSpc>
              <a:spcAft>
                <a:spcPts val="300"/>
              </a:spcAft>
            </a:pPr>
            <a:r>
              <a:rPr sz="1100" b="1" u="none">
                <a:solidFill>
                  <a:srgbClr val="1A1A1A"/>
                </a:solidFill>
                <a:latin typeface="Montserrat"/>
              </a:rPr>
              <a:t>Las personas juzgadoras que aspiren a un cargo de elección distinto al que ostenten deberán separarse del cargo mediante renuncia expresa e irrevocable</a:t>
            </a:r>
            <a:r>
              <a:rPr sz="1100" b="0" u="none">
                <a:solidFill>
                  <a:srgbClr val="1A1A1A"/>
                </a:solidFill>
                <a:latin typeface="Montserrat"/>
              </a:rPr>
              <a:t>, la cual informarán al órgano de administración judicial antes de su registro.</a:t>
            </a:r>
          </a:p>
        </p:txBody>
      </p:sp>
      <p:sp>
        <p:nvSpPr>
          <p:cNvPr id="16" name="Rectangle 15"/>
          <p:cNvSpPr/>
          <p:nvPr/>
        </p:nvSpPr>
        <p:spPr>
          <a:xfrm>
            <a:off x="548640"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QUÉ CAMBIA</a:t>
            </a:r>
          </a:p>
        </p:txBody>
      </p:sp>
      <p:sp>
        <p:nvSpPr>
          <p:cNvPr id="19" name="TextBox 18"/>
          <p:cNvSpPr txBox="1"/>
          <p:nvPr/>
        </p:nvSpPr>
        <p:spPr>
          <a:xfrm>
            <a:off x="676656"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Se separan dos regímenes de vacante (SCJN/TDJ/TE vs Circuito/Distrito) y se exige renuncia irrevocable para contender por otro cargo.</a:t>
            </a:r>
          </a:p>
        </p:txBody>
      </p:sp>
      <p:sp>
        <p:nvSpPr>
          <p:cNvPr id="20" name="Rectangle 19"/>
          <p:cNvSpPr/>
          <p:nvPr/>
        </p:nvSpPr>
        <p:spPr>
          <a:xfrm>
            <a:off x="6233007"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1023"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POR QUÉ (DICTAMEN)</a:t>
            </a:r>
          </a:p>
        </p:txBody>
      </p:sp>
      <p:sp>
        <p:nvSpPr>
          <p:cNvPr id="23" name="TextBox 22"/>
          <p:cNvSpPr txBox="1"/>
          <p:nvPr/>
        </p:nvSpPr>
        <p:spPr>
          <a:xfrm>
            <a:off x="6361023"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Eje V: garantizar 'la continuidad y calidad de la función jurisdiccional' y evitar 'el descuido o la paralisis de la labor jurisdiccional en curso'.</a:t>
            </a:r>
          </a:p>
        </p:txBody>
      </p:sp>
      <p:sp>
        <p:nvSpPr>
          <p:cNvPr id="24" name="TextBox 23"/>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25" name="Rectangle 24"/>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8" name="TextBox 27"/>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11 / 48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944368"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100 - PÁRRAFOS 9o Y 10o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Evaluación del primer año + capacitación</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357055" y="457200"/>
            <a:ext cx="2286000" cy="329184"/>
          </a:xfrm>
          <a:prstGeom prst="round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3D0A1C"/>
                </a:solidFill>
                <a:latin typeface="Montserrat"/>
              </a:rPr>
              <a:t>Ver artículo COMPLETO &gt;</a:t>
            </a:r>
          </a:p>
        </p:txBody>
      </p:sp>
      <p:sp>
        <p:nvSpPr>
          <p:cNvPr id="8" name="Rectangle 7"/>
          <p:cNvSpPr/>
          <p:nvPr/>
        </p:nvSpPr>
        <p:spPr>
          <a:xfrm>
            <a:off x="548640" y="1371600"/>
            <a:ext cx="5410047" cy="324612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324612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El Tribunal evaluará el desempeño de las Magistradas y Magistrados de Circuito y las Juezas y Jueces de Distrito que resulten electas </a:t>
            </a:r>
            <a:r>
              <a:rPr sz="1100" b="1" u="none">
                <a:solidFill>
                  <a:srgbClr val="1A1A1A"/>
                </a:solidFill>
                <a:latin typeface="Montserrat"/>
              </a:rPr>
              <a:t>en la elección federal que corresponda</a:t>
            </a:r>
            <a:r>
              <a:rPr sz="1100" b="0" u="none">
                <a:solidFill>
                  <a:srgbClr val="1A1A1A"/>
                </a:solidFill>
                <a:latin typeface="Montserrat"/>
              </a:rPr>
              <a:t> durante su primer año de ejercicio. La ley establecerá los métodos, criterios e indicadores aplicables a dicha evaluación.</a:t>
            </a:r>
          </a:p>
          <a:p>
            <a:pPr>
              <a:lnSpc>
                <a:spcPct val="118000"/>
              </a:lnSpc>
              <a:spcAft>
                <a:spcPts val="300"/>
              </a:spcAft>
            </a:pPr>
            <a:r>
              <a:rPr sz="1100" b="0" u="none">
                <a:solidFill>
                  <a:srgbClr val="1A1A1A"/>
                </a:solidFill>
                <a:latin typeface="Montserrat"/>
              </a:rPr>
              <a:t>La ley señalará las </a:t>
            </a:r>
            <a:r>
              <a:rPr sz="1100" b="1" u="none">
                <a:solidFill>
                  <a:srgbClr val="1A1A1A"/>
                </a:solidFill>
                <a:latin typeface="Montserrat"/>
              </a:rPr>
              <a:t>areas intervinientes</a:t>
            </a:r>
            <a:r>
              <a:rPr sz="1100" b="0" u="none">
                <a:solidFill>
                  <a:srgbClr val="1A1A1A"/>
                </a:solidFill>
                <a:latin typeface="Montserrat"/>
              </a:rPr>
              <a:t> en los procesos de evaluación y seguimiento de resultados, garantizando la imparcialidad y objetividad de las personas evaluadoras, así como los procedimientos para ordenar las medidas correctivas o sancionadoras cuando la evaluación resulte insatisfactoria.</a:t>
            </a:r>
          </a:p>
        </p:txBody>
      </p:sp>
      <p:sp>
        <p:nvSpPr>
          <p:cNvPr id="12" name="Rectangle 11"/>
          <p:cNvSpPr/>
          <p:nvPr/>
        </p:nvSpPr>
        <p:spPr>
          <a:xfrm>
            <a:off x="6233007" y="1371600"/>
            <a:ext cx="5410047" cy="324612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324612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El Tribunal evaluará el desempeño... durante su primer año de ejercicio </a:t>
            </a:r>
            <a:r>
              <a:rPr sz="1100" b="1" u="none">
                <a:solidFill>
                  <a:srgbClr val="1A1A1A"/>
                </a:solidFill>
                <a:latin typeface="Montserrat"/>
              </a:rPr>
              <a:t>y aplicará programas de capacitación y actualización permanente, para lo cual podrá coordinarse con la Escuela Nacional de Formación Judicial</a:t>
            </a:r>
            <a:r>
              <a:rPr sz="1100" b="0" u="none">
                <a:solidFill>
                  <a:srgbClr val="1A1A1A"/>
                </a:solidFill>
                <a:latin typeface="Montserrat"/>
              </a:rPr>
              <a:t>. La ley establecerá los métodos, criterios e indicadores aplicables a los procesos de evaluación que correspondan.</a:t>
            </a:r>
          </a:p>
          <a:p>
            <a:pPr>
              <a:lnSpc>
                <a:spcPct val="118000"/>
              </a:lnSpc>
              <a:spcAft>
                <a:spcPts val="300"/>
              </a:spcAft>
            </a:pPr>
            <a:r>
              <a:rPr sz="1100" b="0" u="none">
                <a:solidFill>
                  <a:srgbClr val="1A1A1A"/>
                </a:solidFill>
                <a:latin typeface="Montserrat"/>
              </a:rPr>
              <a:t>La ley señalará los </a:t>
            </a:r>
            <a:r>
              <a:rPr sz="1100" b="1" u="none">
                <a:solidFill>
                  <a:srgbClr val="1A1A1A"/>
                </a:solidFill>
                <a:latin typeface="Montserrat"/>
              </a:rPr>
              <a:t>criterios, metodologías, etapas</a:t>
            </a:r>
            <a:r>
              <a:rPr sz="1100" b="0" u="none">
                <a:solidFill>
                  <a:srgbClr val="1A1A1A"/>
                </a:solidFill>
                <a:latin typeface="Montserrat"/>
              </a:rPr>
              <a:t>, areas intervinientes en los procesos de evaluación y seguimiento de resultados, garantizando la </a:t>
            </a:r>
            <a:r>
              <a:rPr sz="1100" b="1" u="none">
                <a:solidFill>
                  <a:srgbClr val="1A1A1A"/>
                </a:solidFill>
                <a:latin typeface="Montserrat"/>
              </a:rPr>
              <a:t>transparencia</a:t>
            </a:r>
            <a:r>
              <a:rPr sz="1100" b="0" u="none">
                <a:solidFill>
                  <a:srgbClr val="1A1A1A"/>
                </a:solidFill>
                <a:latin typeface="Montserrat"/>
              </a:rPr>
              <a:t>, imparcialidad y objetividad de los procesos de evaluación y de las personas evaluadoras, así como los procedimientos para ordenar las medidas correctivas o sancionadoras...</a:t>
            </a:r>
          </a:p>
        </p:txBody>
      </p:sp>
      <p:sp>
        <p:nvSpPr>
          <p:cNvPr id="16" name="Rectangle 15"/>
          <p:cNvSpPr/>
          <p:nvPr/>
        </p:nvSpPr>
        <p:spPr>
          <a:xfrm>
            <a:off x="548640"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QUÉ CAMBIA</a:t>
            </a:r>
          </a:p>
        </p:txBody>
      </p:sp>
      <p:sp>
        <p:nvSpPr>
          <p:cNvPr id="19" name="TextBox 18"/>
          <p:cNvSpPr txBox="1"/>
          <p:nvPr/>
        </p:nvSpPr>
        <p:spPr>
          <a:xfrm>
            <a:off x="676656"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Se anade capacitación y actualización permanente (Escuela Nac. de Formación Judicial) y se detallan criterios, metodologías y etapas con enfasis en transparencia.</a:t>
            </a:r>
          </a:p>
        </p:txBody>
      </p:sp>
      <p:sp>
        <p:nvSpPr>
          <p:cNvPr id="20" name="Rectangle 19"/>
          <p:cNvSpPr/>
          <p:nvPr/>
        </p:nvSpPr>
        <p:spPr>
          <a:xfrm>
            <a:off x="6233007"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1023"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POR QUÉ (DICTAMEN)</a:t>
            </a:r>
          </a:p>
        </p:txBody>
      </p:sp>
      <p:sp>
        <p:nvSpPr>
          <p:cNvPr id="23" name="TextBox 22"/>
          <p:cNvSpPr txBox="1"/>
          <p:nvPr/>
        </p:nvSpPr>
        <p:spPr>
          <a:xfrm>
            <a:off x="6361023"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Eje V: 'elevar a rango constitucional la aplicación de programas de capacitación y actualización permanente para todas las personas juzgadoras'.</a:t>
            </a:r>
          </a:p>
        </p:txBody>
      </p:sp>
      <p:sp>
        <p:nvSpPr>
          <p:cNvPr id="24" name="TextBox 23"/>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25" name="Rectangle 24"/>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8" name="TextBox 27"/>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12 / 48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3273551"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116 - FRAC. III, PÁRRAFO 4o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Poderes Judiciales de los Estados</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357055" y="457200"/>
            <a:ext cx="2286000" cy="329184"/>
          </a:xfrm>
          <a:prstGeom prst="round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3D0A1C"/>
                </a:solidFill>
                <a:latin typeface="Montserrat"/>
              </a:rPr>
              <a:t>Ver artículo COMPLETO &gt;</a:t>
            </a:r>
          </a:p>
        </p:txBody>
      </p:sp>
      <p:sp>
        <p:nvSpPr>
          <p:cNvPr id="8" name="Rectangle 7"/>
          <p:cNvSpPr/>
          <p:nvPr/>
        </p:nvSpPr>
        <p:spPr>
          <a:xfrm>
            <a:off x="548640" y="1371600"/>
            <a:ext cx="5410047" cy="324612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324612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Las propuestas de candidaturas y la elección de los magistrados y jueces integrantes de los Poderes Judiciales Locales se realizarán conforme a las bases, procedimientos, términos, modalidades y requisitos que señala esta Constitución para el Poder Judicial de la Federación </a:t>
            </a:r>
            <a:r>
              <a:rPr sz="1100" b="1" u="none">
                <a:solidFill>
                  <a:srgbClr val="1A1A1A"/>
                </a:solidFill>
                <a:latin typeface="Montserrat"/>
              </a:rPr>
              <a:t>en lo que resulte aplicable</a:t>
            </a:r>
            <a:r>
              <a:rPr sz="1100" b="0" u="none">
                <a:solidFill>
                  <a:srgbClr val="1A1A1A"/>
                </a:solidFill>
                <a:latin typeface="Montserrat"/>
              </a:rPr>
              <a:t>, estableciendo mecanismos públicos, abiertos, transparentes, inclusivos, accesibles y paritarios de evaluación y selección que garanticen la participación de personas que cuenten con los conocimientos técnicos necesarios para el desempeño del cargo y se hayan distinguido por su honestidad, buena fama pública, competencia y antecedentes profesionales y académicos en el ejercicio de la actividad jurídica.</a:t>
            </a:r>
          </a:p>
        </p:txBody>
      </p:sp>
      <p:sp>
        <p:nvSpPr>
          <p:cNvPr id="12" name="Rectangle 11"/>
          <p:cNvSpPr/>
          <p:nvPr/>
        </p:nvSpPr>
        <p:spPr>
          <a:xfrm>
            <a:off x="6233007" y="1371600"/>
            <a:ext cx="5410047" cy="324612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324612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Las propuestas de candidaturas y la elección de los magistrados, magistradas, juezas y jueces integrantes de los Poderes Judiciales Locales </a:t>
            </a:r>
            <a:r>
              <a:rPr sz="1100" b="1" u="none">
                <a:solidFill>
                  <a:srgbClr val="1A1A1A"/>
                </a:solidFill>
                <a:latin typeface="Montserrat"/>
              </a:rPr>
              <a:t>se sujetaran a las mismas bases, etapas, procedimientos, términos, plazos, modalidades, requisitos, duración de los cargos</a:t>
            </a:r>
            <a:r>
              <a:rPr sz="1100" b="0" u="none">
                <a:solidFill>
                  <a:srgbClr val="1A1A1A"/>
                </a:solidFill>
                <a:latin typeface="Montserrat"/>
              </a:rPr>
              <a:t> y demás disposiciones que esta Constitución establece para el Poder Judicial de la Federación en todo lo que resulte aplicable, </a:t>
            </a:r>
            <a:r>
              <a:rPr sz="1100" b="1" u="none">
                <a:solidFill>
                  <a:srgbClr val="1A1A1A"/>
                </a:solidFill>
                <a:latin typeface="Montserrat"/>
              </a:rPr>
              <a:t>incluyendo de manera enunciativa</a:t>
            </a:r>
            <a:r>
              <a:rPr sz="1100" b="0" u="none">
                <a:solidFill>
                  <a:srgbClr val="1A1A1A"/>
                </a:solidFill>
                <a:latin typeface="Montserrat"/>
              </a:rPr>
              <a:t>:</a:t>
            </a:r>
          </a:p>
          <a:p>
            <a:pPr>
              <a:lnSpc>
                <a:spcPct val="118000"/>
              </a:lnSpc>
              <a:spcAft>
                <a:spcPts val="300"/>
              </a:spcAft>
            </a:pPr>
            <a:r>
              <a:rPr sz="1100" b="0" u="none">
                <a:solidFill>
                  <a:srgbClr val="1A1A1A"/>
                </a:solidFill>
                <a:latin typeface="Montserrat"/>
              </a:rPr>
              <a:t>a) mecanismos públicos, abiertos, transparentes, inclusivos, accesibles y paritarios de evaluación y selección;</a:t>
            </a:r>
          </a:p>
          <a:p>
            <a:pPr>
              <a:lnSpc>
                <a:spcPct val="118000"/>
              </a:lnSpc>
              <a:spcAft>
                <a:spcPts val="300"/>
              </a:spcAft>
            </a:pPr>
            <a:r>
              <a:rPr sz="1100" b="0" u="none">
                <a:solidFill>
                  <a:srgbClr val="1A1A1A"/>
                </a:solidFill>
                <a:latin typeface="Montserrat"/>
              </a:rPr>
              <a:t>b) la integración por cada poder local de Comites de Evaluación que, con criterios y metodologías homologadas, seleccionen a las </a:t>
            </a:r>
            <a:r>
              <a:rPr sz="1100" b="1" u="none">
                <a:solidFill>
                  <a:srgbClr val="1A1A1A"/>
                </a:solidFill>
                <a:latin typeface="Montserrat"/>
              </a:rPr>
              <a:t>cuatro personas mejor evaluadas</a:t>
            </a:r>
            <a:r>
              <a:rPr sz="1100" b="0" u="none">
                <a:solidFill>
                  <a:srgbClr val="1A1A1A"/>
                </a:solidFill>
                <a:latin typeface="Montserrat"/>
              </a:rPr>
              <a:t> para cada cargo;</a:t>
            </a:r>
          </a:p>
          <a:p>
            <a:pPr>
              <a:lnSpc>
                <a:spcPct val="118000"/>
              </a:lnSpc>
              <a:spcAft>
                <a:spcPts val="300"/>
              </a:spcAft>
            </a:pPr>
            <a:r>
              <a:rPr sz="1100" b="0" u="none">
                <a:solidFill>
                  <a:srgbClr val="1A1A1A"/>
                </a:solidFill>
                <a:latin typeface="Montserrat"/>
              </a:rPr>
              <a:t>c) la depuración del listado mediante </a:t>
            </a:r>
            <a:r>
              <a:rPr sz="1100" b="1" u="none">
                <a:solidFill>
                  <a:srgbClr val="1A1A1A"/>
                </a:solidFill>
                <a:latin typeface="Montserrat"/>
              </a:rPr>
              <a:t>insaculación pública</a:t>
            </a:r>
            <a:r>
              <a:rPr sz="1100" b="0" u="none">
                <a:solidFill>
                  <a:srgbClr val="1A1A1A"/>
                </a:solidFill>
                <a:latin typeface="Montserrat"/>
              </a:rPr>
              <a:t> y la postulación por cada poder estatal de </a:t>
            </a:r>
            <a:r>
              <a:rPr sz="1100" b="1" u="none">
                <a:solidFill>
                  <a:srgbClr val="1A1A1A"/>
                </a:solidFill>
                <a:latin typeface="Montserrat"/>
              </a:rPr>
              <a:t>dos candidaturas</a:t>
            </a:r>
            <a:r>
              <a:rPr sz="1100" b="0" u="none">
                <a:solidFill>
                  <a:srgbClr val="1A1A1A"/>
                </a:solidFill>
                <a:latin typeface="Montserrat"/>
              </a:rPr>
              <a:t> por especialidad, observando la paridad de género, y</a:t>
            </a:r>
          </a:p>
          <a:p>
            <a:pPr>
              <a:lnSpc>
                <a:spcPct val="118000"/>
              </a:lnSpc>
              <a:spcAft>
                <a:spcPts val="300"/>
              </a:spcAft>
            </a:pPr>
            <a:r>
              <a:rPr sz="1100" b="0" u="none">
                <a:solidFill>
                  <a:srgbClr val="1A1A1A"/>
                </a:solidFill>
                <a:latin typeface="Montserrat"/>
              </a:rPr>
              <a:t>d) la </a:t>
            </a:r>
            <a:r>
              <a:rPr sz="1100" b="1" u="none">
                <a:solidFill>
                  <a:srgbClr val="1A1A1A"/>
                </a:solidFill>
                <a:latin typeface="Montserrat"/>
              </a:rPr>
              <a:t>evaluación del desempeño</a:t>
            </a:r>
            <a:r>
              <a:rPr sz="1100" b="0" u="none">
                <a:solidFill>
                  <a:srgbClr val="1A1A1A"/>
                </a:solidFill>
                <a:latin typeface="Montserrat"/>
              </a:rPr>
              <a:t> del primer año por el Tribunal de Disciplina Judicial local.</a:t>
            </a:r>
          </a:p>
        </p:txBody>
      </p:sp>
      <p:sp>
        <p:nvSpPr>
          <p:cNvPr id="16" name="Rectangle 15"/>
          <p:cNvSpPr/>
          <p:nvPr/>
        </p:nvSpPr>
        <p:spPr>
          <a:xfrm>
            <a:off x="548640"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QUÉ CAMBIA</a:t>
            </a:r>
          </a:p>
        </p:txBody>
      </p:sp>
      <p:sp>
        <p:nvSpPr>
          <p:cNvPr id="19" name="TextBox 18"/>
          <p:cNvSpPr txBox="1"/>
          <p:nvPr/>
        </p:nvSpPr>
        <p:spPr>
          <a:xfrm>
            <a:off x="676656"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La replica pasa de 'en lo que resulte aplicable' a 'sujetarse estrictamente', con catalogo enunciativo (a-d) y plazos breves (60/90 días).</a:t>
            </a:r>
          </a:p>
        </p:txBody>
      </p:sp>
      <p:sp>
        <p:nvSpPr>
          <p:cNvPr id="20" name="Rectangle 19"/>
          <p:cNvSpPr/>
          <p:nvPr/>
        </p:nvSpPr>
        <p:spPr>
          <a:xfrm>
            <a:off x="6233007"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1023"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POR QUÉ (DICTAMEN)</a:t>
            </a:r>
          </a:p>
        </p:txBody>
      </p:sp>
      <p:sp>
        <p:nvSpPr>
          <p:cNvPr id="23" name="TextBox 22"/>
          <p:cNvSpPr txBox="1"/>
          <p:nvPr/>
        </p:nvSpPr>
        <p:spPr>
          <a:xfrm>
            <a:off x="6361023"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Eje VII: hubo 'casos en que diversos Estados no se ajustaron al diseno constitucional' (AI 92/2025, 97/2025 y ac. 102/2025; 98/2025 y ac. 106/2025).</a:t>
            </a:r>
          </a:p>
        </p:txBody>
      </p:sp>
      <p:sp>
        <p:nvSpPr>
          <p:cNvPr id="24" name="TextBox 23"/>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25" name="Rectangle 24"/>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8" name="TextBox 27"/>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13 / 48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3191256"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122 - APARTADO A, FRAC. IV</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Poder Judicial de la Ciudad de México</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357055" y="457200"/>
            <a:ext cx="2286000" cy="329184"/>
          </a:xfrm>
          <a:prstGeom prst="round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3D0A1C"/>
                </a:solidFill>
                <a:latin typeface="Montserrat"/>
              </a:rPr>
              <a:t>Ver artículo COMPLETO &gt;</a:t>
            </a:r>
          </a:p>
        </p:txBody>
      </p:sp>
      <p:sp>
        <p:nvSpPr>
          <p:cNvPr id="8" name="Rectangle 7"/>
          <p:cNvSpPr/>
          <p:nvPr/>
        </p:nvSpPr>
        <p:spPr>
          <a:xfrm>
            <a:off x="548640" y="1371600"/>
            <a:ext cx="5410047" cy="324612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324612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El ejercicio del Poder Judicial se deposita en el Tribunal Superior de Justicia, el Tribunal de Disciplina Judicial local, el órgano de administración judicial y los juzgados y tribunales que establezca la Constitución Política de la Ciudad de México... Las leyes locales establecerán las condiciones para su elección por voto libre, directo y secreto de la ciudadania conforme a las bases, procedimientos, términos, modalidades y requisitos que señala esta Constitución para el Poder Judicial de la Federación </a:t>
            </a:r>
            <a:r>
              <a:rPr sz="1100" b="1" u="none">
                <a:solidFill>
                  <a:srgbClr val="1A1A1A"/>
                </a:solidFill>
                <a:latin typeface="Montserrat"/>
              </a:rPr>
              <a:t>en lo que resulte aplicable</a:t>
            </a:r>
            <a:r>
              <a:rPr sz="1100" b="0" u="none">
                <a:solidFill>
                  <a:srgbClr val="1A1A1A"/>
                </a:solidFill>
                <a:latin typeface="Montserrat"/>
              </a:rPr>
              <a:t>... estableciendo mecanismos públicos, abiertos, transparentes, inclusivos, accesibles y paritarios de evaluación y selección.</a:t>
            </a:r>
          </a:p>
        </p:txBody>
      </p:sp>
      <p:sp>
        <p:nvSpPr>
          <p:cNvPr id="12" name="Rectangle 11"/>
          <p:cNvSpPr/>
          <p:nvPr/>
        </p:nvSpPr>
        <p:spPr>
          <a:xfrm>
            <a:off x="6233007" y="1371600"/>
            <a:ext cx="5410047" cy="324612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324612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277063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...Las leyes locales establecerán las condiciones para su elección por voto libre, directo y secreto de la ciudadania </a:t>
            </a:r>
            <a:r>
              <a:rPr sz="1100" b="1" u="none">
                <a:solidFill>
                  <a:srgbClr val="1A1A1A"/>
                </a:solidFill>
                <a:latin typeface="Montserrat"/>
              </a:rPr>
              <a:t>sujetandose estrictamente a las bases, etapas, procedimientos, términos, modalidades, requisitos, duración de los cargos</a:t>
            </a:r>
            <a:r>
              <a:rPr sz="1100" b="0" u="none">
                <a:solidFill>
                  <a:srgbClr val="1A1A1A"/>
                </a:solidFill>
                <a:latin typeface="Montserrat"/>
              </a:rPr>
              <a:t>... </a:t>
            </a:r>
            <a:r>
              <a:rPr sz="1100" b="1" u="none">
                <a:solidFill>
                  <a:srgbClr val="1A1A1A"/>
                </a:solidFill>
                <a:latin typeface="Montserrat"/>
              </a:rPr>
              <a:t>incluyendo de manera enunciativa</a:t>
            </a:r>
            <a:r>
              <a:rPr sz="1100" b="0" u="none">
                <a:solidFill>
                  <a:srgbClr val="1A1A1A"/>
                </a:solidFill>
                <a:latin typeface="Montserrat"/>
              </a:rPr>
              <a:t>:</a:t>
            </a:r>
          </a:p>
          <a:p>
            <a:pPr>
              <a:lnSpc>
                <a:spcPct val="118000"/>
              </a:lnSpc>
              <a:spcAft>
                <a:spcPts val="300"/>
              </a:spcAft>
            </a:pPr>
            <a:r>
              <a:rPr sz="1100" b="0" u="none">
                <a:solidFill>
                  <a:srgbClr val="1A1A1A"/>
                </a:solidFill>
                <a:latin typeface="Montserrat"/>
              </a:rPr>
              <a:t>a) mecanismos públicos, abiertos, transparentes, inclusivos, accesibles y paritarios de evaluación y selección;</a:t>
            </a:r>
          </a:p>
          <a:p>
            <a:pPr>
              <a:lnSpc>
                <a:spcPct val="118000"/>
              </a:lnSpc>
              <a:spcAft>
                <a:spcPts val="300"/>
              </a:spcAft>
            </a:pPr>
            <a:r>
              <a:rPr sz="1100" b="0" u="none">
                <a:solidFill>
                  <a:srgbClr val="1A1A1A"/>
                </a:solidFill>
                <a:latin typeface="Montserrat"/>
              </a:rPr>
              <a:t>b) la integración por cada poder de la Ciudad de México de Comites de Evaluación que seleccionen a las </a:t>
            </a:r>
            <a:r>
              <a:rPr sz="1100" b="1" u="none">
                <a:solidFill>
                  <a:srgbClr val="1A1A1A"/>
                </a:solidFill>
                <a:latin typeface="Montserrat"/>
              </a:rPr>
              <a:t>cuatro personas mejor evaluadas</a:t>
            </a:r>
            <a:r>
              <a:rPr sz="1100" b="0" u="none">
                <a:solidFill>
                  <a:srgbClr val="1A1A1A"/>
                </a:solidFill>
                <a:latin typeface="Montserrat"/>
              </a:rPr>
              <a:t> para cada cargo;</a:t>
            </a:r>
          </a:p>
          <a:p>
            <a:pPr>
              <a:lnSpc>
                <a:spcPct val="118000"/>
              </a:lnSpc>
              <a:spcAft>
                <a:spcPts val="300"/>
              </a:spcAft>
            </a:pPr>
            <a:r>
              <a:rPr sz="1100" b="0" u="none">
                <a:solidFill>
                  <a:srgbClr val="1A1A1A"/>
                </a:solidFill>
                <a:latin typeface="Montserrat"/>
              </a:rPr>
              <a:t>c) la depuración mediante </a:t>
            </a:r>
            <a:r>
              <a:rPr sz="1100" b="1" u="none">
                <a:solidFill>
                  <a:srgbClr val="1A1A1A"/>
                </a:solidFill>
                <a:latin typeface="Montserrat"/>
              </a:rPr>
              <a:t>insaculación pública</a:t>
            </a:r>
            <a:r>
              <a:rPr sz="1100" b="0" u="none">
                <a:solidFill>
                  <a:srgbClr val="1A1A1A"/>
                </a:solidFill>
                <a:latin typeface="Montserrat"/>
              </a:rPr>
              <a:t> y la postulación de </a:t>
            </a:r>
            <a:r>
              <a:rPr sz="1100" b="1" u="none">
                <a:solidFill>
                  <a:srgbClr val="1A1A1A"/>
                </a:solidFill>
                <a:latin typeface="Montserrat"/>
              </a:rPr>
              <a:t>dos candidaturas</a:t>
            </a:r>
            <a:r>
              <a:rPr sz="1100" b="0" u="none">
                <a:solidFill>
                  <a:srgbClr val="1A1A1A"/>
                </a:solidFill>
                <a:latin typeface="Montserrat"/>
              </a:rPr>
              <a:t> por especialidad con paridad, y</a:t>
            </a:r>
          </a:p>
          <a:p>
            <a:pPr>
              <a:lnSpc>
                <a:spcPct val="118000"/>
              </a:lnSpc>
              <a:spcAft>
                <a:spcPts val="300"/>
              </a:spcAft>
            </a:pPr>
            <a:r>
              <a:rPr sz="1100" b="0" u="none">
                <a:solidFill>
                  <a:srgbClr val="1A1A1A"/>
                </a:solidFill>
                <a:latin typeface="Montserrat"/>
              </a:rPr>
              <a:t>d) la </a:t>
            </a:r>
            <a:r>
              <a:rPr sz="1100" b="1" u="none">
                <a:solidFill>
                  <a:srgbClr val="1A1A1A"/>
                </a:solidFill>
                <a:latin typeface="Montserrat"/>
              </a:rPr>
              <a:t>evaluación del desempeño</a:t>
            </a:r>
            <a:r>
              <a:rPr sz="1100" b="0" u="none">
                <a:solidFill>
                  <a:srgbClr val="1A1A1A"/>
                </a:solidFill>
                <a:latin typeface="Montserrat"/>
              </a:rPr>
              <a:t> del primer año por el Tribunal de Disciplina Judicial de la Ciudad de México.</a:t>
            </a:r>
          </a:p>
        </p:txBody>
      </p:sp>
      <p:sp>
        <p:nvSpPr>
          <p:cNvPr id="16" name="Rectangle 15"/>
          <p:cNvSpPr/>
          <p:nvPr/>
        </p:nvSpPr>
        <p:spPr>
          <a:xfrm>
            <a:off x="548640"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QUÉ CAMBIA</a:t>
            </a:r>
          </a:p>
        </p:txBody>
      </p:sp>
      <p:sp>
        <p:nvSpPr>
          <p:cNvPr id="19" name="TextBox 18"/>
          <p:cNvSpPr txBox="1"/>
          <p:nvPr/>
        </p:nvSpPr>
        <p:spPr>
          <a:xfrm>
            <a:off x="676656"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La CDMX replica obligatoriamente el modelo federal (Comites locales, 4 mejor evaluadas, insaculación a 2, paridad y evaluación del 1er año).</a:t>
            </a:r>
          </a:p>
        </p:txBody>
      </p:sp>
      <p:sp>
        <p:nvSpPr>
          <p:cNvPr id="20" name="Rectangle 19"/>
          <p:cNvSpPr/>
          <p:nvPr/>
        </p:nvSpPr>
        <p:spPr>
          <a:xfrm>
            <a:off x="6233007" y="4727448"/>
            <a:ext cx="5410047" cy="786384"/>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4727448"/>
            <a:ext cx="38100" cy="786384"/>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1023" y="4791456"/>
            <a:ext cx="5154015" cy="219456"/>
          </a:xfrm>
          <a:prstGeom prst="rect">
            <a:avLst/>
          </a:prstGeom>
          <a:noFill/>
        </p:spPr>
        <p:txBody>
          <a:bodyPr wrap="square" anchor="t" lIns="0" rIns="0" tIns="0" bIns="0">
            <a:spAutoFit/>
          </a:bodyPr>
          <a:lstStyle/>
          <a:p>
            <a:pPr algn="l">
              <a:lnSpc>
                <a:spcPct val="115000"/>
              </a:lnSpc>
            </a:pPr>
            <a:r>
              <a:rPr sz="900" b="1">
                <a:solidFill>
                  <a:srgbClr val="A57F2C"/>
                </a:solidFill>
                <a:latin typeface="Montserrat"/>
              </a:rPr>
              <a:t>POR QUÉ (DICTAMEN)</a:t>
            </a:r>
          </a:p>
        </p:txBody>
      </p:sp>
      <p:sp>
        <p:nvSpPr>
          <p:cNvPr id="23" name="TextBox 22"/>
          <p:cNvSpPr txBox="1"/>
          <p:nvPr/>
        </p:nvSpPr>
        <p:spPr>
          <a:xfrm>
            <a:off x="6361023" y="5001768"/>
            <a:ext cx="5154015" cy="475488"/>
          </a:xfrm>
          <a:prstGeom prst="rect">
            <a:avLst/>
          </a:prstGeom>
          <a:noFill/>
        </p:spPr>
        <p:txBody>
          <a:bodyPr wrap="square" anchor="t" lIns="0" rIns="0" tIns="0" bIns="0">
            <a:spAutoFit/>
          </a:bodyPr>
          <a:lstStyle/>
          <a:p>
            <a:pPr algn="l">
              <a:lnSpc>
                <a:spcPct val="118000"/>
              </a:lnSpc>
            </a:pPr>
            <a:r>
              <a:rPr sz="880" b="0">
                <a:solidFill>
                  <a:srgbClr val="4A4A4A"/>
                </a:solidFill>
                <a:latin typeface="Montserrat"/>
              </a:rPr>
              <a:t>Eje VII: certeza jurídica nacional y homologación de los Poderes Judiciales locales con el orden federal.</a:t>
            </a:r>
          </a:p>
        </p:txBody>
      </p:sp>
      <p:sp>
        <p:nvSpPr>
          <p:cNvPr id="24" name="TextBox 23"/>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25" name="Rectangle 24"/>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8" name="TextBox 27"/>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14 / 48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1298448"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TRANSITORIOS</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Calendario, periodos y reelección del TEPJF</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572768"/>
            <a:ext cx="11094415" cy="36576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572768"/>
            <a:ext cx="2267712" cy="365760"/>
          </a:xfrm>
          <a:prstGeom prst="rect">
            <a:avLst/>
          </a:prstGeom>
          <a:noFill/>
        </p:spPr>
        <p:txBody>
          <a:bodyPr wrap="square" anchor="ctr" lIns="0" rIns="0" tIns="0" bIns="0">
            <a:spAutoFit/>
          </a:bodyPr>
          <a:lstStyle/>
          <a:p>
            <a:pPr algn="l">
              <a:lnSpc>
                <a:spcPct val="115000"/>
              </a:lnSpc>
            </a:pPr>
            <a:r>
              <a:rPr sz="1100" b="1">
                <a:solidFill>
                  <a:srgbClr val="FFFFFF"/>
                </a:solidFill>
                <a:latin typeface="Montserrat"/>
              </a:rPr>
              <a:t>Transitorio</a:t>
            </a:r>
          </a:p>
        </p:txBody>
      </p:sp>
      <p:sp>
        <p:nvSpPr>
          <p:cNvPr id="9" name="TextBox 8"/>
          <p:cNvSpPr txBox="1"/>
          <p:nvPr/>
        </p:nvSpPr>
        <p:spPr>
          <a:xfrm>
            <a:off x="3035808" y="1572768"/>
            <a:ext cx="8607247" cy="365760"/>
          </a:xfrm>
          <a:prstGeom prst="rect">
            <a:avLst/>
          </a:prstGeom>
          <a:noFill/>
        </p:spPr>
        <p:txBody>
          <a:bodyPr wrap="square" anchor="ctr" lIns="0" rIns="0" tIns="0" bIns="0">
            <a:spAutoFit/>
          </a:bodyPr>
          <a:lstStyle/>
          <a:p>
            <a:pPr algn="l">
              <a:lnSpc>
                <a:spcPct val="115000"/>
              </a:lnSpc>
            </a:pPr>
            <a:r>
              <a:rPr sz="1100" b="1">
                <a:solidFill>
                  <a:srgbClr val="FFFFFF"/>
                </a:solidFill>
                <a:latin typeface="Montserrat"/>
              </a:rPr>
              <a:t>Contenido</a:t>
            </a:r>
          </a:p>
        </p:txBody>
      </p:sp>
      <p:sp>
        <p:nvSpPr>
          <p:cNvPr id="10" name="TextBox 9"/>
          <p:cNvSpPr txBox="1"/>
          <p:nvPr/>
        </p:nvSpPr>
        <p:spPr>
          <a:xfrm>
            <a:off x="658368" y="1938528"/>
            <a:ext cx="2194560" cy="614172"/>
          </a:xfrm>
          <a:prstGeom prst="rect">
            <a:avLst/>
          </a:prstGeom>
          <a:noFill/>
        </p:spPr>
        <p:txBody>
          <a:bodyPr wrap="square" anchor="ctr" lIns="0" rIns="0" tIns="0" bIns="0">
            <a:spAutoFit/>
          </a:bodyPr>
          <a:lstStyle/>
          <a:p>
            <a:pPr algn="l">
              <a:lnSpc>
                <a:spcPct val="115000"/>
              </a:lnSpc>
            </a:pPr>
            <a:r>
              <a:rPr sz="1100" b="1">
                <a:solidFill>
                  <a:srgbClr val="6B1531"/>
                </a:solidFill>
                <a:latin typeface="Montserrat"/>
              </a:rPr>
              <a:t>2027 a 2028</a:t>
            </a:r>
          </a:p>
        </p:txBody>
      </p:sp>
      <p:sp>
        <p:nvSpPr>
          <p:cNvPr id="11" name="TextBox 10"/>
          <p:cNvSpPr txBox="1"/>
          <p:nvPr/>
        </p:nvSpPr>
        <p:spPr>
          <a:xfrm>
            <a:off x="3035808" y="1938528"/>
            <a:ext cx="8534095" cy="614172"/>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La 2.a elección judicial se mueve a 2028, coincidente; toma de protesta el 1-sep-2028.</a:t>
            </a:r>
          </a:p>
        </p:txBody>
      </p:sp>
      <p:sp>
        <p:nvSpPr>
          <p:cNvPr id="12" name="Rectangle 11"/>
          <p:cNvSpPr/>
          <p:nvPr/>
        </p:nvSpPr>
        <p:spPr>
          <a:xfrm>
            <a:off x="548640" y="2543175"/>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552700"/>
            <a:ext cx="11094415" cy="614172"/>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552700"/>
            <a:ext cx="2194560" cy="614172"/>
          </a:xfrm>
          <a:prstGeom prst="rect">
            <a:avLst/>
          </a:prstGeom>
          <a:noFill/>
        </p:spPr>
        <p:txBody>
          <a:bodyPr wrap="square" anchor="ctr" lIns="0" rIns="0" tIns="0" bIns="0">
            <a:spAutoFit/>
          </a:bodyPr>
          <a:lstStyle/>
          <a:p>
            <a:pPr algn="l">
              <a:lnSpc>
                <a:spcPct val="115000"/>
              </a:lnSpc>
            </a:pPr>
            <a:r>
              <a:rPr sz="1100" b="1">
                <a:solidFill>
                  <a:srgbClr val="6B1531"/>
                </a:solidFill>
                <a:latin typeface="Montserrat"/>
              </a:rPr>
              <a:t>Mandatos en curso</a:t>
            </a:r>
          </a:p>
        </p:txBody>
      </p:sp>
      <p:sp>
        <p:nvSpPr>
          <p:cNvPr id="15" name="TextBox 14"/>
          <p:cNvSpPr txBox="1"/>
          <p:nvPr/>
        </p:nvSpPr>
        <p:spPr>
          <a:xfrm>
            <a:off x="3035808" y="2552700"/>
            <a:ext cx="8534095" cy="614172"/>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Quienes concluirian en 2027 permanecen hasta 2028; +4,000 cargos a 2028.</a:t>
            </a:r>
          </a:p>
        </p:txBody>
      </p:sp>
      <p:sp>
        <p:nvSpPr>
          <p:cNvPr id="16" name="Rectangle 15"/>
          <p:cNvSpPr/>
          <p:nvPr/>
        </p:nvSpPr>
        <p:spPr>
          <a:xfrm>
            <a:off x="548640" y="3157347"/>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166872"/>
            <a:ext cx="2194560" cy="614172"/>
          </a:xfrm>
          <a:prstGeom prst="rect">
            <a:avLst/>
          </a:prstGeom>
          <a:noFill/>
        </p:spPr>
        <p:txBody>
          <a:bodyPr wrap="square" anchor="ctr" lIns="0" rIns="0" tIns="0" bIns="0">
            <a:spAutoFit/>
          </a:bodyPr>
          <a:lstStyle/>
          <a:p>
            <a:pPr algn="l">
              <a:lnSpc>
                <a:spcPct val="115000"/>
              </a:lnSpc>
            </a:pPr>
            <a:r>
              <a:rPr sz="1100" b="1">
                <a:solidFill>
                  <a:srgbClr val="6B1531"/>
                </a:solidFill>
                <a:latin typeface="Montserrat"/>
              </a:rPr>
              <a:t>Reelección TEPJF</a:t>
            </a:r>
          </a:p>
        </p:txBody>
      </p:sp>
      <p:sp>
        <p:nvSpPr>
          <p:cNvPr id="18" name="TextBox 17"/>
          <p:cNvSpPr txBox="1"/>
          <p:nvPr/>
        </p:nvSpPr>
        <p:spPr>
          <a:xfrm>
            <a:off x="3035808" y="3166872"/>
            <a:ext cx="8534095" cy="614172"/>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Magistrados de la Sala Superior en funciones podrán reelegirse en 2028.</a:t>
            </a:r>
          </a:p>
        </p:txBody>
      </p:sp>
      <p:sp>
        <p:nvSpPr>
          <p:cNvPr id="19" name="Rectangle 18"/>
          <p:cNvSpPr/>
          <p:nvPr/>
        </p:nvSpPr>
        <p:spPr>
          <a:xfrm>
            <a:off x="548640" y="3771519"/>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781044"/>
            <a:ext cx="11094415" cy="614172"/>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781044"/>
            <a:ext cx="2194560" cy="614172"/>
          </a:xfrm>
          <a:prstGeom prst="rect">
            <a:avLst/>
          </a:prstGeom>
          <a:noFill/>
        </p:spPr>
        <p:txBody>
          <a:bodyPr wrap="square" anchor="ctr" lIns="0" rIns="0" tIns="0" bIns="0">
            <a:spAutoFit/>
          </a:bodyPr>
          <a:lstStyle/>
          <a:p>
            <a:pPr algn="l">
              <a:lnSpc>
                <a:spcPct val="115000"/>
              </a:lnSpc>
            </a:pPr>
            <a:r>
              <a:rPr sz="1100" b="1">
                <a:solidFill>
                  <a:srgbClr val="6B1531"/>
                </a:solidFill>
                <a:latin typeface="Montserrat"/>
              </a:rPr>
              <a:t>Secciones SCJN</a:t>
            </a:r>
          </a:p>
        </p:txBody>
      </p:sp>
      <p:sp>
        <p:nvSpPr>
          <p:cNvPr id="22" name="TextBox 21"/>
          <p:cNvSpPr txBox="1"/>
          <p:nvPr/>
        </p:nvSpPr>
        <p:spPr>
          <a:xfrm>
            <a:off x="3035808" y="3781044"/>
            <a:ext cx="8534095" cy="614172"/>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La ley secundaria regulara su integración y funcionamiento.</a:t>
            </a:r>
          </a:p>
        </p:txBody>
      </p:sp>
      <p:sp>
        <p:nvSpPr>
          <p:cNvPr id="23" name="Rectangle 22"/>
          <p:cNvSpPr/>
          <p:nvPr/>
        </p:nvSpPr>
        <p:spPr>
          <a:xfrm>
            <a:off x="548640" y="4385691"/>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395216"/>
            <a:ext cx="2194560" cy="614172"/>
          </a:xfrm>
          <a:prstGeom prst="rect">
            <a:avLst/>
          </a:prstGeom>
          <a:noFill/>
        </p:spPr>
        <p:txBody>
          <a:bodyPr wrap="square" anchor="ctr" lIns="0" rIns="0" tIns="0" bIns="0">
            <a:spAutoFit/>
          </a:bodyPr>
          <a:lstStyle/>
          <a:p>
            <a:pPr algn="l">
              <a:lnSpc>
                <a:spcPct val="115000"/>
              </a:lnSpc>
            </a:pPr>
            <a:r>
              <a:rPr sz="1100" b="1">
                <a:solidFill>
                  <a:srgbClr val="6B1531"/>
                </a:solidFill>
                <a:latin typeface="Montserrat"/>
              </a:rPr>
              <a:t>Plazos</a:t>
            </a:r>
          </a:p>
        </p:txBody>
      </p:sp>
      <p:sp>
        <p:nvSpPr>
          <p:cNvPr id="25" name="TextBox 24"/>
          <p:cNvSpPr txBox="1"/>
          <p:nvPr/>
        </p:nvSpPr>
        <p:spPr>
          <a:xfrm>
            <a:off x="3035808" y="4395216"/>
            <a:ext cx="8534095" cy="614172"/>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Congreso 90 días; estados 60 días (constituciones) y 90 (leyes).</a:t>
            </a:r>
          </a:p>
        </p:txBody>
      </p:sp>
      <p:sp>
        <p:nvSpPr>
          <p:cNvPr id="26" name="Rectangle 25"/>
          <p:cNvSpPr/>
          <p:nvPr/>
        </p:nvSpPr>
        <p:spPr>
          <a:xfrm>
            <a:off x="548640" y="4999863"/>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009388"/>
            <a:ext cx="11094415" cy="614172"/>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009388"/>
            <a:ext cx="2194560" cy="614172"/>
          </a:xfrm>
          <a:prstGeom prst="rect">
            <a:avLst/>
          </a:prstGeom>
          <a:noFill/>
        </p:spPr>
        <p:txBody>
          <a:bodyPr wrap="square" anchor="ctr" lIns="0" rIns="0" tIns="0" bIns="0">
            <a:spAutoFit/>
          </a:bodyPr>
          <a:lstStyle/>
          <a:p>
            <a:pPr algn="l">
              <a:lnSpc>
                <a:spcPct val="115000"/>
              </a:lnSpc>
            </a:pPr>
            <a:r>
              <a:rPr sz="1100" b="1">
                <a:solidFill>
                  <a:srgbClr val="6B1531"/>
                </a:solidFill>
                <a:latin typeface="Montserrat"/>
              </a:rPr>
              <a:t>Periodo 2028</a:t>
            </a:r>
          </a:p>
        </p:txBody>
      </p:sp>
      <p:sp>
        <p:nvSpPr>
          <p:cNvPr id="29" name="TextBox 28"/>
          <p:cNvSpPr txBox="1"/>
          <p:nvPr/>
        </p:nvSpPr>
        <p:spPr>
          <a:xfrm>
            <a:off x="3035808" y="5009388"/>
            <a:ext cx="8534095" cy="614172"/>
          </a:xfrm>
          <a:prstGeom prst="rect">
            <a:avLst/>
          </a:prstGeom>
          <a:noFill/>
        </p:spPr>
        <p:txBody>
          <a:bodyPr wrap="square" anchor="ctr" lIns="0" rIns="0" tIns="0" bIns="0">
            <a:spAutoFit/>
          </a:bodyPr>
          <a:lstStyle/>
          <a:p>
            <a:pPr algn="l">
              <a:lnSpc>
                <a:spcPct val="115000"/>
              </a:lnSpc>
            </a:pPr>
            <a:r>
              <a:rPr sz="1100" b="0">
                <a:solidFill>
                  <a:srgbClr val="4A4A4A"/>
                </a:solidFill>
                <a:latin typeface="Montserrat"/>
              </a:rPr>
              <a:t>Circuito y Distrito electos en 2028: 8 años (vence 2036).</a:t>
            </a:r>
          </a:p>
        </p:txBody>
      </p:sp>
      <p:sp>
        <p:nvSpPr>
          <p:cNvPr id="30" name="Rectangle 29"/>
          <p:cNvSpPr/>
          <p:nvPr/>
        </p:nvSpPr>
        <p:spPr>
          <a:xfrm>
            <a:off x="548640" y="5614035"/>
            <a:ext cx="11094415" cy="9525"/>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5833872"/>
            <a:ext cx="11094415" cy="365760"/>
          </a:xfrm>
          <a:prstGeom prst="rect">
            <a:avLst/>
          </a:prstGeom>
          <a:noFill/>
        </p:spPr>
        <p:txBody>
          <a:bodyPr wrap="square" anchor="t" lIns="0" rIns="0" tIns="0" bIns="0">
            <a:spAutoFit/>
          </a:bodyPr>
          <a:lstStyle/>
          <a:p>
            <a:pPr algn="l">
              <a:lnSpc>
                <a:spcPct val="120000"/>
              </a:lnSpc>
            </a:pPr>
            <a:r>
              <a:rPr sz="1000" b="0">
                <a:solidFill>
                  <a:srgbClr val="98989A"/>
                </a:solidFill>
                <a:latin typeface="Montserrat"/>
              </a:rPr>
              <a:t>La reelección del TEPJF se anadio en el pleno de Diputados (madruguete) y provoco abstenciones en Morena.</a:t>
            </a:r>
          </a:p>
        </p:txBody>
      </p:sp>
      <p:sp>
        <p:nvSpPr>
          <p:cNvPr id="32" name="TextBox 31"/>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Secretaria de Gobernación. (2026, 2 de junio). Decreto... en materia de reforma al Poder Judicial. DOF.</a:t>
            </a:r>
          </a:p>
        </p:txBody>
      </p:sp>
      <p:sp>
        <p:nvSpPr>
          <p:cNvPr id="33" name="Rectangle 32"/>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TRÁMITE</a:t>
            </a:r>
          </a:p>
        </p:txBody>
      </p:sp>
      <p:sp>
        <p:nvSpPr>
          <p:cNvPr id="36" name="TextBox 35"/>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15 / 48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0467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DEBATE</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Implicaciones: dos lecturas</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554480"/>
            <a:ext cx="5364327" cy="406908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5364327" cy="3810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682496"/>
            <a:ext cx="4998567" cy="457200"/>
          </a:xfrm>
          <a:prstGeom prst="rect">
            <a:avLst/>
          </a:prstGeom>
          <a:noFill/>
        </p:spPr>
        <p:txBody>
          <a:bodyPr wrap="square" anchor="t" lIns="0" rIns="0" tIns="0" bIns="0">
            <a:spAutoFit/>
          </a:bodyPr>
          <a:lstStyle/>
          <a:p>
            <a:pPr algn="l">
              <a:lnSpc>
                <a:spcPct val="115000"/>
              </a:lnSpc>
            </a:pPr>
            <a:r>
              <a:rPr sz="1350" b="1">
                <a:solidFill>
                  <a:srgbClr val="1E5B4F"/>
                </a:solidFill>
                <a:latin typeface="Montserrat"/>
              </a:rPr>
              <a:t>A favor (gobierno - Morena/PVEM/PT)</a:t>
            </a:r>
          </a:p>
        </p:txBody>
      </p:sp>
      <p:sp>
        <p:nvSpPr>
          <p:cNvPr id="10" name="Oval 9"/>
          <p:cNvSpPr/>
          <p:nvPr/>
        </p:nvSpPr>
        <p:spPr>
          <a:xfrm>
            <a:off x="749808" y="2231136"/>
            <a:ext cx="91440" cy="91440"/>
          </a:xfrm>
          <a:prstGeom prst="ellipse">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176272"/>
            <a:ext cx="4797399" cy="731520"/>
          </a:xfrm>
          <a:prstGeom prst="rect">
            <a:avLst/>
          </a:prstGeom>
          <a:noFill/>
        </p:spPr>
        <p:txBody>
          <a:bodyPr wrap="square" anchor="t" lIns="0" rIns="0" tIns="0" bIns="0">
            <a:spAutoFit/>
          </a:bodyPr>
          <a:lstStyle/>
          <a:p>
            <a:pPr algn="l">
              <a:lnSpc>
                <a:spcPct val="125000"/>
              </a:lnSpc>
            </a:pPr>
            <a:r>
              <a:rPr sz="1200" b="0">
                <a:solidFill>
                  <a:srgbClr val="4A4A4A"/>
                </a:solidFill>
                <a:latin typeface="Montserrat"/>
              </a:rPr>
              <a:t>Corrección técnica sin abandonar la elección directa.</a:t>
            </a:r>
          </a:p>
        </p:txBody>
      </p:sp>
      <p:sp>
        <p:nvSpPr>
          <p:cNvPr id="12" name="Oval 11"/>
          <p:cNvSpPr/>
          <p:nvPr/>
        </p:nvSpPr>
        <p:spPr>
          <a:xfrm>
            <a:off x="749808" y="2761488"/>
            <a:ext cx="91440" cy="91440"/>
          </a:xfrm>
          <a:prstGeom prst="ellipse">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706624"/>
            <a:ext cx="4797399" cy="731520"/>
          </a:xfrm>
          <a:prstGeom prst="rect">
            <a:avLst/>
          </a:prstGeom>
          <a:noFill/>
        </p:spPr>
        <p:txBody>
          <a:bodyPr wrap="square" anchor="t" lIns="0" rIns="0" tIns="0" bIns="0">
            <a:spAutoFit/>
          </a:bodyPr>
          <a:lstStyle/>
          <a:p>
            <a:pPr algn="l">
              <a:lnSpc>
                <a:spcPct val="125000"/>
              </a:lnSpc>
            </a:pPr>
            <a:r>
              <a:rPr sz="1200" b="0">
                <a:solidFill>
                  <a:srgbClr val="4A4A4A"/>
                </a:solidFill>
                <a:latin typeface="Montserrat"/>
              </a:rPr>
              <a:t>Ahorro: ~6,000 mdp en 2028 vs ~8,000 si concurria en 2027 (INE).</a:t>
            </a:r>
          </a:p>
        </p:txBody>
      </p:sp>
      <p:sp>
        <p:nvSpPr>
          <p:cNvPr id="14" name="Oval 13"/>
          <p:cNvSpPr/>
          <p:nvPr/>
        </p:nvSpPr>
        <p:spPr>
          <a:xfrm>
            <a:off x="749808" y="3291840"/>
            <a:ext cx="91440" cy="91440"/>
          </a:xfrm>
          <a:prstGeom prst="ellipse">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236976"/>
            <a:ext cx="4797399" cy="731520"/>
          </a:xfrm>
          <a:prstGeom prst="rect">
            <a:avLst/>
          </a:prstGeom>
          <a:noFill/>
        </p:spPr>
        <p:txBody>
          <a:bodyPr wrap="square" anchor="t" lIns="0" rIns="0" tIns="0" bIns="0">
            <a:spAutoFit/>
          </a:bodyPr>
          <a:lstStyle/>
          <a:p>
            <a:pPr algn="l">
              <a:lnSpc>
                <a:spcPct val="125000"/>
              </a:lnSpc>
            </a:pPr>
            <a:r>
              <a:rPr sz="1200" b="0">
                <a:solidFill>
                  <a:srgbClr val="4A4A4A"/>
                </a:solidFill>
                <a:latin typeface="Montserrat"/>
              </a:rPr>
              <a:t>Voto más informado: menos candidaturas y boletas claras.</a:t>
            </a:r>
          </a:p>
        </p:txBody>
      </p:sp>
      <p:sp>
        <p:nvSpPr>
          <p:cNvPr id="16" name="Oval 15"/>
          <p:cNvSpPr/>
          <p:nvPr/>
        </p:nvSpPr>
        <p:spPr>
          <a:xfrm>
            <a:off x="749808" y="3822192"/>
            <a:ext cx="91440" cy="91440"/>
          </a:xfrm>
          <a:prstGeom prst="ellipse">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3767328"/>
            <a:ext cx="4797399" cy="731520"/>
          </a:xfrm>
          <a:prstGeom prst="rect">
            <a:avLst/>
          </a:prstGeom>
          <a:noFill/>
        </p:spPr>
        <p:txBody>
          <a:bodyPr wrap="square" anchor="t" lIns="0" rIns="0" tIns="0" bIns="0">
            <a:spAutoFit/>
          </a:bodyPr>
          <a:lstStyle/>
          <a:p>
            <a:pPr algn="l">
              <a:lnSpc>
                <a:spcPct val="125000"/>
              </a:lnSpc>
            </a:pPr>
            <a:r>
              <a:rPr sz="1200" b="0">
                <a:solidFill>
                  <a:srgbClr val="4A4A4A"/>
                </a:solidFill>
                <a:latin typeface="Montserrat"/>
              </a:rPr>
              <a:t>Paridad estructural garantizada por la insaculación.</a:t>
            </a:r>
          </a:p>
        </p:txBody>
      </p:sp>
      <p:sp>
        <p:nvSpPr>
          <p:cNvPr id="18" name="Rectangle 17"/>
          <p:cNvSpPr/>
          <p:nvPr/>
        </p:nvSpPr>
        <p:spPr>
          <a:xfrm>
            <a:off x="6278727" y="1554480"/>
            <a:ext cx="5364327" cy="406908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78727" y="1554480"/>
            <a:ext cx="5364327" cy="381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9895" y="1682496"/>
            <a:ext cx="4998567" cy="457200"/>
          </a:xfrm>
          <a:prstGeom prst="rect">
            <a:avLst/>
          </a:prstGeom>
          <a:noFill/>
        </p:spPr>
        <p:txBody>
          <a:bodyPr wrap="square" anchor="t" lIns="0" rIns="0" tIns="0" bIns="0">
            <a:spAutoFit/>
          </a:bodyPr>
          <a:lstStyle/>
          <a:p>
            <a:pPr algn="l">
              <a:lnSpc>
                <a:spcPct val="115000"/>
              </a:lnSpc>
            </a:pPr>
            <a:r>
              <a:rPr sz="1350" b="1">
                <a:solidFill>
                  <a:srgbClr val="6B1531"/>
                </a:solidFill>
                <a:latin typeface="Montserrat"/>
              </a:rPr>
              <a:t>En contra (PAN - PRI - MC - barras - academia)</a:t>
            </a:r>
          </a:p>
        </p:txBody>
      </p:sp>
      <p:sp>
        <p:nvSpPr>
          <p:cNvPr id="21" name="Oval 20"/>
          <p:cNvSpPr/>
          <p:nvPr/>
        </p:nvSpPr>
        <p:spPr>
          <a:xfrm>
            <a:off x="6479895" y="2231136"/>
            <a:ext cx="91440" cy="91440"/>
          </a:xfrm>
          <a:prstGeom prst="ellipse">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62775" y="2176272"/>
            <a:ext cx="4797399" cy="731520"/>
          </a:xfrm>
          <a:prstGeom prst="rect">
            <a:avLst/>
          </a:prstGeom>
          <a:noFill/>
        </p:spPr>
        <p:txBody>
          <a:bodyPr wrap="square" anchor="t" lIns="0" rIns="0" tIns="0" bIns="0">
            <a:spAutoFit/>
          </a:bodyPr>
          <a:lstStyle/>
          <a:p>
            <a:pPr algn="l">
              <a:lnSpc>
                <a:spcPct val="125000"/>
              </a:lnSpc>
            </a:pPr>
            <a:r>
              <a:rPr sz="1200" b="0">
                <a:solidFill>
                  <a:srgbClr val="4A4A4A"/>
                </a:solidFill>
                <a:latin typeface="Montserrat"/>
              </a:rPr>
              <a:t>Parches que no corrigen el fondo (Barra Mexicana de Abogados).</a:t>
            </a:r>
          </a:p>
        </p:txBody>
      </p:sp>
      <p:sp>
        <p:nvSpPr>
          <p:cNvPr id="23" name="Oval 22"/>
          <p:cNvSpPr/>
          <p:nvPr/>
        </p:nvSpPr>
        <p:spPr>
          <a:xfrm>
            <a:off x="6479895" y="2761488"/>
            <a:ext cx="91440" cy="91440"/>
          </a:xfrm>
          <a:prstGeom prst="ellipse">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62775" y="2706624"/>
            <a:ext cx="4797399" cy="731520"/>
          </a:xfrm>
          <a:prstGeom prst="rect">
            <a:avLst/>
          </a:prstGeom>
          <a:noFill/>
        </p:spPr>
        <p:txBody>
          <a:bodyPr wrap="square" anchor="t" lIns="0" rIns="0" tIns="0" bIns="0">
            <a:spAutoFit/>
          </a:bodyPr>
          <a:lstStyle/>
          <a:p>
            <a:pPr algn="l">
              <a:lnSpc>
                <a:spcPct val="125000"/>
              </a:lnSpc>
            </a:pPr>
            <a:r>
              <a:rPr sz="1200" b="0">
                <a:solidFill>
                  <a:srgbClr val="4A4A4A"/>
                </a:solidFill>
                <a:latin typeface="Montserrat"/>
              </a:rPr>
              <a:t>Riesgo de captura política; la insaculación introduce azar.</a:t>
            </a:r>
          </a:p>
        </p:txBody>
      </p:sp>
      <p:sp>
        <p:nvSpPr>
          <p:cNvPr id="25" name="Oval 24"/>
          <p:cNvSpPr/>
          <p:nvPr/>
        </p:nvSpPr>
        <p:spPr>
          <a:xfrm>
            <a:off x="6479895" y="3291840"/>
            <a:ext cx="91440" cy="91440"/>
          </a:xfrm>
          <a:prstGeom prst="ellipse">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62775" y="3236976"/>
            <a:ext cx="4797399" cy="731520"/>
          </a:xfrm>
          <a:prstGeom prst="rect">
            <a:avLst/>
          </a:prstGeom>
          <a:noFill/>
        </p:spPr>
        <p:txBody>
          <a:bodyPr wrap="square" anchor="t" lIns="0" rIns="0" tIns="0" bIns="0">
            <a:spAutoFit/>
          </a:bodyPr>
          <a:lstStyle/>
          <a:p>
            <a:pPr algn="l">
              <a:lnSpc>
                <a:spcPct val="125000"/>
              </a:lnSpc>
            </a:pPr>
            <a:r>
              <a:rPr sz="1200" b="0">
                <a:solidFill>
                  <a:srgbClr val="4A4A4A"/>
                </a:solidFill>
                <a:latin typeface="Montserrat"/>
              </a:rPr>
              <a:t>Reelección del TEPJF percibida como favor político.</a:t>
            </a:r>
          </a:p>
        </p:txBody>
      </p:sp>
      <p:sp>
        <p:nvSpPr>
          <p:cNvPr id="27" name="Oval 26"/>
          <p:cNvSpPr/>
          <p:nvPr/>
        </p:nvSpPr>
        <p:spPr>
          <a:xfrm>
            <a:off x="6479895" y="3822192"/>
            <a:ext cx="91440" cy="91440"/>
          </a:xfrm>
          <a:prstGeom prst="ellipse">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62775" y="3767328"/>
            <a:ext cx="4797399" cy="731520"/>
          </a:xfrm>
          <a:prstGeom prst="rect">
            <a:avLst/>
          </a:prstGeom>
          <a:noFill/>
        </p:spPr>
        <p:txBody>
          <a:bodyPr wrap="square" anchor="t" lIns="0" rIns="0" tIns="0" bIns="0">
            <a:spAutoFit/>
          </a:bodyPr>
          <a:lstStyle/>
          <a:p>
            <a:pPr algn="l">
              <a:lnSpc>
                <a:spcPct val="125000"/>
              </a:lnSpc>
            </a:pPr>
            <a:r>
              <a:rPr sz="1200" b="0">
                <a:solidFill>
                  <a:srgbClr val="4A4A4A"/>
                </a:solidFill>
                <a:latin typeface="Montserrat"/>
              </a:rPr>
              <a:t>Coincidencia 2028 con la revocación de mandato; menos autonomia local.</a:t>
            </a:r>
          </a:p>
        </p:txBody>
      </p:sp>
      <p:sp>
        <p:nvSpPr>
          <p:cNvPr id="29" name="Oval 28"/>
          <p:cNvSpPr/>
          <p:nvPr/>
        </p:nvSpPr>
        <p:spPr>
          <a:xfrm>
            <a:off x="6479895" y="4352544"/>
            <a:ext cx="91440" cy="91440"/>
          </a:xfrm>
          <a:prstGeom prst="ellipse">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62775" y="4297680"/>
            <a:ext cx="4797399" cy="731520"/>
          </a:xfrm>
          <a:prstGeom prst="rect">
            <a:avLst/>
          </a:prstGeom>
          <a:noFill/>
        </p:spPr>
        <p:txBody>
          <a:bodyPr wrap="square" anchor="t" lIns="0" rIns="0" tIns="0" bIns="0">
            <a:spAutoFit/>
          </a:bodyPr>
          <a:lstStyle/>
          <a:p>
            <a:pPr algn="l">
              <a:lnSpc>
                <a:spcPct val="125000"/>
              </a:lnSpc>
            </a:pPr>
            <a:r>
              <a:rPr sz="1200" b="0">
                <a:solidFill>
                  <a:srgbClr val="4A4A4A"/>
                </a:solidFill>
                <a:latin typeface="Montserrat"/>
              </a:rPr>
              <a:t>CIDH y Relatoria ONU: alertas sobre independencia judicial.</a:t>
            </a:r>
          </a:p>
        </p:txBody>
      </p:sp>
      <p:sp>
        <p:nvSpPr>
          <p:cNvPr id="31" name="TextBox 30"/>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México Evalua. (2026). Aplazar las elecciones judiciales a 2028 podria dar tiempo a mejorar el proceso de selección.</a:t>
            </a:r>
          </a:p>
        </p:txBody>
      </p:sp>
      <p:sp>
        <p:nvSpPr>
          <p:cNvPr id="32" name="Rectangle 31"/>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DEBATE</a:t>
            </a:r>
          </a:p>
        </p:txBody>
      </p:sp>
      <p:sp>
        <p:nvSpPr>
          <p:cNvPr id="35" name="TextBox 34"/>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16 / 48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203703"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REFERENCIAS - OFICIALES</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Fuentes oficiales del gobierno federal</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81328"/>
            <a:ext cx="164592" cy="405661"/>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8" name="TextBox 7"/>
          <p:cNvSpPr txBox="1"/>
          <p:nvPr/>
        </p:nvSpPr>
        <p:spPr>
          <a:xfrm>
            <a:off x="768096" y="1592718"/>
            <a:ext cx="10874959" cy="274320"/>
          </a:xfrm>
          <a:prstGeom prst="rect">
            <a:avLst/>
          </a:prstGeom>
          <a:noFill/>
        </p:spPr>
        <p:txBody>
          <a:bodyPr wrap="square" lIns="0" rIns="0" tIns="0" bIns="0">
            <a:spAutoFit/>
          </a:bodyPr>
          <a:lstStyle/>
          <a:p>
            <a:r>
              <a:rPr sz="950" u="sng">
                <a:solidFill>
                  <a:srgbClr val="9B2247"/>
                </a:solidFill>
                <a:latin typeface="Montserrat"/>
                <a:hlinkClick r:id="rId2"/>
              </a:rPr>
              <a:t>Secretaria de Gobernación. (2026, 2 jun). Decreto... en materia de reforma al Poder Judicial. DOF.</a:t>
            </a:r>
          </a:p>
        </p:txBody>
      </p:sp>
      <p:sp>
        <p:nvSpPr>
          <p:cNvPr id="9" name="TextBox 8"/>
          <p:cNvSpPr txBox="1"/>
          <p:nvPr/>
        </p:nvSpPr>
        <p:spPr>
          <a:xfrm>
            <a:off x="548640" y="1886989"/>
            <a:ext cx="164592" cy="405661"/>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10" name="TextBox 9"/>
          <p:cNvSpPr txBox="1"/>
          <p:nvPr/>
        </p:nvSpPr>
        <p:spPr>
          <a:xfrm>
            <a:off x="768096" y="1998379"/>
            <a:ext cx="10874959" cy="274320"/>
          </a:xfrm>
          <a:prstGeom prst="rect">
            <a:avLst/>
          </a:prstGeom>
          <a:noFill/>
        </p:spPr>
        <p:txBody>
          <a:bodyPr wrap="square" lIns="0" rIns="0" tIns="0" bIns="0">
            <a:spAutoFit/>
          </a:bodyPr>
          <a:lstStyle/>
          <a:p>
            <a:r>
              <a:rPr sz="950" u="sng">
                <a:solidFill>
                  <a:srgbClr val="9B2247"/>
                </a:solidFill>
                <a:latin typeface="Montserrat"/>
                <a:hlinkClick r:id="rId3"/>
              </a:rPr>
              <a:t>Cámara de Diputados. (2026, 26 may). Dictamen de la Comisión de Puntos Constitucionales (Gaceta 7046, anexo III).</a:t>
            </a:r>
          </a:p>
        </p:txBody>
      </p:sp>
      <p:sp>
        <p:nvSpPr>
          <p:cNvPr id="11" name="TextBox 10"/>
          <p:cNvSpPr txBox="1"/>
          <p:nvPr/>
        </p:nvSpPr>
        <p:spPr>
          <a:xfrm>
            <a:off x="548640" y="2292650"/>
            <a:ext cx="164592" cy="405661"/>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12" name="TextBox 11"/>
          <p:cNvSpPr txBox="1"/>
          <p:nvPr/>
        </p:nvSpPr>
        <p:spPr>
          <a:xfrm>
            <a:off x="768096" y="2404040"/>
            <a:ext cx="10874959" cy="274320"/>
          </a:xfrm>
          <a:prstGeom prst="rect">
            <a:avLst/>
          </a:prstGeom>
          <a:noFill/>
        </p:spPr>
        <p:txBody>
          <a:bodyPr wrap="square" lIns="0" rIns="0" tIns="0" bIns="0">
            <a:spAutoFit/>
          </a:bodyPr>
          <a:lstStyle/>
          <a:p>
            <a:r>
              <a:rPr sz="950" u="sng">
                <a:solidFill>
                  <a:srgbClr val="9B2247"/>
                </a:solidFill>
                <a:latin typeface="Montserrat"/>
                <a:hlinkClick r:id="rId4"/>
              </a:rPr>
              <a:t>Cámara de Diputados. (2026, 25 may). Proyecto de dictamen (Gaceta Parlamentaria núm. 7045).</a:t>
            </a:r>
          </a:p>
        </p:txBody>
      </p:sp>
      <p:sp>
        <p:nvSpPr>
          <p:cNvPr id="13" name="TextBox 12"/>
          <p:cNvSpPr txBox="1"/>
          <p:nvPr/>
        </p:nvSpPr>
        <p:spPr>
          <a:xfrm>
            <a:off x="548640" y="2698311"/>
            <a:ext cx="164592" cy="405661"/>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14" name="TextBox 13"/>
          <p:cNvSpPr txBox="1"/>
          <p:nvPr/>
        </p:nvSpPr>
        <p:spPr>
          <a:xfrm>
            <a:off x="768096" y="2809701"/>
            <a:ext cx="10874959" cy="274320"/>
          </a:xfrm>
          <a:prstGeom prst="rect">
            <a:avLst/>
          </a:prstGeom>
          <a:noFill/>
        </p:spPr>
        <p:txBody>
          <a:bodyPr wrap="square" lIns="0" rIns="0" tIns="0" bIns="0">
            <a:spAutoFit/>
          </a:bodyPr>
          <a:lstStyle/>
          <a:p>
            <a:r>
              <a:rPr sz="950" u="sng">
                <a:solidFill>
                  <a:srgbClr val="9B2247"/>
                </a:solidFill>
                <a:latin typeface="Montserrat"/>
                <a:hlinkClick r:id="rId5"/>
              </a:rPr>
              <a:t>Cámara de Diputados. (2026, 2 jun). Pública DOF decreto de la reforma al Poder Judicial (Notilegis).</a:t>
            </a:r>
          </a:p>
        </p:txBody>
      </p:sp>
      <p:sp>
        <p:nvSpPr>
          <p:cNvPr id="15" name="TextBox 14"/>
          <p:cNvSpPr txBox="1"/>
          <p:nvPr/>
        </p:nvSpPr>
        <p:spPr>
          <a:xfrm>
            <a:off x="548640" y="3103972"/>
            <a:ext cx="164592" cy="405661"/>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16" name="TextBox 15"/>
          <p:cNvSpPr txBox="1"/>
          <p:nvPr/>
        </p:nvSpPr>
        <p:spPr>
          <a:xfrm>
            <a:off x="768096" y="3215362"/>
            <a:ext cx="10874959" cy="274320"/>
          </a:xfrm>
          <a:prstGeom prst="rect">
            <a:avLst/>
          </a:prstGeom>
          <a:noFill/>
        </p:spPr>
        <p:txBody>
          <a:bodyPr wrap="square" lIns="0" rIns="0" tIns="0" bIns="0">
            <a:spAutoFit/>
          </a:bodyPr>
          <a:lstStyle/>
          <a:p>
            <a:r>
              <a:rPr sz="950" u="sng">
                <a:solidFill>
                  <a:srgbClr val="9B2247"/>
                </a:solidFill>
                <a:latin typeface="Montserrat"/>
                <a:hlinkClick r:id="rId6"/>
              </a:rPr>
              <a:t>Canal del Congreso. (2026, 26 may). Aprueban en lo general la reforma judicial.</a:t>
            </a:r>
          </a:p>
        </p:txBody>
      </p:sp>
      <p:sp>
        <p:nvSpPr>
          <p:cNvPr id="17" name="TextBox 16"/>
          <p:cNvSpPr txBox="1"/>
          <p:nvPr/>
        </p:nvSpPr>
        <p:spPr>
          <a:xfrm>
            <a:off x="548640" y="3509633"/>
            <a:ext cx="164592" cy="405661"/>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18" name="TextBox 17"/>
          <p:cNvSpPr txBox="1"/>
          <p:nvPr/>
        </p:nvSpPr>
        <p:spPr>
          <a:xfrm>
            <a:off x="768096" y="3621023"/>
            <a:ext cx="10874959" cy="274320"/>
          </a:xfrm>
          <a:prstGeom prst="rect">
            <a:avLst/>
          </a:prstGeom>
          <a:noFill/>
        </p:spPr>
        <p:txBody>
          <a:bodyPr wrap="square" lIns="0" rIns="0" tIns="0" bIns="0">
            <a:spAutoFit/>
          </a:bodyPr>
          <a:lstStyle/>
          <a:p>
            <a:r>
              <a:rPr sz="950" u="sng">
                <a:solidFill>
                  <a:srgbClr val="9B2247"/>
                </a:solidFill>
                <a:latin typeface="Montserrat"/>
                <a:hlinkClick r:id="rId7"/>
              </a:rPr>
              <a:t>Senado de la República. (2026, 20 may). Recibe el Congreso la iniciativa (Com. 014).</a:t>
            </a:r>
          </a:p>
        </p:txBody>
      </p:sp>
      <p:sp>
        <p:nvSpPr>
          <p:cNvPr id="19" name="TextBox 18"/>
          <p:cNvSpPr txBox="1"/>
          <p:nvPr/>
        </p:nvSpPr>
        <p:spPr>
          <a:xfrm>
            <a:off x="548640" y="3915294"/>
            <a:ext cx="164592" cy="405661"/>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20" name="TextBox 19"/>
          <p:cNvSpPr txBox="1"/>
          <p:nvPr/>
        </p:nvSpPr>
        <p:spPr>
          <a:xfrm>
            <a:off x="768096" y="4026685"/>
            <a:ext cx="10874959" cy="274320"/>
          </a:xfrm>
          <a:prstGeom prst="rect">
            <a:avLst/>
          </a:prstGeom>
          <a:noFill/>
        </p:spPr>
        <p:txBody>
          <a:bodyPr wrap="square" lIns="0" rIns="0" tIns="0" bIns="0">
            <a:spAutoFit/>
          </a:bodyPr>
          <a:lstStyle/>
          <a:p>
            <a:r>
              <a:rPr sz="950" u="sng">
                <a:solidFill>
                  <a:srgbClr val="9B2247"/>
                </a:solidFill>
                <a:latin typeface="Montserrat"/>
                <a:hlinkClick r:id="rId8"/>
              </a:rPr>
              <a:t>Senado de la República. (2026, 28 may). Aprueban comisiones la reforma (Com. 1457).</a:t>
            </a:r>
          </a:p>
        </p:txBody>
      </p:sp>
      <p:sp>
        <p:nvSpPr>
          <p:cNvPr id="21" name="TextBox 20"/>
          <p:cNvSpPr txBox="1"/>
          <p:nvPr/>
        </p:nvSpPr>
        <p:spPr>
          <a:xfrm>
            <a:off x="548640" y="4320955"/>
            <a:ext cx="164592" cy="405661"/>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22" name="TextBox 21"/>
          <p:cNvSpPr txBox="1"/>
          <p:nvPr/>
        </p:nvSpPr>
        <p:spPr>
          <a:xfrm>
            <a:off x="768096" y="4432346"/>
            <a:ext cx="10874959" cy="274320"/>
          </a:xfrm>
          <a:prstGeom prst="rect">
            <a:avLst/>
          </a:prstGeom>
          <a:noFill/>
        </p:spPr>
        <p:txBody>
          <a:bodyPr wrap="square" lIns="0" rIns="0" tIns="0" bIns="0">
            <a:spAutoFit/>
          </a:bodyPr>
          <a:lstStyle/>
          <a:p>
            <a:r>
              <a:rPr sz="950" u="sng">
                <a:solidFill>
                  <a:srgbClr val="9B2247"/>
                </a:solidFill>
                <a:latin typeface="Montserrat"/>
                <a:hlinkClick r:id="rId9"/>
              </a:rPr>
              <a:t>Senado de la República. (2026, 29 may). Senado aprueba la reforma (Com. 1466).</a:t>
            </a:r>
          </a:p>
        </p:txBody>
      </p:sp>
      <p:sp>
        <p:nvSpPr>
          <p:cNvPr id="23" name="TextBox 22"/>
          <p:cNvSpPr txBox="1"/>
          <p:nvPr/>
        </p:nvSpPr>
        <p:spPr>
          <a:xfrm>
            <a:off x="548640" y="4726616"/>
            <a:ext cx="164592" cy="405661"/>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24" name="TextBox 23"/>
          <p:cNvSpPr txBox="1"/>
          <p:nvPr/>
        </p:nvSpPr>
        <p:spPr>
          <a:xfrm>
            <a:off x="768096" y="4838007"/>
            <a:ext cx="10874959" cy="274320"/>
          </a:xfrm>
          <a:prstGeom prst="rect">
            <a:avLst/>
          </a:prstGeom>
          <a:noFill/>
        </p:spPr>
        <p:txBody>
          <a:bodyPr wrap="square" lIns="0" rIns="0" tIns="0" bIns="0">
            <a:spAutoFit/>
          </a:bodyPr>
          <a:lstStyle/>
          <a:p>
            <a:r>
              <a:rPr sz="950" u="sng">
                <a:solidFill>
                  <a:srgbClr val="9B2247"/>
                </a:solidFill>
                <a:latin typeface="Montserrat"/>
                <a:hlinkClick r:id="rId10"/>
              </a:rPr>
              <a:t>Instituto Nacional Electoral. (2026, 13 may). Diagnostico técnico para el aplazamiento (Com. 176).</a:t>
            </a:r>
          </a:p>
        </p:txBody>
      </p:sp>
      <p:sp>
        <p:nvSpPr>
          <p:cNvPr id="25" name="TextBox 24"/>
          <p:cNvSpPr txBox="1"/>
          <p:nvPr/>
        </p:nvSpPr>
        <p:spPr>
          <a:xfrm>
            <a:off x="548640" y="5132277"/>
            <a:ext cx="164592" cy="405661"/>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26" name="TextBox 25"/>
          <p:cNvSpPr txBox="1"/>
          <p:nvPr/>
        </p:nvSpPr>
        <p:spPr>
          <a:xfrm>
            <a:off x="768096" y="5243668"/>
            <a:ext cx="10874959" cy="274320"/>
          </a:xfrm>
          <a:prstGeom prst="rect">
            <a:avLst/>
          </a:prstGeom>
          <a:noFill/>
        </p:spPr>
        <p:txBody>
          <a:bodyPr wrap="square" lIns="0" rIns="0" tIns="0" bIns="0">
            <a:spAutoFit/>
          </a:bodyPr>
          <a:lstStyle/>
          <a:p>
            <a:r>
              <a:rPr sz="950" u="sng">
                <a:solidFill>
                  <a:srgbClr val="9B2247"/>
                </a:solidFill>
                <a:latin typeface="Montserrat"/>
                <a:hlinkClick r:id="rId11"/>
              </a:rPr>
              <a:t>Instituto Nacional Electoral. (2025, 18 dic). Informe final de la evaluación integral del PEEPJF 2024-2025 (Com. 370).</a:t>
            </a:r>
          </a:p>
        </p:txBody>
      </p:sp>
      <p:sp>
        <p:nvSpPr>
          <p:cNvPr id="27" name="TextBox 26"/>
          <p:cNvSpPr txBox="1"/>
          <p:nvPr/>
        </p:nvSpPr>
        <p:spPr>
          <a:xfrm>
            <a:off x="548640" y="5537938"/>
            <a:ext cx="164592" cy="405661"/>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28" name="TextBox 27"/>
          <p:cNvSpPr txBox="1"/>
          <p:nvPr/>
        </p:nvSpPr>
        <p:spPr>
          <a:xfrm>
            <a:off x="768096" y="5649329"/>
            <a:ext cx="10874959" cy="274320"/>
          </a:xfrm>
          <a:prstGeom prst="rect">
            <a:avLst/>
          </a:prstGeom>
          <a:noFill/>
        </p:spPr>
        <p:txBody>
          <a:bodyPr wrap="square" lIns="0" rIns="0" tIns="0" bIns="0">
            <a:spAutoFit/>
          </a:bodyPr>
          <a:lstStyle/>
          <a:p>
            <a:r>
              <a:rPr sz="950" u="sng">
                <a:solidFill>
                  <a:srgbClr val="9B2247"/>
                </a:solidFill>
                <a:latin typeface="Montserrat"/>
                <a:hlinkClick r:id="rId12"/>
              </a:rPr>
              <a:t>Presidencia de la República. (2026, 3 jun). La Mañanera del Pueblo. Gobierno de México.</a:t>
            </a:r>
          </a:p>
        </p:txBody>
      </p:sp>
      <p:sp>
        <p:nvSpPr>
          <p:cNvPr id="29" name="Rectangle 28"/>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REFERENCIAS</a:t>
            </a:r>
          </a:p>
        </p:txBody>
      </p:sp>
      <p:sp>
        <p:nvSpPr>
          <p:cNvPr id="32" name="TextBox 31"/>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17 / 48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286000"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REFERENCIAS - ACADÉMICAS</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Fuentes académicas y organismos internacionales</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81328"/>
            <a:ext cx="164592" cy="371856"/>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8" name="TextBox 7"/>
          <p:cNvSpPr txBox="1"/>
          <p:nvPr/>
        </p:nvSpPr>
        <p:spPr>
          <a:xfrm>
            <a:off x="768096" y="1575816"/>
            <a:ext cx="10874959" cy="274320"/>
          </a:xfrm>
          <a:prstGeom prst="rect">
            <a:avLst/>
          </a:prstGeom>
          <a:noFill/>
        </p:spPr>
        <p:txBody>
          <a:bodyPr wrap="square" lIns="0" rIns="0" tIns="0" bIns="0">
            <a:spAutoFit/>
          </a:bodyPr>
          <a:lstStyle/>
          <a:p>
            <a:r>
              <a:rPr sz="950" u="sng">
                <a:solidFill>
                  <a:srgbClr val="9B2247"/>
                </a:solidFill>
                <a:latin typeface="Montserrat"/>
                <a:hlinkClick r:id="rId2"/>
              </a:rPr>
              <a:t>Instituto de Investigaciones Jurídicas de la UNAM. (2026). Informe académico sobre la reforma judicial de 2024 (Valadés y Lopez Ayllón, Coords.).</a:t>
            </a:r>
          </a:p>
        </p:txBody>
      </p:sp>
      <p:sp>
        <p:nvSpPr>
          <p:cNvPr id="9" name="TextBox 8"/>
          <p:cNvSpPr txBox="1"/>
          <p:nvPr/>
        </p:nvSpPr>
        <p:spPr>
          <a:xfrm>
            <a:off x="548640" y="1853184"/>
            <a:ext cx="164592" cy="371856"/>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10" name="TextBox 9"/>
          <p:cNvSpPr txBox="1"/>
          <p:nvPr/>
        </p:nvSpPr>
        <p:spPr>
          <a:xfrm>
            <a:off x="768096" y="1947672"/>
            <a:ext cx="10874959" cy="274320"/>
          </a:xfrm>
          <a:prstGeom prst="rect">
            <a:avLst/>
          </a:prstGeom>
          <a:noFill/>
        </p:spPr>
        <p:txBody>
          <a:bodyPr wrap="square" lIns="0" rIns="0" tIns="0" bIns="0">
            <a:spAutoFit/>
          </a:bodyPr>
          <a:lstStyle/>
          <a:p>
            <a:r>
              <a:rPr sz="950" u="sng">
                <a:solidFill>
                  <a:srgbClr val="9B2247"/>
                </a:solidFill>
                <a:latin typeface="Montserrat"/>
                <a:hlinkClick r:id="rId3"/>
              </a:rPr>
              <a:t>Romero Mireles, L. L. (2026, 1 jun). Reforma judicial, un modelo improvisado. Gaceta UNAM, 5657.</a:t>
            </a:r>
          </a:p>
        </p:txBody>
      </p:sp>
      <p:sp>
        <p:nvSpPr>
          <p:cNvPr id="11" name="TextBox 10"/>
          <p:cNvSpPr txBox="1"/>
          <p:nvPr/>
        </p:nvSpPr>
        <p:spPr>
          <a:xfrm>
            <a:off x="548640" y="2225040"/>
            <a:ext cx="164592" cy="371856"/>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12" name="TextBox 11"/>
          <p:cNvSpPr txBox="1"/>
          <p:nvPr/>
        </p:nvSpPr>
        <p:spPr>
          <a:xfrm>
            <a:off x="768096" y="2319528"/>
            <a:ext cx="10874959" cy="274320"/>
          </a:xfrm>
          <a:prstGeom prst="rect">
            <a:avLst/>
          </a:prstGeom>
          <a:noFill/>
        </p:spPr>
        <p:txBody>
          <a:bodyPr wrap="square" lIns="0" rIns="0" tIns="0" bIns="0">
            <a:spAutoFit/>
          </a:bodyPr>
          <a:lstStyle/>
          <a:p>
            <a:r>
              <a:rPr sz="950" u="sng">
                <a:solidFill>
                  <a:srgbClr val="9B2247"/>
                </a:solidFill>
                <a:latin typeface="Montserrat"/>
                <a:hlinkClick r:id="rId4"/>
              </a:rPr>
              <a:t>Cortez Salinas, J. (2026). Los factores detras de la reforma del Poder Judicial. Cuestiones Constitucionales, 27(55).</a:t>
            </a:r>
          </a:p>
        </p:txBody>
      </p:sp>
      <p:sp>
        <p:nvSpPr>
          <p:cNvPr id="13" name="TextBox 12"/>
          <p:cNvSpPr txBox="1"/>
          <p:nvPr/>
        </p:nvSpPr>
        <p:spPr>
          <a:xfrm>
            <a:off x="548640" y="2596896"/>
            <a:ext cx="164592" cy="371856"/>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14" name="TextBox 13"/>
          <p:cNvSpPr txBox="1"/>
          <p:nvPr/>
        </p:nvSpPr>
        <p:spPr>
          <a:xfrm>
            <a:off x="768096" y="2691384"/>
            <a:ext cx="10874959" cy="274320"/>
          </a:xfrm>
          <a:prstGeom prst="rect">
            <a:avLst/>
          </a:prstGeom>
          <a:noFill/>
        </p:spPr>
        <p:txBody>
          <a:bodyPr wrap="square" lIns="0" rIns="0" tIns="0" bIns="0">
            <a:spAutoFit/>
          </a:bodyPr>
          <a:lstStyle/>
          <a:p>
            <a:r>
              <a:rPr sz="950" u="sng">
                <a:solidFill>
                  <a:srgbClr val="9B2247"/>
                </a:solidFill>
                <a:latin typeface="Montserrat"/>
                <a:hlinkClick r:id="rId5"/>
              </a:rPr>
              <a:t>Flores, I. B. (2026). La reforma judicial y las no-elecciones judiciales. Cuestiones Constitucionales, 27(55).</a:t>
            </a:r>
          </a:p>
        </p:txBody>
      </p:sp>
      <p:sp>
        <p:nvSpPr>
          <p:cNvPr id="15" name="TextBox 14"/>
          <p:cNvSpPr txBox="1"/>
          <p:nvPr/>
        </p:nvSpPr>
        <p:spPr>
          <a:xfrm>
            <a:off x="548640" y="2968752"/>
            <a:ext cx="164592" cy="371856"/>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16" name="TextBox 15"/>
          <p:cNvSpPr txBox="1"/>
          <p:nvPr/>
        </p:nvSpPr>
        <p:spPr>
          <a:xfrm>
            <a:off x="768096" y="3063240"/>
            <a:ext cx="10874959" cy="274320"/>
          </a:xfrm>
          <a:prstGeom prst="rect">
            <a:avLst/>
          </a:prstGeom>
          <a:noFill/>
        </p:spPr>
        <p:txBody>
          <a:bodyPr wrap="square" lIns="0" rIns="0" tIns="0" bIns="0">
            <a:spAutoFit/>
          </a:bodyPr>
          <a:lstStyle/>
          <a:p>
            <a:r>
              <a:rPr sz="950" u="sng">
                <a:solidFill>
                  <a:srgbClr val="9B2247"/>
                </a:solidFill>
                <a:latin typeface="Montserrat"/>
                <a:hlinkClick r:id="rId6"/>
              </a:rPr>
              <a:t>Cossío Díaz, J. R. (2025). Crónica de la infame reforma judicial mexicana del 2024. REDC, 134.</a:t>
            </a:r>
          </a:p>
        </p:txBody>
      </p:sp>
      <p:sp>
        <p:nvSpPr>
          <p:cNvPr id="17" name="TextBox 16"/>
          <p:cNvSpPr txBox="1"/>
          <p:nvPr/>
        </p:nvSpPr>
        <p:spPr>
          <a:xfrm>
            <a:off x="548640" y="3340608"/>
            <a:ext cx="164592" cy="371856"/>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18" name="TextBox 17"/>
          <p:cNvSpPr txBox="1"/>
          <p:nvPr/>
        </p:nvSpPr>
        <p:spPr>
          <a:xfrm>
            <a:off x="768096" y="3435096"/>
            <a:ext cx="10874959" cy="274320"/>
          </a:xfrm>
          <a:prstGeom prst="rect">
            <a:avLst/>
          </a:prstGeom>
          <a:noFill/>
        </p:spPr>
        <p:txBody>
          <a:bodyPr wrap="square" lIns="0" rIns="0" tIns="0" bIns="0">
            <a:spAutoFit/>
          </a:bodyPr>
          <a:lstStyle/>
          <a:p>
            <a:r>
              <a:rPr sz="950" u="sng">
                <a:solidFill>
                  <a:srgbClr val="9B2247"/>
                </a:solidFill>
                <a:latin typeface="Montserrat"/>
                <a:hlinkClick r:id="rId7"/>
              </a:rPr>
              <a:t>Fernández Riveira, R. (2026). La reforma judicial en México y la jornada del 1 de junio de 2025. TRC, 57.</a:t>
            </a:r>
          </a:p>
        </p:txBody>
      </p:sp>
      <p:sp>
        <p:nvSpPr>
          <p:cNvPr id="19" name="TextBox 18"/>
          <p:cNvSpPr txBox="1"/>
          <p:nvPr/>
        </p:nvSpPr>
        <p:spPr>
          <a:xfrm>
            <a:off x="548640" y="3712464"/>
            <a:ext cx="164592" cy="371856"/>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20" name="TextBox 19"/>
          <p:cNvSpPr txBox="1"/>
          <p:nvPr/>
        </p:nvSpPr>
        <p:spPr>
          <a:xfrm>
            <a:off x="768096" y="3806952"/>
            <a:ext cx="10874959" cy="274320"/>
          </a:xfrm>
          <a:prstGeom prst="rect">
            <a:avLst/>
          </a:prstGeom>
          <a:noFill/>
        </p:spPr>
        <p:txBody>
          <a:bodyPr wrap="square" lIns="0" rIns="0" tIns="0" bIns="0">
            <a:spAutoFit/>
          </a:bodyPr>
          <a:lstStyle/>
          <a:p>
            <a:r>
              <a:rPr sz="950" u="sng">
                <a:solidFill>
                  <a:srgbClr val="9B2247"/>
                </a:solidFill>
                <a:latin typeface="Montserrat"/>
                <a:hlinkClick r:id="rId8"/>
              </a:rPr>
              <a:t>Gómez Marinero, C. M. (2026). La reforma judicial mexicana de 2024. Reforma Judicial, 18(36).</a:t>
            </a:r>
          </a:p>
        </p:txBody>
      </p:sp>
      <p:sp>
        <p:nvSpPr>
          <p:cNvPr id="21" name="TextBox 20"/>
          <p:cNvSpPr txBox="1"/>
          <p:nvPr/>
        </p:nvSpPr>
        <p:spPr>
          <a:xfrm>
            <a:off x="548640" y="4084320"/>
            <a:ext cx="164592" cy="371856"/>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22" name="TextBox 21"/>
          <p:cNvSpPr txBox="1"/>
          <p:nvPr/>
        </p:nvSpPr>
        <p:spPr>
          <a:xfrm>
            <a:off x="768096" y="4178808"/>
            <a:ext cx="10874959" cy="274320"/>
          </a:xfrm>
          <a:prstGeom prst="rect">
            <a:avLst/>
          </a:prstGeom>
          <a:noFill/>
        </p:spPr>
        <p:txBody>
          <a:bodyPr wrap="square" lIns="0" rIns="0" tIns="0" bIns="0">
            <a:spAutoFit/>
          </a:bodyPr>
          <a:lstStyle/>
          <a:p>
            <a:r>
              <a:rPr sz="950" u="sng">
                <a:solidFill>
                  <a:srgbClr val="9B2247"/>
                </a:solidFill>
                <a:latin typeface="Montserrat"/>
                <a:hlinkClick r:id="rId9"/>
              </a:rPr>
              <a:t>Garduño Ibarra, B. E. (2025). Reforma al Poder Judicial en México... CEC-SCJN.</a:t>
            </a:r>
          </a:p>
        </p:txBody>
      </p:sp>
      <p:sp>
        <p:nvSpPr>
          <p:cNvPr id="23" name="TextBox 22"/>
          <p:cNvSpPr txBox="1"/>
          <p:nvPr/>
        </p:nvSpPr>
        <p:spPr>
          <a:xfrm>
            <a:off x="548640" y="4456176"/>
            <a:ext cx="164592" cy="371856"/>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24" name="TextBox 23"/>
          <p:cNvSpPr txBox="1"/>
          <p:nvPr/>
        </p:nvSpPr>
        <p:spPr>
          <a:xfrm>
            <a:off x="768096" y="4550664"/>
            <a:ext cx="10874959" cy="274320"/>
          </a:xfrm>
          <a:prstGeom prst="rect">
            <a:avLst/>
          </a:prstGeom>
          <a:noFill/>
        </p:spPr>
        <p:txBody>
          <a:bodyPr wrap="square" lIns="0" rIns="0" tIns="0" bIns="0">
            <a:spAutoFit/>
          </a:bodyPr>
          <a:lstStyle/>
          <a:p>
            <a:r>
              <a:rPr sz="950" u="sng">
                <a:solidFill>
                  <a:srgbClr val="9B2247"/>
                </a:solidFill>
                <a:latin typeface="Montserrat"/>
                <a:hlinkClick r:id="rId10"/>
              </a:rPr>
              <a:t>México Evalua. (2026). Aplazar las elecciones judiciales a 2028 podria dar tiempo a mejorar la selección.</a:t>
            </a:r>
          </a:p>
        </p:txBody>
      </p:sp>
      <p:sp>
        <p:nvSpPr>
          <p:cNvPr id="25" name="TextBox 24"/>
          <p:cNvSpPr txBox="1"/>
          <p:nvPr/>
        </p:nvSpPr>
        <p:spPr>
          <a:xfrm>
            <a:off x="548640" y="4828032"/>
            <a:ext cx="164592" cy="371856"/>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26" name="TextBox 25"/>
          <p:cNvSpPr txBox="1"/>
          <p:nvPr/>
        </p:nvSpPr>
        <p:spPr>
          <a:xfrm>
            <a:off x="768096" y="4922520"/>
            <a:ext cx="10874959" cy="274320"/>
          </a:xfrm>
          <a:prstGeom prst="rect">
            <a:avLst/>
          </a:prstGeom>
          <a:noFill/>
        </p:spPr>
        <p:txBody>
          <a:bodyPr wrap="square" lIns="0" rIns="0" tIns="0" bIns="0">
            <a:spAutoFit/>
          </a:bodyPr>
          <a:lstStyle/>
          <a:p>
            <a:r>
              <a:rPr sz="950" u="sng">
                <a:solidFill>
                  <a:srgbClr val="9B2247"/>
                </a:solidFill>
                <a:latin typeface="Montserrat"/>
                <a:hlinkClick r:id="rId11"/>
              </a:rPr>
              <a:t>CIDH. (2024, 12 sep). México: posibles afectaciones a la independencia judicial (Com. 213/24). OEA.</a:t>
            </a:r>
          </a:p>
        </p:txBody>
      </p:sp>
      <p:sp>
        <p:nvSpPr>
          <p:cNvPr id="27" name="TextBox 26"/>
          <p:cNvSpPr txBox="1"/>
          <p:nvPr/>
        </p:nvSpPr>
        <p:spPr>
          <a:xfrm>
            <a:off x="548640" y="5199888"/>
            <a:ext cx="164592" cy="371856"/>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28" name="TextBox 27"/>
          <p:cNvSpPr txBox="1"/>
          <p:nvPr/>
        </p:nvSpPr>
        <p:spPr>
          <a:xfrm>
            <a:off x="768096" y="5294376"/>
            <a:ext cx="10874959" cy="274320"/>
          </a:xfrm>
          <a:prstGeom prst="rect">
            <a:avLst/>
          </a:prstGeom>
          <a:noFill/>
        </p:spPr>
        <p:txBody>
          <a:bodyPr wrap="square" lIns="0" rIns="0" tIns="0" bIns="0">
            <a:spAutoFit/>
          </a:bodyPr>
          <a:lstStyle/>
          <a:p>
            <a:r>
              <a:rPr sz="950" u="sng">
                <a:solidFill>
                  <a:srgbClr val="9B2247"/>
                </a:solidFill>
                <a:latin typeface="Montserrat"/>
                <a:hlinkClick r:id="rId12"/>
              </a:rPr>
              <a:t>Satterthwaite, M. (2024, 29 jul). Comunicación al Gobierno de México (OL MEX 11/2024). OACNUDH.</a:t>
            </a:r>
          </a:p>
        </p:txBody>
      </p:sp>
      <p:sp>
        <p:nvSpPr>
          <p:cNvPr id="29" name="TextBox 28"/>
          <p:cNvSpPr txBox="1"/>
          <p:nvPr/>
        </p:nvSpPr>
        <p:spPr>
          <a:xfrm>
            <a:off x="548640" y="5571744"/>
            <a:ext cx="164592" cy="371856"/>
          </a:xfrm>
          <a:prstGeom prst="rect">
            <a:avLst/>
          </a:prstGeom>
          <a:noFill/>
        </p:spPr>
        <p:txBody>
          <a:bodyPr wrap="square" anchor="ctr" lIns="0" rIns="0" tIns="0" bIns="0">
            <a:spAutoFit/>
          </a:bodyPr>
          <a:lstStyle/>
          <a:p>
            <a:pPr algn="l">
              <a:lnSpc>
                <a:spcPct val="115000"/>
              </a:lnSpc>
            </a:pPr>
            <a:r>
              <a:rPr sz="900" b="1">
                <a:solidFill>
                  <a:srgbClr val="A57F2C"/>
                </a:solidFill>
                <a:latin typeface="Montserrat"/>
              </a:rPr>
              <a:t>◆</a:t>
            </a:r>
          </a:p>
        </p:txBody>
      </p:sp>
      <p:sp>
        <p:nvSpPr>
          <p:cNvPr id="30" name="TextBox 29"/>
          <p:cNvSpPr txBox="1"/>
          <p:nvPr/>
        </p:nvSpPr>
        <p:spPr>
          <a:xfrm>
            <a:off x="768096" y="5666232"/>
            <a:ext cx="10874959" cy="274320"/>
          </a:xfrm>
          <a:prstGeom prst="rect">
            <a:avLst/>
          </a:prstGeom>
          <a:noFill/>
        </p:spPr>
        <p:txBody>
          <a:bodyPr wrap="square" lIns="0" rIns="0" tIns="0" bIns="0">
            <a:spAutoFit/>
          </a:bodyPr>
          <a:lstStyle/>
          <a:p>
            <a:r>
              <a:rPr sz="950" u="sng">
                <a:solidFill>
                  <a:srgbClr val="9B2247"/>
                </a:solidFill>
                <a:latin typeface="Montserrat"/>
                <a:hlinkClick r:id="rId13"/>
              </a:rPr>
              <a:t>OEA - MOE. (2025). Informe preliminar de las elecciones del Poder Judicial en México 2025.</a:t>
            </a:r>
          </a:p>
        </p:txBody>
      </p:sp>
      <p:sp>
        <p:nvSpPr>
          <p:cNvPr id="31" name="Rectangle 30"/>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REFERENCIAS</a:t>
            </a:r>
          </a:p>
        </p:txBody>
      </p:sp>
      <p:sp>
        <p:nvSpPr>
          <p:cNvPr id="34" name="TextBox 33"/>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18 / 48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1956815"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REFERENCIAS - PRENSA</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Prensa y opinion pública por orientación editorial</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63040"/>
            <a:ext cx="11094415" cy="274320"/>
          </a:xfrm>
          <a:prstGeom prst="rect">
            <a:avLst/>
          </a:prstGeom>
          <a:noFill/>
        </p:spPr>
        <p:txBody>
          <a:bodyPr wrap="square" anchor="t" lIns="0" rIns="0" tIns="0" bIns="0">
            <a:spAutoFit/>
          </a:bodyPr>
          <a:lstStyle/>
          <a:p>
            <a:pPr algn="l">
              <a:lnSpc>
                <a:spcPct val="115000"/>
              </a:lnSpc>
            </a:pPr>
            <a:r>
              <a:rPr sz="1150" b="1">
                <a:solidFill>
                  <a:srgbClr val="1E5B4F"/>
                </a:solidFill>
                <a:latin typeface="Montserrat"/>
              </a:rPr>
              <a:t>Pro-gobierno / afin 4T</a:t>
            </a:r>
          </a:p>
        </p:txBody>
      </p:sp>
      <p:sp>
        <p:nvSpPr>
          <p:cNvPr id="8" name="TextBox 7"/>
          <p:cNvSpPr txBox="1"/>
          <p:nvPr/>
        </p:nvSpPr>
        <p:spPr>
          <a:xfrm>
            <a:off x="640080" y="1764792"/>
            <a:ext cx="164592" cy="256032"/>
          </a:xfrm>
          <a:prstGeom prst="rect">
            <a:avLst/>
          </a:prstGeom>
          <a:noFill/>
        </p:spPr>
        <p:txBody>
          <a:bodyPr wrap="square" anchor="ctr" lIns="0" rIns="0" tIns="0" bIns="0">
            <a:spAutoFit/>
          </a:bodyPr>
          <a:lstStyle/>
          <a:p>
            <a:pPr algn="l">
              <a:lnSpc>
                <a:spcPct val="115000"/>
              </a:lnSpc>
            </a:pPr>
            <a:r>
              <a:rPr sz="850" b="1">
                <a:solidFill>
                  <a:srgbClr val="1E5B4F"/>
                </a:solidFill>
                <a:latin typeface="Montserrat"/>
              </a:rPr>
              <a:t>◆</a:t>
            </a:r>
          </a:p>
        </p:txBody>
      </p:sp>
      <p:sp>
        <p:nvSpPr>
          <p:cNvPr id="9" name="TextBox 8"/>
          <p:cNvSpPr txBox="1"/>
          <p:nvPr/>
        </p:nvSpPr>
        <p:spPr>
          <a:xfrm>
            <a:off x="859536" y="1783080"/>
            <a:ext cx="10783519" cy="256032"/>
          </a:xfrm>
          <a:prstGeom prst="rect">
            <a:avLst/>
          </a:prstGeom>
          <a:noFill/>
        </p:spPr>
        <p:txBody>
          <a:bodyPr wrap="square" lIns="0" rIns="0" tIns="0" bIns="0">
            <a:spAutoFit/>
          </a:bodyPr>
          <a:lstStyle/>
          <a:p>
            <a:r>
              <a:rPr sz="900" u="sng">
                <a:solidFill>
                  <a:srgbClr val="9B2247"/>
                </a:solidFill>
                <a:latin typeface="Montserrat"/>
                <a:hlinkClick r:id="rId2"/>
              </a:rPr>
              <a:t>La Jornada. (2026, 1 jun). Congreso declara constitucional la reforma que pospone la elección al 2028.</a:t>
            </a:r>
          </a:p>
        </p:txBody>
      </p:sp>
      <p:sp>
        <p:nvSpPr>
          <p:cNvPr id="10" name="TextBox 9"/>
          <p:cNvSpPr txBox="1"/>
          <p:nvPr/>
        </p:nvSpPr>
        <p:spPr>
          <a:xfrm>
            <a:off x="640080" y="2039112"/>
            <a:ext cx="164592" cy="256032"/>
          </a:xfrm>
          <a:prstGeom prst="rect">
            <a:avLst/>
          </a:prstGeom>
          <a:noFill/>
        </p:spPr>
        <p:txBody>
          <a:bodyPr wrap="square" anchor="ctr" lIns="0" rIns="0" tIns="0" bIns="0">
            <a:spAutoFit/>
          </a:bodyPr>
          <a:lstStyle/>
          <a:p>
            <a:pPr algn="l">
              <a:lnSpc>
                <a:spcPct val="115000"/>
              </a:lnSpc>
            </a:pPr>
            <a:r>
              <a:rPr sz="850" b="1">
                <a:solidFill>
                  <a:srgbClr val="1E5B4F"/>
                </a:solidFill>
                <a:latin typeface="Montserrat"/>
              </a:rPr>
              <a:t>◆</a:t>
            </a:r>
          </a:p>
        </p:txBody>
      </p:sp>
      <p:sp>
        <p:nvSpPr>
          <p:cNvPr id="11" name="TextBox 10"/>
          <p:cNvSpPr txBox="1"/>
          <p:nvPr/>
        </p:nvSpPr>
        <p:spPr>
          <a:xfrm>
            <a:off x="859536" y="2057400"/>
            <a:ext cx="10783519" cy="256032"/>
          </a:xfrm>
          <a:prstGeom prst="rect">
            <a:avLst/>
          </a:prstGeom>
          <a:noFill/>
        </p:spPr>
        <p:txBody>
          <a:bodyPr wrap="square" lIns="0" rIns="0" tIns="0" bIns="0">
            <a:spAutoFit/>
          </a:bodyPr>
          <a:lstStyle/>
          <a:p>
            <a:r>
              <a:rPr sz="900" u="sng">
                <a:solidFill>
                  <a:srgbClr val="9B2247"/>
                </a:solidFill>
                <a:latin typeface="Montserrat"/>
                <a:hlinkClick r:id="rId3"/>
              </a:rPr>
              <a:t>La Jornada. (2026, 29 may). Avala Senado la reforma que pospone de 2027 a 2028 la elección judicial.</a:t>
            </a:r>
          </a:p>
        </p:txBody>
      </p:sp>
      <p:sp>
        <p:nvSpPr>
          <p:cNvPr id="12" name="TextBox 11"/>
          <p:cNvSpPr txBox="1"/>
          <p:nvPr/>
        </p:nvSpPr>
        <p:spPr>
          <a:xfrm>
            <a:off x="548640" y="2368296"/>
            <a:ext cx="11094415" cy="274320"/>
          </a:xfrm>
          <a:prstGeom prst="rect">
            <a:avLst/>
          </a:prstGeom>
          <a:noFill/>
        </p:spPr>
        <p:txBody>
          <a:bodyPr wrap="square" anchor="t" lIns="0" rIns="0" tIns="0" bIns="0">
            <a:spAutoFit/>
          </a:bodyPr>
          <a:lstStyle/>
          <a:p>
            <a:pPr algn="l">
              <a:lnSpc>
                <a:spcPct val="115000"/>
              </a:lnSpc>
            </a:pPr>
            <a:r>
              <a:rPr sz="1150" b="1">
                <a:solidFill>
                  <a:srgbClr val="A57F2C"/>
                </a:solidFill>
                <a:latin typeface="Montserrat"/>
              </a:rPr>
              <a:t>Institucional / mixta</a:t>
            </a:r>
          </a:p>
        </p:txBody>
      </p:sp>
      <p:sp>
        <p:nvSpPr>
          <p:cNvPr id="13" name="TextBox 12"/>
          <p:cNvSpPr txBox="1"/>
          <p:nvPr/>
        </p:nvSpPr>
        <p:spPr>
          <a:xfrm>
            <a:off x="640080" y="2670048"/>
            <a:ext cx="164592" cy="256032"/>
          </a:xfrm>
          <a:prstGeom prst="rect">
            <a:avLst/>
          </a:prstGeom>
          <a:noFill/>
        </p:spPr>
        <p:txBody>
          <a:bodyPr wrap="square" anchor="ctr" lIns="0" rIns="0" tIns="0" bIns="0">
            <a:spAutoFit/>
          </a:bodyPr>
          <a:lstStyle/>
          <a:p>
            <a:pPr algn="l">
              <a:lnSpc>
                <a:spcPct val="115000"/>
              </a:lnSpc>
            </a:pPr>
            <a:r>
              <a:rPr sz="850" b="1">
                <a:solidFill>
                  <a:srgbClr val="A57F2C"/>
                </a:solidFill>
                <a:latin typeface="Montserrat"/>
              </a:rPr>
              <a:t>◆</a:t>
            </a:r>
          </a:p>
        </p:txBody>
      </p:sp>
      <p:sp>
        <p:nvSpPr>
          <p:cNvPr id="14" name="TextBox 13"/>
          <p:cNvSpPr txBox="1"/>
          <p:nvPr/>
        </p:nvSpPr>
        <p:spPr>
          <a:xfrm>
            <a:off x="859536" y="2688336"/>
            <a:ext cx="10783519" cy="256032"/>
          </a:xfrm>
          <a:prstGeom prst="rect">
            <a:avLst/>
          </a:prstGeom>
          <a:noFill/>
        </p:spPr>
        <p:txBody>
          <a:bodyPr wrap="square" lIns="0" rIns="0" tIns="0" bIns="0">
            <a:spAutoFit/>
          </a:bodyPr>
          <a:lstStyle/>
          <a:p>
            <a:r>
              <a:rPr sz="900" u="sng">
                <a:solidFill>
                  <a:srgbClr val="9B2247"/>
                </a:solidFill>
                <a:latin typeface="Montserrat"/>
                <a:hlinkClick r:id="rId4"/>
              </a:rPr>
              <a:t>Milenio. (2026, 2 jun). Reforma Judicial: que se modifica con la publicación en el DOF.</a:t>
            </a:r>
          </a:p>
        </p:txBody>
      </p:sp>
      <p:sp>
        <p:nvSpPr>
          <p:cNvPr id="15" name="TextBox 14"/>
          <p:cNvSpPr txBox="1"/>
          <p:nvPr/>
        </p:nvSpPr>
        <p:spPr>
          <a:xfrm>
            <a:off x="640080" y="2944368"/>
            <a:ext cx="164592" cy="256032"/>
          </a:xfrm>
          <a:prstGeom prst="rect">
            <a:avLst/>
          </a:prstGeom>
          <a:noFill/>
        </p:spPr>
        <p:txBody>
          <a:bodyPr wrap="square" anchor="ctr" lIns="0" rIns="0" tIns="0" bIns="0">
            <a:spAutoFit/>
          </a:bodyPr>
          <a:lstStyle/>
          <a:p>
            <a:pPr algn="l">
              <a:lnSpc>
                <a:spcPct val="115000"/>
              </a:lnSpc>
            </a:pPr>
            <a:r>
              <a:rPr sz="850" b="1">
                <a:solidFill>
                  <a:srgbClr val="A57F2C"/>
                </a:solidFill>
                <a:latin typeface="Montserrat"/>
              </a:rPr>
              <a:t>◆</a:t>
            </a:r>
          </a:p>
        </p:txBody>
      </p:sp>
      <p:sp>
        <p:nvSpPr>
          <p:cNvPr id="16" name="TextBox 15"/>
          <p:cNvSpPr txBox="1"/>
          <p:nvPr/>
        </p:nvSpPr>
        <p:spPr>
          <a:xfrm>
            <a:off x="859536" y="2962656"/>
            <a:ext cx="10783519" cy="256032"/>
          </a:xfrm>
          <a:prstGeom prst="rect">
            <a:avLst/>
          </a:prstGeom>
          <a:noFill/>
        </p:spPr>
        <p:txBody>
          <a:bodyPr wrap="square" lIns="0" rIns="0" tIns="0" bIns="0">
            <a:spAutoFit/>
          </a:bodyPr>
          <a:lstStyle/>
          <a:p>
            <a:r>
              <a:rPr sz="900" u="sng">
                <a:solidFill>
                  <a:srgbClr val="9B2247"/>
                </a:solidFill>
                <a:latin typeface="Montserrat"/>
                <a:hlinkClick r:id="rId5"/>
              </a:rPr>
              <a:t>Infobae. (2026, 3 jun). Reforma judicial entra en vigor: el gobierno explica el ABC de la ley.</a:t>
            </a:r>
          </a:p>
        </p:txBody>
      </p:sp>
      <p:sp>
        <p:nvSpPr>
          <p:cNvPr id="17" name="TextBox 16"/>
          <p:cNvSpPr txBox="1"/>
          <p:nvPr/>
        </p:nvSpPr>
        <p:spPr>
          <a:xfrm>
            <a:off x="640080" y="3218688"/>
            <a:ext cx="164592" cy="256032"/>
          </a:xfrm>
          <a:prstGeom prst="rect">
            <a:avLst/>
          </a:prstGeom>
          <a:noFill/>
        </p:spPr>
        <p:txBody>
          <a:bodyPr wrap="square" anchor="ctr" lIns="0" rIns="0" tIns="0" bIns="0">
            <a:spAutoFit/>
          </a:bodyPr>
          <a:lstStyle/>
          <a:p>
            <a:pPr algn="l">
              <a:lnSpc>
                <a:spcPct val="115000"/>
              </a:lnSpc>
            </a:pPr>
            <a:r>
              <a:rPr sz="850" b="1">
                <a:solidFill>
                  <a:srgbClr val="A57F2C"/>
                </a:solidFill>
                <a:latin typeface="Montserrat"/>
              </a:rPr>
              <a:t>◆</a:t>
            </a:r>
          </a:p>
        </p:txBody>
      </p:sp>
      <p:sp>
        <p:nvSpPr>
          <p:cNvPr id="18" name="TextBox 17"/>
          <p:cNvSpPr txBox="1"/>
          <p:nvPr/>
        </p:nvSpPr>
        <p:spPr>
          <a:xfrm>
            <a:off x="859536" y="3236976"/>
            <a:ext cx="10783519" cy="256032"/>
          </a:xfrm>
          <a:prstGeom prst="rect">
            <a:avLst/>
          </a:prstGeom>
          <a:noFill/>
        </p:spPr>
        <p:txBody>
          <a:bodyPr wrap="square" lIns="0" rIns="0" tIns="0" bIns="0">
            <a:spAutoFit/>
          </a:bodyPr>
          <a:lstStyle/>
          <a:p>
            <a:r>
              <a:rPr sz="900" u="sng">
                <a:solidFill>
                  <a:srgbClr val="9B2247"/>
                </a:solidFill>
                <a:latin typeface="Montserrat"/>
                <a:hlinkClick r:id="rId6"/>
              </a:rPr>
              <a:t>El Universal. (2026, 29 may). Senado turna a congresos estatales la reforma judicial.</a:t>
            </a:r>
          </a:p>
        </p:txBody>
      </p:sp>
      <p:sp>
        <p:nvSpPr>
          <p:cNvPr id="19" name="TextBox 18"/>
          <p:cNvSpPr txBox="1"/>
          <p:nvPr/>
        </p:nvSpPr>
        <p:spPr>
          <a:xfrm>
            <a:off x="548640" y="3547872"/>
            <a:ext cx="11094415" cy="274320"/>
          </a:xfrm>
          <a:prstGeom prst="rect">
            <a:avLst/>
          </a:prstGeom>
          <a:noFill/>
        </p:spPr>
        <p:txBody>
          <a:bodyPr wrap="square" anchor="t" lIns="0" rIns="0" tIns="0" bIns="0">
            <a:spAutoFit/>
          </a:bodyPr>
          <a:lstStyle/>
          <a:p>
            <a:pPr algn="l">
              <a:lnSpc>
                <a:spcPct val="115000"/>
              </a:lnSpc>
            </a:pPr>
            <a:r>
              <a:rPr sz="1150" b="1">
                <a:solidFill>
                  <a:srgbClr val="9B2247"/>
                </a:solidFill>
                <a:latin typeface="Montserrat"/>
              </a:rPr>
              <a:t>Critica / contra-gobierno</a:t>
            </a:r>
          </a:p>
        </p:txBody>
      </p:sp>
      <p:sp>
        <p:nvSpPr>
          <p:cNvPr id="20" name="TextBox 19"/>
          <p:cNvSpPr txBox="1"/>
          <p:nvPr/>
        </p:nvSpPr>
        <p:spPr>
          <a:xfrm>
            <a:off x="640080" y="3849624"/>
            <a:ext cx="164592" cy="256032"/>
          </a:xfrm>
          <a:prstGeom prst="rect">
            <a:avLst/>
          </a:prstGeom>
          <a:noFill/>
        </p:spPr>
        <p:txBody>
          <a:bodyPr wrap="square" anchor="ctr" lIns="0" rIns="0" tIns="0" bIns="0">
            <a:spAutoFit/>
          </a:bodyPr>
          <a:lstStyle/>
          <a:p>
            <a:pPr algn="l">
              <a:lnSpc>
                <a:spcPct val="115000"/>
              </a:lnSpc>
            </a:pPr>
            <a:r>
              <a:rPr sz="850" b="1">
                <a:solidFill>
                  <a:srgbClr val="9B2247"/>
                </a:solidFill>
                <a:latin typeface="Montserrat"/>
              </a:rPr>
              <a:t>◆</a:t>
            </a:r>
          </a:p>
        </p:txBody>
      </p:sp>
      <p:sp>
        <p:nvSpPr>
          <p:cNvPr id="21" name="TextBox 20"/>
          <p:cNvSpPr txBox="1"/>
          <p:nvPr/>
        </p:nvSpPr>
        <p:spPr>
          <a:xfrm>
            <a:off x="859536" y="3867912"/>
            <a:ext cx="10783519" cy="256032"/>
          </a:xfrm>
          <a:prstGeom prst="rect">
            <a:avLst/>
          </a:prstGeom>
          <a:noFill/>
        </p:spPr>
        <p:txBody>
          <a:bodyPr wrap="square" lIns="0" rIns="0" tIns="0" bIns="0">
            <a:spAutoFit/>
          </a:bodyPr>
          <a:lstStyle/>
          <a:p>
            <a:r>
              <a:rPr sz="900" u="sng">
                <a:solidFill>
                  <a:srgbClr val="9B2247"/>
                </a:solidFill>
                <a:latin typeface="Montserrat"/>
                <a:hlinkClick r:id="rId7"/>
              </a:rPr>
              <a:t>Reforma. (2026, 20 may). Segunda reforma judicial [Columna de L. C. Ugalde].</a:t>
            </a:r>
          </a:p>
        </p:txBody>
      </p:sp>
      <p:sp>
        <p:nvSpPr>
          <p:cNvPr id="22" name="TextBox 21"/>
          <p:cNvSpPr txBox="1"/>
          <p:nvPr/>
        </p:nvSpPr>
        <p:spPr>
          <a:xfrm>
            <a:off x="640080" y="4123944"/>
            <a:ext cx="164592" cy="256032"/>
          </a:xfrm>
          <a:prstGeom prst="rect">
            <a:avLst/>
          </a:prstGeom>
          <a:noFill/>
        </p:spPr>
        <p:txBody>
          <a:bodyPr wrap="square" anchor="ctr" lIns="0" rIns="0" tIns="0" bIns="0">
            <a:spAutoFit/>
          </a:bodyPr>
          <a:lstStyle/>
          <a:p>
            <a:pPr algn="l">
              <a:lnSpc>
                <a:spcPct val="115000"/>
              </a:lnSpc>
            </a:pPr>
            <a:r>
              <a:rPr sz="850" b="1">
                <a:solidFill>
                  <a:srgbClr val="9B2247"/>
                </a:solidFill>
                <a:latin typeface="Montserrat"/>
              </a:rPr>
              <a:t>◆</a:t>
            </a:r>
          </a:p>
        </p:txBody>
      </p:sp>
      <p:sp>
        <p:nvSpPr>
          <p:cNvPr id="23" name="TextBox 22"/>
          <p:cNvSpPr txBox="1"/>
          <p:nvPr/>
        </p:nvSpPr>
        <p:spPr>
          <a:xfrm>
            <a:off x="859536" y="4142232"/>
            <a:ext cx="10783519" cy="256032"/>
          </a:xfrm>
          <a:prstGeom prst="rect">
            <a:avLst/>
          </a:prstGeom>
          <a:noFill/>
        </p:spPr>
        <p:txBody>
          <a:bodyPr wrap="square" lIns="0" rIns="0" tIns="0" bIns="0">
            <a:spAutoFit/>
          </a:bodyPr>
          <a:lstStyle/>
          <a:p>
            <a:r>
              <a:rPr sz="900" u="sng">
                <a:solidFill>
                  <a:srgbClr val="9B2247"/>
                </a:solidFill>
                <a:latin typeface="Montserrat"/>
                <a:hlinkClick r:id="rId8"/>
              </a:rPr>
              <a:t>Proceso. (2026, 28 may). Madruguete de la 4T: aprueban la reelección de magistrados electorales.</a:t>
            </a:r>
          </a:p>
        </p:txBody>
      </p:sp>
      <p:sp>
        <p:nvSpPr>
          <p:cNvPr id="24" name="TextBox 23"/>
          <p:cNvSpPr txBox="1"/>
          <p:nvPr/>
        </p:nvSpPr>
        <p:spPr>
          <a:xfrm>
            <a:off x="640080" y="4398264"/>
            <a:ext cx="164592" cy="256032"/>
          </a:xfrm>
          <a:prstGeom prst="rect">
            <a:avLst/>
          </a:prstGeom>
          <a:noFill/>
        </p:spPr>
        <p:txBody>
          <a:bodyPr wrap="square" anchor="ctr" lIns="0" rIns="0" tIns="0" bIns="0">
            <a:spAutoFit/>
          </a:bodyPr>
          <a:lstStyle/>
          <a:p>
            <a:pPr algn="l">
              <a:lnSpc>
                <a:spcPct val="115000"/>
              </a:lnSpc>
            </a:pPr>
            <a:r>
              <a:rPr sz="850" b="1">
                <a:solidFill>
                  <a:srgbClr val="9B2247"/>
                </a:solidFill>
                <a:latin typeface="Montserrat"/>
              </a:rPr>
              <a:t>◆</a:t>
            </a:r>
          </a:p>
        </p:txBody>
      </p:sp>
      <p:sp>
        <p:nvSpPr>
          <p:cNvPr id="25" name="TextBox 24"/>
          <p:cNvSpPr txBox="1"/>
          <p:nvPr/>
        </p:nvSpPr>
        <p:spPr>
          <a:xfrm>
            <a:off x="859536" y="4416552"/>
            <a:ext cx="10783519" cy="256032"/>
          </a:xfrm>
          <a:prstGeom prst="rect">
            <a:avLst/>
          </a:prstGeom>
          <a:noFill/>
        </p:spPr>
        <p:txBody>
          <a:bodyPr wrap="square" lIns="0" rIns="0" tIns="0" bIns="0">
            <a:spAutoFit/>
          </a:bodyPr>
          <a:lstStyle/>
          <a:p>
            <a:r>
              <a:rPr sz="900" u="sng">
                <a:solidFill>
                  <a:srgbClr val="9B2247"/>
                </a:solidFill>
                <a:latin typeface="Montserrat"/>
                <a:hlinkClick r:id="rId9"/>
              </a:rPr>
              <a:t>El Financiero. (2026, 25 may). Barra de Abogados critica el aplazamiento a 2028.</a:t>
            </a:r>
          </a:p>
        </p:txBody>
      </p:sp>
      <p:sp>
        <p:nvSpPr>
          <p:cNvPr id="26" name="TextBox 25"/>
          <p:cNvSpPr txBox="1"/>
          <p:nvPr/>
        </p:nvSpPr>
        <p:spPr>
          <a:xfrm>
            <a:off x="640080" y="4672584"/>
            <a:ext cx="164592" cy="256032"/>
          </a:xfrm>
          <a:prstGeom prst="rect">
            <a:avLst/>
          </a:prstGeom>
          <a:noFill/>
        </p:spPr>
        <p:txBody>
          <a:bodyPr wrap="square" anchor="ctr" lIns="0" rIns="0" tIns="0" bIns="0">
            <a:spAutoFit/>
          </a:bodyPr>
          <a:lstStyle/>
          <a:p>
            <a:pPr algn="l">
              <a:lnSpc>
                <a:spcPct val="115000"/>
              </a:lnSpc>
            </a:pPr>
            <a:r>
              <a:rPr sz="850" b="1">
                <a:solidFill>
                  <a:srgbClr val="9B2247"/>
                </a:solidFill>
                <a:latin typeface="Montserrat"/>
              </a:rPr>
              <a:t>◆</a:t>
            </a:r>
          </a:p>
        </p:txBody>
      </p:sp>
      <p:sp>
        <p:nvSpPr>
          <p:cNvPr id="27" name="TextBox 26"/>
          <p:cNvSpPr txBox="1"/>
          <p:nvPr/>
        </p:nvSpPr>
        <p:spPr>
          <a:xfrm>
            <a:off x="859536" y="4690872"/>
            <a:ext cx="10783519" cy="256032"/>
          </a:xfrm>
          <a:prstGeom prst="rect">
            <a:avLst/>
          </a:prstGeom>
          <a:noFill/>
        </p:spPr>
        <p:txBody>
          <a:bodyPr wrap="square" lIns="0" rIns="0" tIns="0" bIns="0">
            <a:spAutoFit/>
          </a:bodyPr>
          <a:lstStyle/>
          <a:p>
            <a:r>
              <a:rPr sz="900" u="sng">
                <a:solidFill>
                  <a:srgbClr val="9B2247"/>
                </a:solidFill>
                <a:latin typeface="Montserrat"/>
                <a:hlinkClick r:id="rId10"/>
              </a:rPr>
              <a:t>Expansión Política. (2026, 29 may). Morena logra reformas 'a modo' para blindarse.</a:t>
            </a:r>
          </a:p>
        </p:txBody>
      </p:sp>
      <p:sp>
        <p:nvSpPr>
          <p:cNvPr id="28" name="TextBox 27"/>
          <p:cNvSpPr txBox="1"/>
          <p:nvPr/>
        </p:nvSpPr>
        <p:spPr>
          <a:xfrm>
            <a:off x="548640" y="5943600"/>
            <a:ext cx="11094415" cy="365760"/>
          </a:xfrm>
          <a:prstGeom prst="rect">
            <a:avLst/>
          </a:prstGeom>
          <a:noFill/>
        </p:spPr>
        <p:txBody>
          <a:bodyPr wrap="square" anchor="t" lIns="0" rIns="0" tIns="0" bIns="0">
            <a:spAutoFit/>
          </a:bodyPr>
          <a:lstStyle/>
          <a:p>
            <a:pPr algn="l">
              <a:lnSpc>
                <a:spcPct val="120000"/>
              </a:lnSpc>
            </a:pPr>
            <a:r>
              <a:rPr sz="950" b="0">
                <a:solidFill>
                  <a:srgbClr val="98989A"/>
                </a:solidFill>
                <a:latin typeface="Montserrat"/>
              </a:rPr>
              <a:t>Orientación editorial predominante frente al gobierno federal (4T). Valoración interpretativa, no etiqueta absoluta.</a:t>
            </a:r>
          </a:p>
        </p:txBody>
      </p:sp>
      <p:sp>
        <p:nvSpPr>
          <p:cNvPr id="29" name="Rectangle 28"/>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REFERENCIAS</a:t>
            </a:r>
          </a:p>
        </p:txBody>
      </p:sp>
      <p:sp>
        <p:nvSpPr>
          <p:cNvPr id="32" name="TextBox 31"/>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19 / 48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gradFill rotWithShape="1">
            <a:gsLst>
              <a:gs pos="0">
                <a:srgbClr val="3D0A1C"/>
              </a:gs>
              <a:gs pos="100000">
                <a:srgbClr val="1A1A1A"/>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08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10362895" cy="365760"/>
          </a:xfrm>
          <a:prstGeom prst="rect">
            <a:avLst/>
          </a:prstGeom>
          <a:noFill/>
        </p:spPr>
        <p:txBody>
          <a:bodyPr wrap="square" anchor="t" lIns="0" rIns="0" tIns="0" bIns="0">
            <a:spAutoFit/>
          </a:bodyPr>
          <a:lstStyle/>
          <a:p>
            <a:pPr algn="ctr">
              <a:lnSpc>
                <a:spcPct val="115000"/>
              </a:lnSpc>
            </a:pPr>
            <a:r>
              <a:rPr sz="1300" b="1">
                <a:solidFill>
                  <a:srgbClr val="98989A"/>
                </a:solidFill>
                <a:latin typeface="Montserrat"/>
              </a:rPr>
              <a:t>CONSULTA OPCIONAL</a:t>
            </a:r>
          </a:p>
        </p:txBody>
      </p:sp>
      <p:sp>
        <p:nvSpPr>
          <p:cNvPr id="6" name="Rectangle 5"/>
          <p:cNvSpPr/>
          <p:nvPr/>
        </p:nvSpPr>
        <p:spPr>
          <a:xfrm>
            <a:off x="5455767" y="2377440"/>
            <a:ext cx="128016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560320"/>
            <a:ext cx="11094415" cy="1005840"/>
          </a:xfrm>
          <a:prstGeom prst="rect">
            <a:avLst/>
          </a:prstGeom>
          <a:noFill/>
        </p:spPr>
        <p:txBody>
          <a:bodyPr wrap="square" anchor="t" lIns="0" rIns="0" tIns="0" bIns="0">
            <a:spAutoFit/>
          </a:bodyPr>
          <a:lstStyle/>
          <a:p>
            <a:pPr algn="ctr">
              <a:lnSpc>
                <a:spcPct val="115000"/>
              </a:lnSpc>
            </a:pPr>
            <a:r>
              <a:rPr sz="5400" b="1">
                <a:solidFill>
                  <a:srgbClr val="E6D194"/>
                </a:solidFill>
                <a:latin typeface="Montserrat"/>
              </a:rPr>
              <a:t>ANEXO</a:t>
            </a:r>
          </a:p>
        </p:txBody>
      </p:sp>
      <p:sp>
        <p:nvSpPr>
          <p:cNvPr id="8" name="TextBox 7"/>
          <p:cNvSpPr txBox="1"/>
          <p:nvPr/>
        </p:nvSpPr>
        <p:spPr>
          <a:xfrm>
            <a:off x="548640" y="3657600"/>
            <a:ext cx="11094415" cy="457200"/>
          </a:xfrm>
          <a:prstGeom prst="rect">
            <a:avLst/>
          </a:prstGeom>
          <a:noFill/>
        </p:spPr>
        <p:txBody>
          <a:bodyPr wrap="square" anchor="t" lIns="0" rIns="0" tIns="0" bIns="0">
            <a:spAutoFit/>
          </a:bodyPr>
          <a:lstStyle/>
          <a:p>
            <a:pPr algn="ctr">
              <a:lnSpc>
                <a:spcPct val="115000"/>
              </a:lnSpc>
            </a:pPr>
            <a:r>
              <a:rPr sz="1900" b="0">
                <a:solidFill>
                  <a:srgbClr val="F5F0EB"/>
                </a:solidFill>
                <a:latin typeface="Montserrat"/>
              </a:rPr>
              <a:t>Artículos completos - texto íntegro (CPEUM y decreto DOF)</a:t>
            </a:r>
          </a:p>
        </p:txBody>
      </p:sp>
      <p:sp>
        <p:nvSpPr>
          <p:cNvPr id="9" name="TextBox 8"/>
          <p:cNvSpPr txBox="1"/>
          <p:nvPr/>
        </p:nvSpPr>
        <p:spPr>
          <a:xfrm>
            <a:off x="1463040" y="4434840"/>
            <a:ext cx="9265615" cy="822960"/>
          </a:xfrm>
          <a:prstGeom prst="rect">
            <a:avLst/>
          </a:prstGeom>
          <a:noFill/>
        </p:spPr>
        <p:txBody>
          <a:bodyPr wrap="square" anchor="t" lIns="0" rIns="0" tIns="0" bIns="0">
            <a:spAutoFit/>
          </a:bodyPr>
          <a:lstStyle/>
          <a:p>
            <a:pPr algn="ctr">
              <a:lnSpc>
                <a:spcPct val="140000"/>
              </a:lnSpc>
            </a:pPr>
            <a:r>
              <a:rPr sz="1200" b="0">
                <a:solidFill>
                  <a:srgbClr val="98989A"/>
                </a:solidFill>
                <a:latin typeface="Montserrat"/>
              </a:rPr>
              <a:t>Cada artículo reformado, íntegro y paginado, con lo modificado subrayado. Navega o regresa al indice cuando desees.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3191256"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35 - FRACCIÓN IX (íntegra)</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Revocación de mandato: fecha de la jornada  (1/3)</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IX. Participar en los procesos de revocación de mandato.</a:t>
            </a:r>
          </a:p>
          <a:p>
            <a:pPr>
              <a:lnSpc>
                <a:spcPct val="118000"/>
              </a:lnSpc>
              <a:spcAft>
                <a:spcPts val="300"/>
              </a:spcAft>
            </a:pPr>
            <a:r>
              <a:rPr sz="1100" b="0" u="none">
                <a:solidFill>
                  <a:srgbClr val="1A1A1A"/>
                </a:solidFill>
                <a:latin typeface="Montserrat"/>
              </a:rPr>
              <a:t>El que se refiere a la revocación de mandato del Presidente de la República electo popularmente se llevara a cabo conforme a lo siguiente:</a:t>
            </a:r>
          </a:p>
          <a:p>
            <a:pPr>
              <a:lnSpc>
                <a:spcPct val="118000"/>
              </a:lnSpc>
              <a:spcAft>
                <a:spcPts val="300"/>
              </a:spcAft>
            </a:pPr>
            <a:r>
              <a:rPr sz="1100" b="0" u="none">
                <a:solidFill>
                  <a:srgbClr val="1A1A1A"/>
                </a:solidFill>
                <a:latin typeface="Montserrat"/>
              </a:rPr>
              <a:t>1o. Será convocado por el Instituto Nacional Electoral a petición de los ciudadanos y ciudadanas, en un número equivalente, al menos, al tres por ciento de los inscritos en la lista nominal de electores, siempre y cuando en la solicitud correspondan a por lo menos diecisiete entidades federativas y que representen, como mínimo, el tres por ciento de la lista nominal de electores de cada una de ellas.</a:t>
            </a:r>
          </a:p>
          <a:p>
            <a:pPr>
              <a:lnSpc>
                <a:spcPct val="118000"/>
              </a:lnSpc>
              <a:spcAft>
                <a:spcPts val="300"/>
              </a:spcAft>
            </a:pPr>
            <a:r>
              <a:rPr sz="1100" b="0" u="none">
                <a:solidFill>
                  <a:srgbClr val="1A1A1A"/>
                </a:solidFill>
                <a:latin typeface="Montserrat"/>
              </a:rPr>
              <a:t>El Instituto, dentro de los siguientes treinta días a que se reciba la solicitud, verificará el requisito establecido en el párrafo anterior y emitirá inmediatamente la convocatoria al proceso para la revocación de mandato.</a:t>
            </a:r>
          </a:p>
          <a:p>
            <a:pPr>
              <a:lnSpc>
                <a:spcPct val="118000"/>
              </a:lnSpc>
              <a:spcAft>
                <a:spcPts val="300"/>
              </a:spcAft>
            </a:pPr>
            <a:r>
              <a:rPr sz="1100" b="0" u="none">
                <a:solidFill>
                  <a:srgbClr val="1A1A1A"/>
                </a:solidFill>
                <a:latin typeface="Montserrat"/>
              </a:rPr>
              <a:t>2o. Se podrá solicitar en una sola ocasión y durante los tres meses posteriores a la conclusión del tercer año del periodo constitucional.</a:t>
            </a:r>
          </a:p>
          <a:p>
            <a:pPr>
              <a:lnSpc>
                <a:spcPct val="118000"/>
              </a:lnSpc>
              <a:spcAft>
                <a:spcPts val="300"/>
              </a:spcAft>
            </a:pPr>
            <a:r>
              <a:rPr sz="1100" b="0" u="none">
                <a:solidFill>
                  <a:srgbClr val="1A1A1A"/>
                </a:solidFill>
                <a:latin typeface="Montserrat"/>
              </a:rPr>
              <a:t>Los ciudadanos y ciudadanas podrán recabar firmas para la solicitud de revocación de mandato durante el mes previo a la fecha prevista en el párrafo anterior. El Instituto emitirá, a partir de esta fecha, los formatos y medios para la recopilación de firmas, así como los lineamientos para las actividades relacionadas.</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IX. Participar en los procesos de revocación de mandato.</a:t>
            </a:r>
          </a:p>
          <a:p>
            <a:pPr>
              <a:lnSpc>
                <a:spcPct val="118000"/>
              </a:lnSpc>
              <a:spcAft>
                <a:spcPts val="300"/>
              </a:spcAft>
            </a:pPr>
            <a:r>
              <a:rPr sz="1100" b="0" u="none">
                <a:solidFill>
                  <a:srgbClr val="1A1A1A"/>
                </a:solidFill>
                <a:latin typeface="Montserrat"/>
              </a:rPr>
              <a:t>El que se refiere a la revocación de mandato del Presidente de la República electo popularmente se llevara a cabo conforme a lo siguiente:</a:t>
            </a:r>
          </a:p>
          <a:p>
            <a:pPr>
              <a:lnSpc>
                <a:spcPct val="118000"/>
              </a:lnSpc>
              <a:spcAft>
                <a:spcPts val="300"/>
              </a:spcAft>
            </a:pPr>
            <a:r>
              <a:rPr sz="1100" b="0" u="none">
                <a:solidFill>
                  <a:srgbClr val="1A1A1A"/>
                </a:solidFill>
                <a:latin typeface="Montserrat"/>
              </a:rPr>
              <a:t>1o. Será convocado por el Instituto Nacional Electoral a petición de los ciudadanos y ciudadanas, en un número equivalente, al menos, al tres por ciento de los inscritos en la lista nominal de electores, siempre y cuando en la solicitud correspondan a por lo menos diecisiete entidades federativas y que representen, como mínimo, el tres por ciento de la lista nominal de electores de cada una de ellas.</a:t>
            </a:r>
          </a:p>
          <a:p>
            <a:pPr>
              <a:lnSpc>
                <a:spcPct val="118000"/>
              </a:lnSpc>
              <a:spcAft>
                <a:spcPts val="300"/>
              </a:spcAft>
            </a:pPr>
            <a:r>
              <a:rPr sz="1100" b="0" u="none">
                <a:solidFill>
                  <a:srgbClr val="1A1A1A"/>
                </a:solidFill>
                <a:latin typeface="Montserrat"/>
              </a:rPr>
              <a:t>El Instituto, dentro de los siguientes treinta días a que se reciba la solicitud, verificará el requisito establecido en el párrafo anterior y emitirá inmediatamente la convocatoria al proceso para la revocación de mandato.</a:t>
            </a:r>
          </a:p>
          <a:p>
            <a:pPr>
              <a:lnSpc>
                <a:spcPct val="118000"/>
              </a:lnSpc>
              <a:spcAft>
                <a:spcPts val="300"/>
              </a:spcAft>
            </a:pPr>
            <a:r>
              <a:rPr sz="1100" b="0" u="none">
                <a:solidFill>
                  <a:srgbClr val="1A1A1A"/>
                </a:solidFill>
                <a:latin typeface="Montserrat"/>
              </a:rPr>
              <a:t>2o. Se podrá solicitar en una sola ocasión y durante los tres meses posteriores a la conclusión del tercer año del periodo constitucional.</a:t>
            </a:r>
          </a:p>
          <a:p>
            <a:pPr>
              <a:lnSpc>
                <a:spcPct val="118000"/>
              </a:lnSpc>
              <a:spcAft>
                <a:spcPts val="300"/>
              </a:spcAft>
            </a:pPr>
            <a:r>
              <a:rPr sz="1100" b="0" u="none">
                <a:solidFill>
                  <a:srgbClr val="1A1A1A"/>
                </a:solidFill>
                <a:latin typeface="Montserrat"/>
              </a:rPr>
              <a:t>Los ciudadanos y ciudadanas podrán recabar firmas para la solicitud de revocación de mandato durante el mes previo a la fecha prevista en el párrafo anterior. El Instituto emitirá, a partir de esta fecha, los formatos y medios para la recopilación de firmas, así como los lineamientos para las actividades relacionadas.</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21 / 48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3191256"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35 - FRACCIÓN IX (íntegra)</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Revocación de mandato: fecha de la jornada  (2/3)</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3o. Se realizará mediante votación libre, directa y secreta de ciudadanos y ciudadanas inscritos en la lista nominal, </a:t>
            </a:r>
            <a:r>
              <a:rPr sz="1100" b="1" u="sng">
                <a:solidFill>
                  <a:srgbClr val="6B1531"/>
                </a:solidFill>
                <a:latin typeface="Montserrat"/>
              </a:rPr>
              <a:t>el domingo siguiente a los noventa días posteriores a la convocatoria y en fecha no coincidente</a:t>
            </a:r>
            <a:r>
              <a:rPr sz="1100" b="0" u="none">
                <a:solidFill>
                  <a:srgbClr val="1A1A1A"/>
                </a:solidFill>
                <a:latin typeface="Montserrat"/>
              </a:rPr>
              <a:t> con las jornadas electorales, federal o locales.</a:t>
            </a:r>
          </a:p>
          <a:p>
            <a:pPr>
              <a:lnSpc>
                <a:spcPct val="118000"/>
              </a:lnSpc>
              <a:spcAft>
                <a:spcPts val="300"/>
              </a:spcAft>
            </a:pPr>
            <a:r>
              <a:rPr sz="1100" b="0" u="none">
                <a:solidFill>
                  <a:srgbClr val="1A1A1A"/>
                </a:solidFill>
                <a:latin typeface="Montserrat"/>
              </a:rPr>
              <a:t>4o. Para que el proceso de revocación de mandato sea valido deberá haber una participación de, por lo menos, el cuarenta por ciento de las personas inscritas en la lista nominal de electores. La revocación de mandato solo procedera por mayoría absoluta.</a:t>
            </a:r>
          </a:p>
          <a:p>
            <a:pPr>
              <a:lnSpc>
                <a:spcPct val="118000"/>
              </a:lnSpc>
              <a:spcAft>
                <a:spcPts val="300"/>
              </a:spcAft>
            </a:pPr>
            <a:r>
              <a:rPr sz="1100" b="0" u="none">
                <a:solidFill>
                  <a:srgbClr val="1A1A1A"/>
                </a:solidFill>
                <a:latin typeface="Montserrat"/>
              </a:rPr>
              <a:t>5o. El Instituto Nacional Electoral tendra a su cargo, en forma directa, la organización, desarrollo y computo de la votación. Emitirá los resultados de los procesos de revocación de mandato del titular del Poder Ejecutivo Federal, los cuales podrán ser impugnados ante la Sala Superior del Tribunal Electoral del Poder Judicial de la Federación, en los términos de lo dispuesto en la fracción VI del artículo 41, así como en la fracción III del artículo 99.</a:t>
            </a:r>
          </a:p>
          <a:p>
            <a:pPr>
              <a:lnSpc>
                <a:spcPct val="118000"/>
              </a:lnSpc>
              <a:spcAft>
                <a:spcPts val="300"/>
              </a:spcAft>
            </a:pPr>
            <a:r>
              <a:rPr sz="1100" b="0" u="none">
                <a:solidFill>
                  <a:srgbClr val="1A1A1A"/>
                </a:solidFill>
                <a:latin typeface="Montserrat"/>
              </a:rPr>
              <a:t>6o. La Sala Superior del Tribunal Electoral del Poder Judicial de la Federación realizará el computo final del proceso de revocación de mandato, una vez resueltas las impugnaciones que se hubieren interpuesto. En su caso, emitirá la declaratoria de revocación y se estara a lo dispuesto en el artículo 84.</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3o. Se realizará mediante votación libre, directa y secreta de ciudadanos y ciudadanas inscritos en la lista nominal, </a:t>
            </a:r>
            <a:r>
              <a:rPr sz="1100" b="1" u="sng">
                <a:solidFill>
                  <a:srgbClr val="1E5B4F"/>
                </a:solidFill>
                <a:latin typeface="Montserrat"/>
              </a:rPr>
              <a:t>el primer domingo de junio del cuarto año del periodo constitucional de forma coincidente</a:t>
            </a:r>
            <a:r>
              <a:rPr sz="1100" b="0" u="none">
                <a:solidFill>
                  <a:srgbClr val="1A1A1A"/>
                </a:solidFill>
                <a:latin typeface="Montserrat"/>
              </a:rPr>
              <a:t> con las jornadas electorales, federal o locales.</a:t>
            </a:r>
          </a:p>
          <a:p>
            <a:pPr>
              <a:lnSpc>
                <a:spcPct val="118000"/>
              </a:lnSpc>
              <a:spcAft>
                <a:spcPts val="300"/>
              </a:spcAft>
            </a:pPr>
            <a:r>
              <a:rPr sz="1100" b="0" u="none">
                <a:solidFill>
                  <a:srgbClr val="1A1A1A"/>
                </a:solidFill>
                <a:latin typeface="Montserrat"/>
              </a:rPr>
              <a:t>4o. Para que el proceso de revocación de mandato sea valido deberá haber una participación de, por lo menos, el cuarenta por ciento de las personas inscritas en la lista nominal de electores. La revocación de mandato solo procedera por mayoría absoluta.</a:t>
            </a:r>
          </a:p>
          <a:p>
            <a:pPr>
              <a:lnSpc>
                <a:spcPct val="118000"/>
              </a:lnSpc>
              <a:spcAft>
                <a:spcPts val="300"/>
              </a:spcAft>
            </a:pPr>
            <a:r>
              <a:rPr sz="1100" b="0" u="none">
                <a:solidFill>
                  <a:srgbClr val="1A1A1A"/>
                </a:solidFill>
                <a:latin typeface="Montserrat"/>
              </a:rPr>
              <a:t>5o. El Instituto Nacional Electoral tendra a su cargo, en forma directa, la organización, desarrollo y computo de la votación. Emitirá los resultados de los procesos de revocación de mandato del titular del Poder Ejecutivo Federal, los cuales podrán ser impugnados ante la Sala Superior del Tribunal Electoral del Poder Judicial de la Federación, en los términos de lo dispuesto en la fracción VI del artículo 41, así como en la fracción III del artículo 99.</a:t>
            </a:r>
          </a:p>
          <a:p>
            <a:pPr>
              <a:lnSpc>
                <a:spcPct val="118000"/>
              </a:lnSpc>
              <a:spcAft>
                <a:spcPts val="300"/>
              </a:spcAft>
            </a:pPr>
            <a:r>
              <a:rPr sz="1100" b="0" u="none">
                <a:solidFill>
                  <a:srgbClr val="1A1A1A"/>
                </a:solidFill>
                <a:latin typeface="Montserrat"/>
              </a:rPr>
              <a:t>6o. La Sala Superior del Tribunal Electoral del Poder Judicial de la Federación realizará el computo final del proceso de revocación de mandato, una vez resueltas las impugnaciones que se hubieren interpuesto. En su caso, emitirá la declaratoria de revocación y se estara a lo dispuesto en el artículo 84.</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22 / 48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3191256"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35 - FRACCIÓN IX (íntegra)</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Revocación de mandato: fecha de la jornada  (3/3)</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7o. Queda prohibido el uso de recursos públicos para la recolección de firmas, así como con fines de promoción y propaganda relacionados con los procesos de revocación de mandato.</a:t>
            </a:r>
          </a:p>
          <a:p>
            <a:pPr>
              <a:lnSpc>
                <a:spcPct val="118000"/>
              </a:lnSpc>
              <a:spcAft>
                <a:spcPts val="300"/>
              </a:spcAft>
            </a:pPr>
            <a:r>
              <a:rPr sz="1100" b="0" u="none">
                <a:solidFill>
                  <a:srgbClr val="1A1A1A"/>
                </a:solidFill>
                <a:latin typeface="Montserrat"/>
              </a:rPr>
              <a:t>El Instituto y los organismos públicos locales, según corresponda, promoveran la participación ciudadana y serán la unica instancia a cargo de la difusión de los mismos. La promoción será objetiva, imparcial y con fines informativos.</a:t>
            </a:r>
          </a:p>
          <a:p>
            <a:pPr>
              <a:lnSpc>
                <a:spcPct val="118000"/>
              </a:lnSpc>
              <a:spcAft>
                <a:spcPts val="300"/>
              </a:spcAft>
            </a:pPr>
            <a:r>
              <a:rPr sz="1100" b="0" u="none">
                <a:solidFill>
                  <a:srgbClr val="1A1A1A"/>
                </a:solidFill>
                <a:latin typeface="Montserrat"/>
              </a:rPr>
              <a:t>Ninguna otra persona fisica o moral, sea a titulo propio o por cuenta de terceros, podrá contratar propaganda en radio y televisión dirigida a influir en la opinion de los ciudadanos y ciudadanas.</a:t>
            </a:r>
          </a:p>
          <a:p>
            <a:pPr>
              <a:lnSpc>
                <a:spcPct val="118000"/>
              </a:lnSpc>
              <a:spcAft>
                <a:spcPts val="300"/>
              </a:spcAft>
            </a:pPr>
            <a:r>
              <a:rPr sz="1100" b="0" u="none">
                <a:solidFill>
                  <a:srgbClr val="1A1A1A"/>
                </a:solidFill>
                <a:latin typeface="Montserrat"/>
              </a:rPr>
              <a:t>Durante el tiempo que comprende el proceso de revocación de mandato, desde la convocatoria y hasta la conclusión de la jornada, deberá suspenderse la difusión en los medios de comunicación de toda propaganda gubernamental de cualquier orden de gobierno, salvo las campanas de información de los servicios educativos y de salud o las necesarias para la protección civil.</a:t>
            </a:r>
          </a:p>
          <a:p>
            <a:pPr>
              <a:lnSpc>
                <a:spcPct val="118000"/>
              </a:lnSpc>
              <a:spcAft>
                <a:spcPts val="300"/>
              </a:spcAft>
            </a:pPr>
            <a:r>
              <a:rPr sz="1100" b="0" u="none">
                <a:solidFill>
                  <a:srgbClr val="1A1A1A"/>
                </a:solidFill>
                <a:latin typeface="Montserrat"/>
              </a:rPr>
              <a:t>8o. El Congreso de la Union emitirá la ley reglamentaria.</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7o. Queda prohibido el uso de recursos públicos para la recolección de firmas, así como con fines de promoción y propaganda relacionados con los procesos de revocación de mandato.</a:t>
            </a:r>
          </a:p>
          <a:p>
            <a:pPr>
              <a:lnSpc>
                <a:spcPct val="118000"/>
              </a:lnSpc>
              <a:spcAft>
                <a:spcPts val="300"/>
              </a:spcAft>
            </a:pPr>
            <a:r>
              <a:rPr sz="1100" b="0" u="none">
                <a:solidFill>
                  <a:srgbClr val="1A1A1A"/>
                </a:solidFill>
                <a:latin typeface="Montserrat"/>
              </a:rPr>
              <a:t>El Instituto y los organismos públicos locales, según corresponda, promoveran la participación ciudadana y serán la unica instancia a cargo de la difusión de los mismos. La promoción será objetiva, imparcial y con fines informativos.</a:t>
            </a:r>
          </a:p>
          <a:p>
            <a:pPr>
              <a:lnSpc>
                <a:spcPct val="118000"/>
              </a:lnSpc>
              <a:spcAft>
                <a:spcPts val="300"/>
              </a:spcAft>
            </a:pPr>
            <a:r>
              <a:rPr sz="1100" b="0" u="none">
                <a:solidFill>
                  <a:srgbClr val="1A1A1A"/>
                </a:solidFill>
                <a:latin typeface="Montserrat"/>
              </a:rPr>
              <a:t>Ninguna otra persona fisica o moral, sea a titulo propio o por cuenta de terceros, podrá contratar propaganda en radio y televisión dirigida a influir en la opinion de los ciudadanos y ciudadanas.</a:t>
            </a:r>
          </a:p>
          <a:p>
            <a:pPr>
              <a:lnSpc>
                <a:spcPct val="118000"/>
              </a:lnSpc>
              <a:spcAft>
                <a:spcPts val="300"/>
              </a:spcAft>
            </a:pPr>
            <a:r>
              <a:rPr sz="1100" b="0" u="none">
                <a:solidFill>
                  <a:srgbClr val="1A1A1A"/>
                </a:solidFill>
                <a:latin typeface="Montserrat"/>
              </a:rPr>
              <a:t>Durante el tiempo que comprende el proceso de revocación de mandato, desde la convocatoria y hasta la conclusión de la jornada, deberá suspenderse la difusión en los medios de comunicación de toda propaganda gubernamental de cualquier orden de gobierno, salvo las campanas de información de los servicios educativos y de salud o las necesarias para la protección civil.</a:t>
            </a:r>
          </a:p>
          <a:p>
            <a:pPr>
              <a:lnSpc>
                <a:spcPct val="118000"/>
              </a:lnSpc>
              <a:spcAft>
                <a:spcPts val="300"/>
              </a:spcAft>
            </a:pPr>
            <a:r>
              <a:rPr sz="1100" b="0" u="none">
                <a:solidFill>
                  <a:srgbClr val="1A1A1A"/>
                </a:solidFill>
                <a:latin typeface="Montserrat"/>
              </a:rPr>
              <a:t>8o. El Congreso de la Union emitirá la ley reglamentaria.</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23 / 48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94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La SCJN podrá funcionar en dos secciones  (1/4)</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 administración del Poder Judicial de la Federación estara a cargo de un órgano de administración judicial, mientras que la disciplina de su personal estara a cargo del Tribunal de Disciplina Judicial, en los términos que, conforme a las bases que señala esta Constitución, establezcan las leyes.</a:t>
            </a:r>
          </a:p>
          <a:p>
            <a:pPr>
              <a:lnSpc>
                <a:spcPct val="118000"/>
              </a:lnSpc>
              <a:spcAft>
                <a:spcPts val="300"/>
              </a:spcAft>
            </a:pPr>
            <a:r>
              <a:rPr sz="1100" b="0" u="none">
                <a:solidFill>
                  <a:srgbClr val="1A1A1A"/>
                </a:solidFill>
                <a:latin typeface="Montserrat"/>
              </a:rPr>
              <a:t>La Suprema Corte de Justicia de la Nación se compondrá de nueve integrantes, Ministras y Ministros, y </a:t>
            </a:r>
            <a:r>
              <a:rPr sz="1100" b="1" u="sng">
                <a:solidFill>
                  <a:srgbClr val="6B1531"/>
                </a:solidFill>
                <a:latin typeface="Montserrat"/>
              </a:rPr>
              <a:t>funcionará en Pleno</a:t>
            </a:r>
            <a:r>
              <a:rPr sz="1100" b="0" u="none">
                <a:solidFill>
                  <a:srgbClr val="1A1A1A"/>
                </a:solidFill>
                <a:latin typeface="Montserrat"/>
              </a:rPr>
              <a:t>. Su presidencia se renovará cada dos años de manera rotatoria en función del número de votos que obtenga cada candidatura en la elección respectiva, correspondiendo la presidencia a quienes alcancen mayor votación.</a:t>
            </a:r>
          </a:p>
          <a:p>
            <a:pPr>
              <a:lnSpc>
                <a:spcPct val="118000"/>
              </a:lnSpc>
              <a:spcAft>
                <a:spcPts val="300"/>
              </a:spcAft>
            </a:pPr>
            <a:r>
              <a:rPr sz="1100" b="0" u="none">
                <a:solidFill>
                  <a:srgbClr val="1A1A1A"/>
                </a:solidFill>
                <a:latin typeface="Montserrat"/>
              </a:rPr>
              <a:t>En los términos que la ley disponga las </a:t>
            </a:r>
            <a:r>
              <a:rPr sz="1100" b="1" u="sng">
                <a:solidFill>
                  <a:srgbClr val="6B1531"/>
                </a:solidFill>
                <a:latin typeface="Montserrat"/>
              </a:rPr>
              <a:t>sesiones del Pleno serán públicas</a:t>
            </a:r>
            <a:r>
              <a:rPr sz="1100" b="0" u="none">
                <a:solidFill>
                  <a:srgbClr val="1A1A1A"/>
                </a:solidFill>
                <a:latin typeface="Montserrat"/>
              </a:rPr>
              <a:t>.</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 administración del Poder Judicial de la Federación estara a cargo de un órgano de administración judicial, mientras que la disciplina de su personal estara a cargo del Tribunal de Disciplina Judicial, en los términos que, conforme a las bases que señala esta Constitución, establezcan las leyes.</a:t>
            </a:r>
          </a:p>
          <a:p>
            <a:pPr>
              <a:lnSpc>
                <a:spcPct val="118000"/>
              </a:lnSpc>
              <a:spcAft>
                <a:spcPts val="300"/>
              </a:spcAft>
            </a:pPr>
            <a:r>
              <a:rPr sz="1100" b="0" u="none">
                <a:solidFill>
                  <a:srgbClr val="1A1A1A"/>
                </a:solidFill>
                <a:latin typeface="Montserrat"/>
              </a:rPr>
              <a:t>La Suprema Corte de Justicia de la Nación se compondrá de nueve integrantes, Ministras y Ministros, y funcionará en Pleno; </a:t>
            </a:r>
            <a:r>
              <a:rPr sz="1100" b="1" u="sng">
                <a:solidFill>
                  <a:srgbClr val="1E5B4F"/>
                </a:solidFill>
                <a:latin typeface="Montserrat"/>
              </a:rPr>
              <a:t>tambien, con aprobación del Pleno, podrá funcionar en dos secciones</a:t>
            </a:r>
            <a:r>
              <a:rPr sz="1100" b="0" u="none">
                <a:solidFill>
                  <a:srgbClr val="1A1A1A"/>
                </a:solidFill>
                <a:latin typeface="Montserrat"/>
              </a:rPr>
              <a:t>. La presidencia de la Corte se renovará cada dos años de manera rotatoria en función del número de votos que obtenga cada candidatura en la elección respectiva, correspondiendo la presidencia a quienes alcancen mayor votación.</a:t>
            </a:r>
          </a:p>
          <a:p>
            <a:pPr>
              <a:lnSpc>
                <a:spcPct val="118000"/>
              </a:lnSpc>
              <a:spcAft>
                <a:spcPts val="300"/>
              </a:spcAft>
            </a:pPr>
            <a:r>
              <a:rPr sz="1100" b="0" u="none">
                <a:solidFill>
                  <a:srgbClr val="1A1A1A"/>
                </a:solidFill>
                <a:latin typeface="Montserrat"/>
              </a:rPr>
              <a:t>En los términos que la ley disponga las </a:t>
            </a:r>
            <a:r>
              <a:rPr sz="1100" b="1" u="sng">
                <a:solidFill>
                  <a:srgbClr val="1E5B4F"/>
                </a:solidFill>
                <a:latin typeface="Montserrat"/>
              </a:rPr>
              <a:t>sesiones del Pleno y de las secciones serán públicas</a:t>
            </a:r>
            <a:r>
              <a:rPr sz="1100" b="0" u="none">
                <a:solidFill>
                  <a:srgbClr val="1A1A1A"/>
                </a:solidFill>
                <a:latin typeface="Montserrat"/>
              </a:rPr>
              <a:t>.</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24 / 48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94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La SCJN podrá funcionar en dos secciones  (2/4)</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 competencia de la Suprema Corte, su </a:t>
            </a:r>
            <a:r>
              <a:rPr sz="1100" b="1" u="sng">
                <a:solidFill>
                  <a:srgbClr val="6B1531"/>
                </a:solidFill>
                <a:latin typeface="Montserrat"/>
              </a:rPr>
              <a:t>funcionamiento en Pleno</a:t>
            </a:r>
            <a:r>
              <a:rPr sz="1100" b="0" u="none">
                <a:solidFill>
                  <a:srgbClr val="1A1A1A"/>
                </a:solidFill>
                <a:latin typeface="Montserrat"/>
              </a:rPr>
              <a:t>, la competencia de los Plenos Regionales, de los Tribunales de Circuito, de los Juzgados de Distrito y del Tribunal Electoral, así como las responsabilidades en que incurran las servidoras y los servidores públicos del Poder Judicial de la Federación, se regiran por lo que dispongan las leyes y los acuerdos generales correspondientes, de conformidad con las bases que esta Constitución establece.</a:t>
            </a:r>
          </a:p>
          <a:p>
            <a:pPr>
              <a:lnSpc>
                <a:spcPct val="118000"/>
              </a:lnSpc>
              <a:spcAft>
                <a:spcPts val="300"/>
              </a:spcAft>
            </a:pPr>
            <a:r>
              <a:rPr sz="1100" b="0" u="none">
                <a:solidFill>
                  <a:srgbClr val="1A1A1A"/>
                </a:solidFill>
                <a:latin typeface="Montserrat"/>
              </a:rPr>
              <a:t>El órgano de administración judicial determinara el número, división en circuitos, competencia territorial y especialización por materias, entre las que se incluira la de radiodifusión, telecomunicaciones y competencia económica, de los Tribunales Colegiados de Circuito, de los Tribunales Colegiados de Apelación y de los Juzgados de Distrito.</a:t>
            </a:r>
          </a:p>
          <a:p>
            <a:pPr>
              <a:lnSpc>
                <a:spcPct val="118000"/>
              </a:lnSpc>
              <a:spcAft>
                <a:spcPts val="300"/>
              </a:spcAft>
            </a:pPr>
            <a:r>
              <a:rPr sz="1100" b="0" u="none">
                <a:solidFill>
                  <a:srgbClr val="1A1A1A"/>
                </a:solidFill>
                <a:latin typeface="Montserrat"/>
              </a:rPr>
              <a:t>Asimismo, mediante acuerdos generales establecerán Plenos Regionales, los cuales ejerceran jurisdicción sobre los circuitos que los propios acuerdos determinen. Las leyes establecerán su integración y funcionamiento.</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 competencia de la Suprema Corte, su </a:t>
            </a:r>
            <a:r>
              <a:rPr sz="1100" b="1" u="sng">
                <a:solidFill>
                  <a:srgbClr val="1E5B4F"/>
                </a:solidFill>
                <a:latin typeface="Montserrat"/>
              </a:rPr>
              <a:t>funcionamiento en Pleno y en secciones</a:t>
            </a:r>
            <a:r>
              <a:rPr sz="1100" b="0" u="none">
                <a:solidFill>
                  <a:srgbClr val="1A1A1A"/>
                </a:solidFill>
                <a:latin typeface="Montserrat"/>
              </a:rPr>
              <a:t>, la competencia de los Plenos Regionales, de los Tribunales de Circuito, de los Juzgados de Distrito y del Tribunal Electoral, así como las responsabilidades en que incurran las servidoras y los servidores públicos del Poder Judicial de la Federación, se regiran por lo que dispongan las leyes y los acuerdos generales correspondientes, de conformidad con las bases que esta Constitución establece.</a:t>
            </a:r>
          </a:p>
          <a:p>
            <a:pPr>
              <a:lnSpc>
                <a:spcPct val="118000"/>
              </a:lnSpc>
              <a:spcAft>
                <a:spcPts val="300"/>
              </a:spcAft>
            </a:pPr>
            <a:r>
              <a:rPr sz="1100" b="0" u="none">
                <a:solidFill>
                  <a:srgbClr val="1A1A1A"/>
                </a:solidFill>
                <a:latin typeface="Montserrat"/>
              </a:rPr>
              <a:t>El órgano de administración judicial determinara el número, división en circuitos, competencia territorial y especialización por materias, entre las que se incluira la de radiodifusión, telecomunicaciones y competencia económica, de los Tribunales Colegiados de Circuito, de los Tribunales Colegiados de Apelación y de los Juzgados de Distrito.</a:t>
            </a:r>
          </a:p>
          <a:p>
            <a:pPr>
              <a:lnSpc>
                <a:spcPct val="118000"/>
              </a:lnSpc>
              <a:spcAft>
                <a:spcPts val="300"/>
              </a:spcAft>
            </a:pPr>
            <a:r>
              <a:rPr sz="1100" b="0" u="none">
                <a:solidFill>
                  <a:srgbClr val="1A1A1A"/>
                </a:solidFill>
                <a:latin typeface="Montserrat"/>
              </a:rPr>
              <a:t>Asimismo, mediante acuerdos generales establecerán Plenos Regionales, los cuales ejerceran jurisdicción sobre los circuitos que los propios acuerdos determinen. Las leyes establecerán su integración y funcionamiento.</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25 / 48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94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La SCJN podrá funcionar en dos secciones  (3/4)</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 ley establecerá la forma y procedimientos mediante concursos abiertos para la integración de los órganos jurisdiccionales, observando el principio de paridad de género. La elección de las Magistradas y los Magistrados de Circuito, así como las Juezas y los Jueces de Distrito, se regira por las bases previstas en el artículo 96 de esta Constitución.</a:t>
            </a:r>
          </a:p>
          <a:p>
            <a:pPr>
              <a:lnSpc>
                <a:spcPct val="118000"/>
              </a:lnSpc>
              <a:spcAft>
                <a:spcPts val="300"/>
              </a:spcAft>
            </a:pPr>
            <a:r>
              <a:rPr sz="1100" b="0" u="none">
                <a:solidFill>
                  <a:srgbClr val="1A1A1A"/>
                </a:solidFill>
                <a:latin typeface="Montserrat"/>
              </a:rPr>
              <a:t>El Pleno de la Suprema Corte de Justicia estara facultado para expedir acuerdos generales, a fin de lograr una adecuada distribución de los asuntos que competa conocer a la Corte, así como remitir asuntos a los Plenos Regionales y a los Tribunales Colegiados de Circuito, para mayor prontitud en el despacho de los mismos. Dichos acuerdos surtiran efectos después de publicados.</a:t>
            </a:r>
          </a:p>
          <a:p>
            <a:pPr>
              <a:lnSpc>
                <a:spcPct val="118000"/>
              </a:lnSpc>
              <a:spcAft>
                <a:spcPts val="300"/>
              </a:spcAft>
            </a:pPr>
            <a:r>
              <a:rPr sz="1100" b="0" u="none">
                <a:solidFill>
                  <a:srgbClr val="1A1A1A"/>
                </a:solidFill>
                <a:latin typeface="Montserrat"/>
              </a:rPr>
              <a:t>Los juicios de amparo, las controversias constitucionales y las acciones de inconstitucionalidad se substanciaran y resolverán de manera prioritaria cuando alguna de las Cámaras del Congreso, a traves de su presidente, o el Ejecutivo Federal, por conducto del consejero jurídico del gobierno, justifique la urgencia atendiendo al interes social o al orden público, en los términos de lo dispuesto por las leyes reglamentarias.</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 ley establecerá la forma y procedimientos mediante concursos abiertos para la integración de los órganos jurisdiccionales, observando el principio de paridad de género. La elección de las Magistradas y los Magistrados de Circuito, así como las Juezas y los Jueces de Distrito, se regira por las bases previstas en el artículo 96 de esta Constitución.</a:t>
            </a:r>
          </a:p>
          <a:p>
            <a:pPr>
              <a:lnSpc>
                <a:spcPct val="118000"/>
              </a:lnSpc>
              <a:spcAft>
                <a:spcPts val="300"/>
              </a:spcAft>
            </a:pPr>
            <a:r>
              <a:rPr sz="1100" b="0" u="none">
                <a:solidFill>
                  <a:srgbClr val="1A1A1A"/>
                </a:solidFill>
                <a:latin typeface="Montserrat"/>
              </a:rPr>
              <a:t>El Pleno de la Suprema Corte de Justicia estara facultado para expedir acuerdos generales, a fin de lograr una adecuada distribución de los asuntos que competa conocer a la Corte, así como remitir asuntos a los Plenos Regionales y a los Tribunales Colegiados de Circuito, para mayor prontitud en el despacho de los mismos. Dichos acuerdos surtiran efectos después de publicados.</a:t>
            </a:r>
          </a:p>
          <a:p>
            <a:pPr>
              <a:lnSpc>
                <a:spcPct val="118000"/>
              </a:lnSpc>
              <a:spcAft>
                <a:spcPts val="300"/>
              </a:spcAft>
            </a:pPr>
            <a:r>
              <a:rPr sz="1100" b="0" u="none">
                <a:solidFill>
                  <a:srgbClr val="1A1A1A"/>
                </a:solidFill>
                <a:latin typeface="Montserrat"/>
              </a:rPr>
              <a:t>Los juicios de amparo, las controversias constitucionales y las acciones de inconstitucionalidad se substanciaran y resolverán de manera prioritaria cuando alguna de las Cámaras del Congreso, a traves de su presidente, o el Ejecutivo Federal, por conducto del consejero jurídico del gobierno, justifique la urgencia atendiendo al interes social o al orden público, en los términos de lo dispuesto por las leyes reglamentarias.</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26 / 48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94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La SCJN podrá funcionar en dos secciones  (4/4)</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 ley fijara los términos en que sea obligatoria la jurisprudencia que establezcan los Tribunales del Poder Judicial de la Federación sobre la interpretación de la Constitución y normas generales, así como los requisitos para su interrupción.</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 ley fijara los términos en que sea obligatoria la jurisprudencia que establezcan los Tribunales del Poder Judicial de la Federación sobre la interpretación de la Constitución y normas generales, así como los requisitos para su interrupción.</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27 / 48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96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Procedimiento de elección judicial: postulación, insaculación y boletas  (1/8)</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Artículo 96. Las Ministras y Ministros de la Suprema Corte de Justicia de la Nación, Magistradas y Magistrados de la Sala Superior y las salas regionales del Tribunal Electoral del Poder Judicial de la Federación, Magistradas y Magistrados del Tribunal de Disciplina Judicial, Magistradas y Magistrados de Circuito y Juezas y Jueces de Distrito, serán elegidos de manera libre, directa y secreta por la ciudadania el día que se realicen las elecciones federales ordinarias del año que corresponda conforme al siguiente procedimiento:</a:t>
            </a:r>
          </a:p>
          <a:p>
            <a:pPr>
              <a:lnSpc>
                <a:spcPct val="118000"/>
              </a:lnSpc>
              <a:spcAft>
                <a:spcPts val="300"/>
              </a:spcAft>
            </a:pPr>
            <a:r>
              <a:rPr sz="1100" b="0" u="none">
                <a:solidFill>
                  <a:srgbClr val="1A1A1A"/>
                </a:solidFill>
                <a:latin typeface="Montserrat"/>
              </a:rPr>
              <a:t>I. El Senado de la República publicará la convocatoria para la integración del listado de candidaturas </a:t>
            </a:r>
            <a:r>
              <a:rPr sz="1100" b="1" u="sng">
                <a:solidFill>
                  <a:srgbClr val="6B1531"/>
                </a:solidFill>
                <a:latin typeface="Montserrat"/>
              </a:rPr>
              <a:t>dentro de los treinta días naturales siguientes a la instalación del primer periodo ordinario de sesiones del año anterior</a:t>
            </a:r>
            <a:r>
              <a:rPr sz="1100" b="0" u="none">
                <a:solidFill>
                  <a:srgbClr val="1A1A1A"/>
                </a:solidFill>
                <a:latin typeface="Montserrat"/>
              </a:rPr>
              <a:t> al de la elección que corresponda, que contendra las etapas completas del procedimiento, sus fechas y plazos improrrogables y los cargos a elegir. El órgano de administración judicial hara del conocimiento del Senado los cargos sujetos a elección, la especialización por materia, el circuito judicial respectivo y demás información que requiera;</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Artículo 96. Las Ministras y Ministros de la Suprema Corte de Justicia de la Nación, Magistradas y Magistrados de la Sala Superior y las salas regionales del Tribunal Electoral del Poder Judicial de la Federación, Magistradas y Magistrados del Tribunal de Disciplina Judicial, Magistradas y Magistrados de Circuito y Juezas y Jueces de Distrito, serán elegidos de manera libre, directa y secreta por la ciudadania el día que se realicen las elecciones federales ordinarias del año que corresponda conforme al siguiente procedimiento:</a:t>
            </a:r>
          </a:p>
          <a:p>
            <a:pPr>
              <a:lnSpc>
                <a:spcPct val="118000"/>
              </a:lnSpc>
              <a:spcAft>
                <a:spcPts val="300"/>
              </a:spcAft>
            </a:pPr>
            <a:r>
              <a:rPr sz="1100" b="0" u="none">
                <a:solidFill>
                  <a:srgbClr val="1A1A1A"/>
                </a:solidFill>
                <a:latin typeface="Montserrat"/>
              </a:rPr>
              <a:t>I. El Senado de la República publicará la convocatoria para la integración del listado de candidaturas </a:t>
            </a:r>
            <a:r>
              <a:rPr sz="1100" b="1" u="sng">
                <a:solidFill>
                  <a:srgbClr val="1E5B4F"/>
                </a:solidFill>
                <a:latin typeface="Montserrat"/>
              </a:rPr>
              <a:t>a más tardar el treinta de abril del año anterior</a:t>
            </a:r>
            <a:r>
              <a:rPr sz="1100" b="0" u="none">
                <a:solidFill>
                  <a:srgbClr val="1A1A1A"/>
                </a:solidFill>
                <a:latin typeface="Montserrat"/>
              </a:rPr>
              <a:t> al de la elección judicial que corresponda, que contendra las etapas completas del procedimiento, sus fechas y plazos improrrogables y los cargos a elegir. El órgano de administración judicial hara del conocimiento del Senado los cargos sujetos a elección, la especialización por materia, el circuito judicial respectivo y demás información que requiera;</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28 / 48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96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Procedimiento de elección judicial: postulación, insaculación y boletas  (2/8)</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II. Los Poderes de la Union postularán el número de candidaturas que corresponda a cada cargo conforme a los párrafos segundo y tercero del presente artículo. Para la evaluación y selección de sus postulaciones, observaran lo siguiente:</a:t>
            </a:r>
          </a:p>
          <a:p>
            <a:pPr>
              <a:lnSpc>
                <a:spcPct val="118000"/>
              </a:lnSpc>
              <a:spcAft>
                <a:spcPts val="300"/>
              </a:spcAft>
            </a:pPr>
            <a:r>
              <a:rPr sz="1100" b="0" u="none">
                <a:solidFill>
                  <a:srgbClr val="1A1A1A"/>
                </a:solidFill>
                <a:latin typeface="Montserrat"/>
              </a:rPr>
              <a:t>a) Los Poderes establecerán mecanismos públicos, abiertos, transparentes, inclusivos y accesibles que permitan la participación de todas las personas interesadas que acrediten los requisitos establecidos en esta Constitución y en las leyes, presenten un ensayo de tres cuartillas donde justifiquen los motivos de su postulación y remitan cinco cartas de referencia de sus vecinos, colegas o personas que respalden su idoneidad para desempenar el cargo;</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II. Los Poderes de la Union postularán el número de candidaturas que corresponda a cada cargo conforme a los párrafos segundo y tercero del presente artículo. Para la evaluación y selección de sus postulaciones, observaran lo siguiente:</a:t>
            </a:r>
          </a:p>
          <a:p>
            <a:pPr>
              <a:lnSpc>
                <a:spcPct val="118000"/>
              </a:lnSpc>
              <a:spcAft>
                <a:spcPts val="300"/>
              </a:spcAft>
            </a:pPr>
            <a:r>
              <a:rPr sz="1100" b="0" u="none">
                <a:solidFill>
                  <a:srgbClr val="1A1A1A"/>
                </a:solidFill>
                <a:latin typeface="Montserrat"/>
              </a:rPr>
              <a:t>a) Los Poderes establecerán mecanismos públicos, abiertos, transparentes, inclusivos y accesibles que permitan la participación de todas las personas interesadas que acrediten los requisitos establecidos en esta Constitución y en las leyes, presenten un ensayo de tres cuartillas donde justifiquen los motivos de su postulación y remitan cinco cartas de referencia de sus vecinos, colegas o personas que respalden su idoneidad para desempenar el cargo;</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29 / 48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96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Procedimiento de elección judicial: postulación, insaculación y boletas  (3/8)</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b) Cada Poder integrará un Comite de Evaluación conformado por cinco personas reconocidas en la actividad jurídica, que recibirá los expedientes de las personas aspirantes, evaluará el cumplimiento de los requisitos constitucionales y legales e identificara a las personas mejor evaluadas que cuenten con los conocimientos técnicos necesarios para el desempeño del cargo y se hayan distinguido por su honestidad, buena fama pública, competencia y antecedentes académicos y profesionales en el ejercicio de la actividad jurídica, y</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b) Cada Poder integrará un Comite de Evaluación conformado por cinco personas reconocidas en la actividad jurídica, quienes elegiran de entre sus integrantes a la persona que coordine sus trabajos. </a:t>
            </a:r>
            <a:r>
              <a:rPr sz="1100" b="1" u="sng">
                <a:solidFill>
                  <a:srgbClr val="1E5B4F"/>
                </a:solidFill>
                <a:latin typeface="Montserrat"/>
              </a:rPr>
              <a:t>Las personas coordinadoras de los tres Comites integrarán una Comisión Coordinadora, responsable de verificar el cumplimiento de los requisitos constitucionales y legales de las personas participantes, establecer criterios y metodologías homologadas de evaluación, selección y exámenes de conocimientos, y emitir acuerdos que regulen los trabajos de los tres Comites.</a:t>
            </a:r>
            <a:r>
              <a:rPr sz="1100" b="0" u="none">
                <a:solidFill>
                  <a:srgbClr val="1A1A1A"/>
                </a:solidFill>
                <a:latin typeface="Montserrat"/>
              </a:rPr>
              <a:t> Cada Comite seleccionará, conforme a los criterios definidos por la Comisión Coordinadora, a las personas mejor evaluadas que cuenten con los conocimientos técnicos necesarios y se hayan distinguido por su honestidad, buena fama pública, competencia y antecedentes académicos y profesionales, y</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30 / 48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96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Procedimiento de elección judicial: postulación, insaculación y boletas  (4/8)</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c) Los Comites de Evaluación integrarán un listado de las </a:t>
            </a:r>
            <a:r>
              <a:rPr sz="1100" b="1" u="sng">
                <a:solidFill>
                  <a:srgbClr val="6B1531"/>
                </a:solidFill>
                <a:latin typeface="Montserrat"/>
              </a:rPr>
              <a:t>diez</a:t>
            </a:r>
            <a:r>
              <a:rPr sz="1100" b="0" u="none">
                <a:solidFill>
                  <a:srgbClr val="1A1A1A"/>
                </a:solidFill>
                <a:latin typeface="Montserrat"/>
              </a:rPr>
              <a:t> personas mejor evaluadas para cada cargo en los casos de Ministras y Ministros, Magistradas y Magistrados de la Sala Superior y salas regionales del Tribunal Electoral e integrantes del Tribunal de Disciplina Judicial, y de las </a:t>
            </a:r>
            <a:r>
              <a:rPr sz="1100" b="1" u="sng">
                <a:solidFill>
                  <a:srgbClr val="6B1531"/>
                </a:solidFill>
                <a:latin typeface="Montserrat"/>
              </a:rPr>
              <a:t>seis</a:t>
            </a:r>
            <a:r>
              <a:rPr sz="1100" b="0" u="none">
                <a:solidFill>
                  <a:srgbClr val="1A1A1A"/>
                </a:solidFill>
                <a:latin typeface="Montserrat"/>
              </a:rPr>
              <a:t> personas mejor evaluadas para cada cargo en los casos de Magistraturas de Circuito y Juzgados de Distrito. Posteriormente, depurarán dicho listado mediante </a:t>
            </a:r>
            <a:r>
              <a:rPr sz="1100" b="1" u="sng">
                <a:solidFill>
                  <a:srgbClr val="6B1531"/>
                </a:solidFill>
                <a:latin typeface="Montserrat"/>
              </a:rPr>
              <a:t>insaculación pública para ajustarlo al número de postulaciones</a:t>
            </a:r>
            <a:r>
              <a:rPr sz="1100" b="0" u="none">
                <a:solidFill>
                  <a:srgbClr val="1A1A1A"/>
                </a:solidFill>
                <a:latin typeface="Montserrat"/>
              </a:rPr>
              <a:t> para cada cargo, observando la paridad de género. Ajustados los listados, los Comites los remitirán a la autoridad que represente a cada Poder de la Union para su aprobación y envio al Senado.</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c) Los Comites de Evaluación integrarán un listado de las </a:t>
            </a:r>
            <a:r>
              <a:rPr sz="1100" b="1" u="sng">
                <a:solidFill>
                  <a:srgbClr val="1E5B4F"/>
                </a:solidFill>
                <a:latin typeface="Montserrat"/>
              </a:rPr>
              <a:t>cuatro</a:t>
            </a:r>
            <a:r>
              <a:rPr sz="1100" b="0" u="none">
                <a:solidFill>
                  <a:srgbClr val="1A1A1A"/>
                </a:solidFill>
                <a:latin typeface="Montserrat"/>
              </a:rPr>
              <a:t> personas mejor evaluadas para cada cargo. Posteriormente, depurarán dicho listado mediante </a:t>
            </a:r>
            <a:r>
              <a:rPr sz="1100" b="1" u="sng">
                <a:solidFill>
                  <a:srgbClr val="1E5B4F"/>
                </a:solidFill>
                <a:latin typeface="Montserrat"/>
              </a:rPr>
              <a:t>insaculación pública para ajustarlo a dos personas para cada cargo</a:t>
            </a:r>
            <a:r>
              <a:rPr sz="1100" b="0" u="none">
                <a:solidFill>
                  <a:srgbClr val="1A1A1A"/>
                </a:solidFill>
                <a:latin typeface="Montserrat"/>
              </a:rPr>
              <a:t>. Los Comites garantizarán la paridad de género en el listado de personas a insacular por especialidad y circuito judicial, de ser aplicable. Asimismo, observaran la paridad de género en el listado de propuestas posterior a la insaculación. Ajustados los listados, los Comites los remitirán a la autoridad que represente a cada Poder de la Union para su aprobación y envio al Senado. </a:t>
            </a:r>
            <a:r>
              <a:rPr sz="1100" b="1" u="sng">
                <a:solidFill>
                  <a:srgbClr val="1E5B4F"/>
                </a:solidFill>
                <a:latin typeface="Montserrat"/>
              </a:rPr>
              <a:t>Para los efectos del párrafo anterior, cada uno de los Poderes de la Union postulará dos personas para cada cargo: el Poder Ejecutivo por conducto de la Presidencia; el Poder Legislativo una persona por cada Cámara mediante votación calificada de dos tercios; y el Poder Judicial por conducto del Pleno de la SCJN, por mayoría de seis votos.</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31 / 48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96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Procedimiento de elección judicial: postulación, insaculación y boletas  (5/8)</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III. El Senado de la República recibirá las postulaciones y remitirá los listados al Instituto Nacional Electoral </a:t>
            </a:r>
            <a:r>
              <a:rPr sz="1100" b="1" u="sng">
                <a:solidFill>
                  <a:srgbClr val="6B1531"/>
                </a:solidFill>
                <a:latin typeface="Montserrat"/>
              </a:rPr>
              <a:t>a más tardar el 12 de febrero del año de la elección</a:t>
            </a:r>
            <a:r>
              <a:rPr sz="1100" b="0" u="none">
                <a:solidFill>
                  <a:srgbClr val="1A1A1A"/>
                </a:solidFill>
                <a:latin typeface="Montserrat"/>
              </a:rPr>
              <a:t> que corresponda, a efecto de que organice el proceso electivo. Las personas candidatas podrán ser postuladas simultaneamente por uno o varios Poderes de la Union, siempre que aspiren al mismo cargo, y</a:t>
            </a:r>
          </a:p>
          <a:p>
            <a:pPr>
              <a:lnSpc>
                <a:spcPct val="118000"/>
              </a:lnSpc>
              <a:spcAft>
                <a:spcPts val="300"/>
              </a:spcAft>
            </a:pPr>
            <a:r>
              <a:rPr sz="1100" b="0" u="none">
                <a:solidFill>
                  <a:srgbClr val="1A1A1A"/>
                </a:solidFill>
                <a:latin typeface="Montserrat"/>
              </a:rPr>
              <a:t>IV. El Instituto Nacional Electoral efectuará los computos de la elección, publicará los resultados y entregará las constancias de mayoría a las candidaturas que obtengan el mayor número de votos, </a:t>
            </a:r>
            <a:r>
              <a:rPr sz="1100" b="1" u="sng">
                <a:solidFill>
                  <a:srgbClr val="6B1531"/>
                </a:solidFill>
                <a:latin typeface="Montserrat"/>
              </a:rPr>
              <a:t>asignando los cargos alternadamente entre mujeres y hombres</a:t>
            </a:r>
            <a:r>
              <a:rPr sz="1100" b="0" u="none">
                <a:solidFill>
                  <a:srgbClr val="1A1A1A"/>
                </a:solidFill>
                <a:latin typeface="Montserrat"/>
              </a:rPr>
              <a:t>. Tambien declarará la validez de la elección y enviará sus resultados a la Sala Superior del TEPJF o al Pleno de la SCJN para el caso de magistraturas electorales, quienes resolverán las impugnaciones antes de que el Senado instale el primer periodo ordinario de sesiones del año de la elección, fecha en que las personas aspirantes electas tomaran protesta de su encargo ante dicho órgano legislativo.</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III. El Senado de la República recibirá las postulaciones y remitirá los listados al Instituto Nacional Electoral </a:t>
            </a:r>
            <a:r>
              <a:rPr sz="1100" b="1" u="sng">
                <a:solidFill>
                  <a:srgbClr val="1E5B4F"/>
                </a:solidFill>
                <a:latin typeface="Montserrat"/>
              </a:rPr>
              <a:t>en los plazos que refiera la convocatoria</a:t>
            </a:r>
            <a:r>
              <a:rPr sz="1100" b="0" u="none">
                <a:solidFill>
                  <a:srgbClr val="1A1A1A"/>
                </a:solidFill>
                <a:latin typeface="Montserrat"/>
              </a:rPr>
              <a:t>, a efecto de que organice el proceso electivo;</a:t>
            </a:r>
          </a:p>
          <a:p>
            <a:pPr>
              <a:lnSpc>
                <a:spcPct val="118000"/>
              </a:lnSpc>
              <a:spcAft>
                <a:spcPts val="300"/>
              </a:spcAft>
            </a:pPr>
            <a:r>
              <a:rPr sz="1100" b="0" u="none">
                <a:solidFill>
                  <a:srgbClr val="1A1A1A"/>
                </a:solidFill>
                <a:latin typeface="Montserrat"/>
              </a:rPr>
              <a:t>IV. El Instituto Nacional Electoral efectuará los computos de la elección, publicará los resultados y entregará las constancias de mayoría a las candidaturas que obtengan el mayor número de votos. Tambien declarará la validez de la elección y enviará sus resultados a la Sala Superior del TEPJF o al Pleno de la SCJN para el caso de magistraturas electorales, quienes resolverán las impugnaciones antes de que el Senado instale el primer periodo ordinario de sesiones, fecha en que las personas aspirantes electas tomaran protesta. </a:t>
            </a:r>
            <a:r>
              <a:rPr sz="1100" b="1" u="sng">
                <a:solidFill>
                  <a:srgbClr val="1E5B4F"/>
                </a:solidFill>
                <a:latin typeface="Montserrat"/>
              </a:rPr>
              <a:t>Las autoridades electorales no podrán modificar los resultados de la elección ni la asignación de cargos después de esa fecha.</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32 / 48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96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Procedimiento de elección judicial: postulación, insaculación y boletas  (6/8)</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Para el caso de Ministras y Ministros de la SCJN, Magistradas y Magistrados de la Sala Superior del TEPJF e integrantes del Tribunal de Disciplina Judicial, la elección se realizará a nivel nacional conforme al procedimiento anterior. El Poder Ejecutivo postulará </a:t>
            </a:r>
            <a:r>
              <a:rPr sz="1100" b="1" u="sng">
                <a:solidFill>
                  <a:srgbClr val="6B1531"/>
                </a:solidFill>
                <a:latin typeface="Montserrat"/>
              </a:rPr>
              <a:t>hasta tres</a:t>
            </a:r>
            <a:r>
              <a:rPr sz="1100" b="0" u="none">
                <a:solidFill>
                  <a:srgbClr val="1A1A1A"/>
                </a:solidFill>
                <a:latin typeface="Montserrat"/>
              </a:rPr>
              <a:t> personas; el Poder Legislativo </a:t>
            </a:r>
            <a:r>
              <a:rPr sz="1100" b="1" u="sng">
                <a:solidFill>
                  <a:srgbClr val="6B1531"/>
                </a:solidFill>
                <a:latin typeface="Montserrat"/>
              </a:rPr>
              <a:t>hasta tres</a:t>
            </a:r>
            <a:r>
              <a:rPr sz="1100" b="0" u="none">
                <a:solidFill>
                  <a:srgbClr val="1A1A1A"/>
                </a:solidFill>
                <a:latin typeface="Montserrat"/>
              </a:rPr>
              <a:t> personas (una por la Cámara de Diputados y dos por el Senado) mediante votación calificada de dos tercios; y el Poder Judicial, por conducto del Pleno de la SCJN, postulará </a:t>
            </a:r>
            <a:r>
              <a:rPr sz="1100" b="1" u="sng">
                <a:solidFill>
                  <a:srgbClr val="6B1531"/>
                </a:solidFill>
                <a:latin typeface="Montserrat"/>
              </a:rPr>
              <a:t>hasta tres</a:t>
            </a:r>
            <a:r>
              <a:rPr sz="1100" b="0" u="none">
                <a:solidFill>
                  <a:srgbClr val="1A1A1A"/>
                </a:solidFill>
                <a:latin typeface="Montserrat"/>
              </a:rPr>
              <a:t> personas por mayoría de seis votos.</a:t>
            </a:r>
          </a:p>
          <a:p>
            <a:pPr>
              <a:lnSpc>
                <a:spcPct val="118000"/>
              </a:lnSpc>
              <a:spcAft>
                <a:spcPts val="300"/>
              </a:spcAft>
            </a:pPr>
            <a:r>
              <a:rPr sz="1100" b="0" u="none">
                <a:solidFill>
                  <a:srgbClr val="1A1A1A"/>
                </a:solidFill>
                <a:latin typeface="Montserrat"/>
              </a:rPr>
              <a:t>Para el caso de Magistraturas de Circuito y Juzgados de Distrito, la elección se realizará </a:t>
            </a:r>
            <a:r>
              <a:rPr sz="1100" b="1" u="sng">
                <a:solidFill>
                  <a:srgbClr val="6B1531"/>
                </a:solidFill>
                <a:latin typeface="Montserrat"/>
              </a:rPr>
              <a:t>por circuito judicial</a:t>
            </a:r>
            <a:r>
              <a:rPr sz="1100" b="0" u="none">
                <a:solidFill>
                  <a:srgbClr val="1A1A1A"/>
                </a:solidFill>
                <a:latin typeface="Montserrat"/>
              </a:rPr>
              <a:t> conforme al procedimiento establecido en este artículo. Cada uno de los Poderes de la Union postulará hasta dos personas para cada cargo: el Ejecutivo por conducto de su titular; el Legislativo una por cada Cámara por votación de dos tercios; y el Judicial por mayoría de seis votos.</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Para el caso de Ministras y Ministros de la SCJN, Magistradas y Magistrados de la Sala Superior del TEPJF e integrantes del Tribunal de Disciplina Judicial, la elección se realizará a nivel nacional conforme al procedimiento anterior. </a:t>
            </a:r>
            <a:r>
              <a:rPr sz="1100" b="1" u="sng">
                <a:solidFill>
                  <a:srgbClr val="1E5B4F"/>
                </a:solidFill>
                <a:latin typeface="Montserrat"/>
              </a:rPr>
              <a:t>Cada Poder postulará dos candidaturas por cargo a renovar en la elección de que se trate. La asignación de los cargos electos se realizará entre las candidaturas que obtengan mayor número de votos, observando la integración paritaria del órgano correspondiente.</a:t>
            </a:r>
          </a:p>
          <a:p>
            <a:pPr>
              <a:lnSpc>
                <a:spcPct val="118000"/>
              </a:lnSpc>
              <a:spcAft>
                <a:spcPts val="300"/>
              </a:spcAft>
            </a:pPr>
            <a:r>
              <a:rPr sz="1100" b="0" u="none">
                <a:solidFill>
                  <a:srgbClr val="1A1A1A"/>
                </a:solidFill>
                <a:latin typeface="Montserrat"/>
              </a:rPr>
              <a:t>Para el caso de Magistraturas de Circuito y Juzgados de Distrito, la elección se realizará </a:t>
            </a:r>
            <a:r>
              <a:rPr sz="1100" b="1" u="sng">
                <a:solidFill>
                  <a:srgbClr val="1E5B4F"/>
                </a:solidFill>
                <a:latin typeface="Montserrat"/>
              </a:rPr>
              <a:t>por circuito y distrito judicial</a:t>
            </a:r>
            <a:r>
              <a:rPr sz="1100" b="0" u="none">
                <a:solidFill>
                  <a:srgbClr val="1A1A1A"/>
                </a:solidFill>
                <a:latin typeface="Montserrat"/>
              </a:rPr>
              <a:t> conforme a las siguientes bases: </a:t>
            </a:r>
            <a:r>
              <a:rPr sz="1100" b="1" u="sng">
                <a:solidFill>
                  <a:srgbClr val="1E5B4F"/>
                </a:solidFill>
                <a:latin typeface="Montserrat"/>
              </a:rPr>
              <a:t>I. el INE dividirá cada circuito en los distritos judiciales necesarios para que la ciudadania pueda elegir una candidatura por especialidad; II. generará una lista por especialidad distinguiendo Poder postulante y género, y en acto público asignará aleatoriamente las candidaturas a cada distrito (dos personas del mismo género por especialidad); III. cuando los cargos por especialidad sean inferiores a los distritos, asignará los restantes de manera aleatoria; IV. realizará las modificaciones necesarias al marco geográfico electoral.</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33 / 48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96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Procedimiento de elección judicial: postulación, insaculación y boletas  (7/8)</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(No existian disposiciones constitucionales sobre el contenido de las boletas, la sede de la jornada judicial ni el escrutinio en casilla.)</a:t>
            </a:r>
          </a:p>
          <a:p>
            <a:pPr>
              <a:lnSpc>
                <a:spcPct val="118000"/>
              </a:lnSpc>
              <a:spcAft>
                <a:spcPts val="300"/>
              </a:spcAft>
            </a:pPr>
            <a:r>
              <a:rPr sz="1100" b="0" u="none">
                <a:solidFill>
                  <a:srgbClr val="1A1A1A"/>
                </a:solidFill>
                <a:latin typeface="Montserrat"/>
              </a:rPr>
              <a:t>El Senado incorporara a los listados que remita al INE a las personas que se encuentren en funciones en los cargos señalados al cierre de la convocatoria, salvo que declinen o sean postuladas para un cargo o circuito diverso. La etapa de preparación iniciara con la primera sesión del Consejo General del INE en los primeros siete días de septiembre del año anterior.</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1" u="sng">
                <a:solidFill>
                  <a:srgbClr val="1E5B4F"/>
                </a:solidFill>
                <a:latin typeface="Montserrat"/>
              </a:rPr>
              <a:t>Las boletas electorales de la elección judicial distinguirán al Poder postulante y, cuando corresponda, a las personas juzgadoras en funciones; distinguirán las especialidades de cada ámbito territorial y contendrán los nombres completos en recuadros, debiendo elegir una sola candidatura por especialidad. La jornada electoral judicial se celebrará en la misma ubicación donde se realicen las elecciones ordinarias y se desarrollara sin la intervención de personas representantes de partidos políticos. El escrutinio y computo de los votos se realizará en la casilla donde fueron sufragados.</a:t>
            </a:r>
          </a:p>
          <a:p>
            <a:pPr>
              <a:lnSpc>
                <a:spcPct val="118000"/>
              </a:lnSpc>
              <a:spcAft>
                <a:spcPts val="300"/>
              </a:spcAft>
            </a:pPr>
            <a:r>
              <a:rPr sz="1100" b="0" u="none">
                <a:solidFill>
                  <a:srgbClr val="1A1A1A"/>
                </a:solidFill>
                <a:latin typeface="Montserrat"/>
              </a:rPr>
              <a:t>El Senado incorporara a los listados que remita al INE a las personas que se encuentren en funciones en los cargos señalados al cierre de la convocatoria, salvo que declinen o sean postuladas para un cargo o circuito diverso. La etapa de preparación iniciara con la primera sesión del Consejo General del INE en los primeros siete días de septiembre del año anterior.</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34 / 48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96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Procedimiento de elección judicial: postulación, insaculación y boletas  (8/8)</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Las personas candidatas tendran derecho de acceso a radio y televisión de manera igualitaria y podrán participar en foros de debate. Para todos los cargos de elección del Poder Judicial de la Federación estara prohibido el financiamiento público o privado de las campanas, así como la contratación de espacios en medios. Los partidos políticos y las personas servidoras públicas no podrán realizar actos de proselitismo ni posicionarse a favor o en contra de candidatura alguna.</a:t>
            </a:r>
          </a:p>
          <a:p>
            <a:pPr>
              <a:lnSpc>
                <a:spcPct val="118000"/>
              </a:lnSpc>
              <a:spcAft>
                <a:spcPts val="300"/>
              </a:spcAft>
            </a:pPr>
            <a:r>
              <a:rPr sz="1100" b="0" u="none">
                <a:solidFill>
                  <a:srgbClr val="1A1A1A"/>
                </a:solidFill>
                <a:latin typeface="Montserrat"/>
              </a:rPr>
              <a:t>La duración de las campanas será de sesenta días y en ningun caso habra etapa de precampana. La ley establecerá la forma de las campanas, así como las restricciones y sanciones aplicables a las personas candidatas o servidoras públicas cuyas manifestaciones o propuestas excedan o contravengan los parametros constitucionales y legales.</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Las personas candidatas tendran derecho de acceso a radio y televisión de manera igualitaria y podrán participar en foros de debate. Para todos los cargos de elección del Poder Judicial de la Federación estara prohibido el financiamiento público o privado de las campanas, así como la contratación de espacios en medios. Los partidos políticos y las personas servidoras públicas no podrán realizar actos de proselitismo ni posicionarse a favor o en contra de candidatura alguna.</a:t>
            </a:r>
          </a:p>
          <a:p>
            <a:pPr>
              <a:lnSpc>
                <a:spcPct val="118000"/>
              </a:lnSpc>
              <a:spcAft>
                <a:spcPts val="300"/>
              </a:spcAft>
            </a:pPr>
            <a:r>
              <a:rPr sz="1100" b="0" u="none">
                <a:solidFill>
                  <a:srgbClr val="1A1A1A"/>
                </a:solidFill>
                <a:latin typeface="Montserrat"/>
              </a:rPr>
              <a:t>La duración de las campanas será de sesenta días y en ningun caso habra etapa de precampana. La ley establecerá la forma de las campanas, así como las restricciones y sanciones aplicables a las personas candidatas o servidoras públicas cuyas manifestaciones o propuestas excedan o contravengan los parametros constitucionales y legales.</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35 / 48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98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Vacantes, licencias y separación del cargo  (1/3)</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Artículo 98. Cuando la falta de una Ministra o Ministro de la Suprema Corte de Justicia de la Nación, Magistrada o Magistrado del Tribunal de Disciplina Judicial, Magistrada o Magistrado del Tribunal Electoral, </a:t>
            </a:r>
            <a:r>
              <a:rPr sz="1100" b="1" u="sng">
                <a:solidFill>
                  <a:srgbClr val="6B1531"/>
                </a:solidFill>
                <a:latin typeface="Montserrat"/>
              </a:rPr>
              <a:t>Magistrada o Magistrado de Circuito y Jueza o Juez de Distrito</a:t>
            </a:r>
            <a:r>
              <a:rPr sz="1100" b="0" u="none">
                <a:solidFill>
                  <a:srgbClr val="1A1A1A"/>
                </a:solidFill>
                <a:latin typeface="Montserrat"/>
              </a:rPr>
              <a:t> excediere de un mes sin licencia o dicha falta se deba a su defunción, renuncia o cualquier causa de separación definitiva, ocupará la vacante la persona del mismo género que haya obtenido el segundo lugar en número de votos en la elección para ese cargo; en caso de declinación o imposibilidad, seguirá en orden de prelación la persona que haya obtenido mayor votación. El Senado de la República tomará protesta a la persona sustituta para desempeñarse por el periodo que reste al encargo.</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Artículo 98. Cuando la falta de una Ministra o Ministro de la Suprema Corte de Justicia de la Nación, Magistrada o Magistrado del Tribunal de Disciplina Judicial </a:t>
            </a:r>
            <a:r>
              <a:rPr sz="1100" b="1" u="sng">
                <a:solidFill>
                  <a:srgbClr val="1E5B4F"/>
                </a:solidFill>
                <a:latin typeface="Montserrat"/>
              </a:rPr>
              <a:t>y</a:t>
            </a:r>
            <a:r>
              <a:rPr sz="1100" b="0" u="none">
                <a:solidFill>
                  <a:srgbClr val="1A1A1A"/>
                </a:solidFill>
                <a:latin typeface="Montserrat"/>
              </a:rPr>
              <a:t> Magistrada o Magistrado del Tribunal Electoral excediere de un mes sin licencia o dicha falta se deba a su defunción, renuncia o cualquier causa de separación definitiva, ocupará la vacante la persona del mismo género que haya obtenido el segundo lugar en número de votos en la elección para ese cargo; en caso de declinación o imposibilidad, seguirá en orden de prelación la persona que haya obtenido mayor votación. El Senado de la República tomará protesta a la persona sustituta para desempeñarse por el periodo que reste al encargo. </a:t>
            </a:r>
            <a:r>
              <a:rPr sz="1100" b="1" u="sng">
                <a:solidFill>
                  <a:srgbClr val="1E5B4F"/>
                </a:solidFill>
                <a:latin typeface="Montserrat"/>
              </a:rPr>
              <a:t>En caso de defunción, renuncia, destitución o ausencia definitiva de Magistradas o Magistrados de Circuito y Juezas o Jueces de Distrito, el órgano de administración judicial declarará vacante el cargo y deberá renovarse para un nuevo periodo en la elección inmediata posterior que corresponda.</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36 / 48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98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Vacantes, licencias y separación del cargo  (2/3)</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Las renuncias de las Ministras y los Ministros de la Suprema Corte de Justicia, Magistradas y Magistrados del Tribunal de Disciplina Judicial y Magistradas y Magistrados del Tribunal Electoral solamente procederan por causas graves; serán aprobadas por mayoría de los miembros presentes del Senado de la República o, en sus recesos, por la Comisión Permanente.</a:t>
            </a:r>
          </a:p>
          <a:p>
            <a:pPr>
              <a:lnSpc>
                <a:spcPct val="118000"/>
              </a:lnSpc>
              <a:spcAft>
                <a:spcPts val="300"/>
              </a:spcAft>
            </a:pPr>
            <a:r>
              <a:rPr sz="1100" b="0" u="none">
                <a:solidFill>
                  <a:srgbClr val="1A1A1A"/>
                </a:solidFill>
                <a:latin typeface="Montserrat"/>
              </a:rPr>
              <a:t>Las licencias de las personas servidoras públicas señaladas en el párrafo primero de este artículo, cuando no excedan de un mes, podrán ser concedidas por el Pleno de la SCJN para Ministras y Ministros, por el Pleno del Tribunal de Disciplina Judicial para sus integrantes, por el Pleno de la Sala Superior del Tribunal Electoral para Magistradas y Magistrados Electorales y por el órgano de administración judicial para Magistraturas de Circuito o Juzgados de Distrito. Las licencias que excedan de este tiempo deberán justificarse y podrán concederse sin goce de sueldo por la mayoría de los miembros presentes del Senado o, en sus recesos, por la Comisión Permanente. Ninguna licencia podrá exceder del término de un año.</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Las renuncias de las Ministras y los Ministros de la Suprema Corte de Justicia, Magistradas y Magistrados del Tribunal de Disciplina Judicial y Magistradas y Magistrados del Tribunal Electoral solamente procederan por causas graves; serán aprobadas por mayoría de los miembros presentes del Senado de la República o, en sus recesos, por la Comisión Permanente.</a:t>
            </a:r>
          </a:p>
          <a:p>
            <a:pPr>
              <a:lnSpc>
                <a:spcPct val="118000"/>
              </a:lnSpc>
              <a:spcAft>
                <a:spcPts val="300"/>
              </a:spcAft>
            </a:pPr>
            <a:r>
              <a:rPr sz="1100" b="0" u="none">
                <a:solidFill>
                  <a:srgbClr val="1A1A1A"/>
                </a:solidFill>
                <a:latin typeface="Montserrat"/>
              </a:rPr>
              <a:t>Las licencias de las personas servidoras públicas señaladas en el párrafo primero de este artículo, cuando no excedan de un mes, podrán ser concedidas por el Pleno de la SCJN para Ministras y Ministros, por el Pleno del Tribunal de Disciplina Judicial para sus integrantes, por el Pleno de la Sala Superior del Tribunal Electoral para Magistradas y Magistrados Electorales y por el órgano de administración judicial para Magistraturas de Circuito o Juzgados de Distrito. Las licencias que excedan de este tiempo deberán justificarse y podrán concederse sin goce de sueldo por la mayoría de los miembros presentes del Senado o, en sus recesos, por la Comisión Permanente, </a:t>
            </a:r>
            <a:r>
              <a:rPr sz="1100" b="1" u="sng">
                <a:solidFill>
                  <a:srgbClr val="1E5B4F"/>
                </a:solidFill>
                <a:latin typeface="Montserrat"/>
              </a:rPr>
              <a:t>salvo en el caso de Magistradas y Magistrados de Circuito o Juezas y Jueces de Distrito, que podrán concederse sin goce de sueldo por el órgano de administración judicial</a:t>
            </a:r>
            <a:r>
              <a:rPr sz="1100" b="0" u="none">
                <a:solidFill>
                  <a:srgbClr val="1A1A1A"/>
                </a:solidFill>
                <a:latin typeface="Montserrat"/>
              </a:rPr>
              <a:t>. Ninguna licencia podrá exceder del término de un año.</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37 / 48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039112"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98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Vacantes, licencias y separación del cargo  (3/3)</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(No existia este párrafo.)</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1" u="sng">
                <a:solidFill>
                  <a:srgbClr val="1E5B4F"/>
                </a:solidFill>
                <a:latin typeface="Montserrat"/>
              </a:rPr>
              <a:t>Las personas juzgadoras que aspiren a un cargo de elección distinto al que ostenten deberán separarse del cargo mediante renuncia expresa e irrevocable, la cual informarán al órgano de administración judicial antes de su registro en el proceso correspondiente. El órgano de administración judicial comunicará de inmediato la vacante a la autoridad competente para que el cargo sea sujeto a elección.</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38 / 48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121408"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100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Tribunal de Disciplina Judicial: evaluación y capacitación  (1/4)</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Artículo 100. El Tribunal de Disciplina Judicial será un órgano del Poder Judicial de la Federación con independencia técnica, de gestión y para emitir sus resoluciones.</a:t>
            </a:r>
          </a:p>
          <a:p>
            <a:pPr>
              <a:lnSpc>
                <a:spcPct val="118000"/>
              </a:lnSpc>
              <a:spcAft>
                <a:spcPts val="300"/>
              </a:spcAft>
            </a:pPr>
            <a:r>
              <a:rPr sz="1100" b="0" u="none">
                <a:solidFill>
                  <a:srgbClr val="1A1A1A"/>
                </a:solidFill>
                <a:latin typeface="Montserrat"/>
              </a:rPr>
              <a:t>El Tribunal de Disciplina se integrará por cinco personas electas por la ciudadania a nivel nacional conforme al procedimiento establecido en el artículo 96 de esta Constitución.</a:t>
            </a:r>
          </a:p>
          <a:p>
            <a:pPr>
              <a:lnSpc>
                <a:spcPct val="118000"/>
              </a:lnSpc>
              <a:spcAft>
                <a:spcPts val="300"/>
              </a:spcAft>
            </a:pPr>
            <a:r>
              <a:rPr sz="1100" b="0" u="none">
                <a:solidFill>
                  <a:srgbClr val="1A1A1A"/>
                </a:solidFill>
                <a:latin typeface="Montserrat"/>
              </a:rPr>
              <a:t>Para ser elegibles, las Magistradas y Magistrados del Tribunal de Disciplina Judicial deberán reunir los requisitos del artículo 95 y haberse distinguido por su capacidad profesional, honestidad y honorabilidad. Durarán seis años en su encargo, serán sustituidos de manera escalonada y no podrán ser electos para un nuevo periodo. Cada dos años se renovará la presidencia de manera rotatoria en función del número de votos.</a:t>
            </a:r>
          </a:p>
          <a:p>
            <a:pPr>
              <a:lnSpc>
                <a:spcPct val="118000"/>
              </a:lnSpc>
              <a:spcAft>
                <a:spcPts val="300"/>
              </a:spcAft>
            </a:pPr>
            <a:r>
              <a:rPr sz="1100" b="0" u="none">
                <a:solidFill>
                  <a:srgbClr val="1A1A1A"/>
                </a:solidFill>
                <a:latin typeface="Montserrat"/>
              </a:rPr>
              <a:t>El Tribunal de Disciplina Judicial funcionará en Pleno y en comisiones. El Pleno será la autoridad substanciadora y resolvera en segunda instancia; podrá ordenar investigaciones, atraer procedimientos relacionados con faltas graves o delitos, ordenar medidas cautelares y sancionar a las personas servidoras públicas que incurran en actos u omisiones contrarias a la ley, a la administración de justicia o a los principios de objetividad, imparcialidad, independencia, profesionalismo o excelencia.</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Artículo 100. El Tribunal de Disciplina Judicial será un órgano del Poder Judicial de la Federación con independencia técnica, de gestión y para emitir sus resoluciones.</a:t>
            </a:r>
          </a:p>
          <a:p>
            <a:pPr>
              <a:lnSpc>
                <a:spcPct val="118000"/>
              </a:lnSpc>
              <a:spcAft>
                <a:spcPts val="300"/>
              </a:spcAft>
            </a:pPr>
            <a:r>
              <a:rPr sz="1100" b="0" u="none">
                <a:solidFill>
                  <a:srgbClr val="1A1A1A"/>
                </a:solidFill>
                <a:latin typeface="Montserrat"/>
              </a:rPr>
              <a:t>El Tribunal de Disciplina se integrará por cinco personas electas por la ciudadania a nivel nacional conforme al procedimiento establecido en el artículo 96 de esta Constitución.</a:t>
            </a:r>
          </a:p>
          <a:p>
            <a:pPr>
              <a:lnSpc>
                <a:spcPct val="118000"/>
              </a:lnSpc>
              <a:spcAft>
                <a:spcPts val="300"/>
              </a:spcAft>
            </a:pPr>
            <a:r>
              <a:rPr sz="1100" b="0" u="none">
                <a:solidFill>
                  <a:srgbClr val="1A1A1A"/>
                </a:solidFill>
                <a:latin typeface="Montserrat"/>
              </a:rPr>
              <a:t>Para ser elegibles, las Magistradas y Magistrados del Tribunal de Disciplina Judicial deberán reunir los requisitos del artículo 95 y haberse distinguido por su capacidad profesional, honestidad y honorabilidad. Durarán seis años en su encargo, serán sustituidos de manera escalonada y no podrán ser electos para un nuevo periodo. Cada dos años se renovará la presidencia de manera rotatoria en función del número de votos.</a:t>
            </a:r>
          </a:p>
          <a:p>
            <a:pPr>
              <a:lnSpc>
                <a:spcPct val="118000"/>
              </a:lnSpc>
              <a:spcAft>
                <a:spcPts val="300"/>
              </a:spcAft>
            </a:pPr>
            <a:r>
              <a:rPr sz="1100" b="0" u="none">
                <a:solidFill>
                  <a:srgbClr val="1A1A1A"/>
                </a:solidFill>
                <a:latin typeface="Montserrat"/>
              </a:rPr>
              <a:t>El Tribunal de Disciplina Judicial funcionará en Pleno y en comisiones. El Pleno será la autoridad substanciadora y resolvera en segunda instancia; podrá ordenar investigaciones, atraer procedimientos relacionados con faltas graves o delitos, ordenar medidas cautelares y sancionar a las personas servidoras públicas que incurran en actos u omisiones contrarias a la ley, a la administración de justicia o a los principios de objetividad, imparcialidad, independencia, profesionalismo o excelencia.</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39 / 48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121408"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100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Tribunal de Disciplina Judicial: evaluación y capacitación  (2/4)</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El Tribunal desahogara el procedimiento de responsabilidades administrativas en primera instancia a traves de comisiones de tres integrantes. Sus resoluciones podrán impugnarse ante el Pleno, que resolvera por mayoría de cuatro votos. Las decisiones del Tribunal serán definitivas e inatacables.</a:t>
            </a:r>
          </a:p>
          <a:p>
            <a:pPr>
              <a:lnSpc>
                <a:spcPct val="118000"/>
              </a:lnSpc>
              <a:spcAft>
                <a:spcPts val="300"/>
              </a:spcAft>
            </a:pPr>
            <a:r>
              <a:rPr sz="1100" b="0" u="none">
                <a:solidFill>
                  <a:srgbClr val="1A1A1A"/>
                </a:solidFill>
                <a:latin typeface="Montserrat"/>
              </a:rPr>
              <a:t>El Tribunal conducira sus investigaciones a traves de una unidad responsable de integrar y presentar los informes de probable responsabilidad, pudiendo recolectar indicios, requerir información, realizar inspecciones, llamar a comparecer y solicitar medidas cautelares.</a:t>
            </a:r>
          </a:p>
          <a:p>
            <a:pPr>
              <a:lnSpc>
                <a:spcPct val="118000"/>
              </a:lnSpc>
              <a:spcAft>
                <a:spcPts val="300"/>
              </a:spcAft>
            </a:pPr>
            <a:r>
              <a:rPr sz="1100" b="0" u="none">
                <a:solidFill>
                  <a:srgbClr val="1A1A1A"/>
                </a:solidFill>
                <a:latin typeface="Montserrat"/>
              </a:rPr>
              <a:t>El Tribunal podrá dar vista al Ministerio Público ante la posible comisión de delitos y, sin perjuicio de sus atribuciones sancionadoras, solicitar el juicio político de las personas juzgadoras electas por voto popular ante la Cámara de Diputados.</a:t>
            </a:r>
          </a:p>
          <a:p>
            <a:pPr>
              <a:lnSpc>
                <a:spcPct val="118000"/>
              </a:lnSpc>
              <a:spcAft>
                <a:spcPts val="300"/>
              </a:spcAft>
            </a:pPr>
            <a:r>
              <a:rPr sz="1100" b="0" u="none">
                <a:solidFill>
                  <a:srgbClr val="1A1A1A"/>
                </a:solidFill>
                <a:latin typeface="Montserrat"/>
              </a:rPr>
              <a:t>Las sanciones podrán incluir amonestación, suspensión, sanción económica, destitución e inhabilitación, con excepción de Ministras y Ministros de la SCJN y Magistradas y Magistrados electorales, que solo podrán ser removidos en los términos del Titulo Cuarto de esta Constitución.</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El Tribunal desahogara el procedimiento de responsabilidades administrativas en primera instancia a traves de comisiones de tres integrantes. Sus resoluciones podrán impugnarse ante el Pleno, que resolvera por mayoría de cuatro votos. Las decisiones del Tribunal serán definitivas e inatacables.</a:t>
            </a:r>
          </a:p>
          <a:p>
            <a:pPr>
              <a:lnSpc>
                <a:spcPct val="118000"/>
              </a:lnSpc>
              <a:spcAft>
                <a:spcPts val="300"/>
              </a:spcAft>
            </a:pPr>
            <a:r>
              <a:rPr sz="1100" b="0" u="none">
                <a:solidFill>
                  <a:srgbClr val="1A1A1A"/>
                </a:solidFill>
                <a:latin typeface="Montserrat"/>
              </a:rPr>
              <a:t>El Tribunal conducira sus investigaciones a traves de una unidad responsable de integrar y presentar los informes de probable responsabilidad, pudiendo recolectar indicios, requerir información, realizar inspecciones, llamar a comparecer y solicitar medidas cautelares.</a:t>
            </a:r>
          </a:p>
          <a:p>
            <a:pPr>
              <a:lnSpc>
                <a:spcPct val="118000"/>
              </a:lnSpc>
              <a:spcAft>
                <a:spcPts val="300"/>
              </a:spcAft>
            </a:pPr>
            <a:r>
              <a:rPr sz="1100" b="0" u="none">
                <a:solidFill>
                  <a:srgbClr val="1A1A1A"/>
                </a:solidFill>
                <a:latin typeface="Montserrat"/>
              </a:rPr>
              <a:t>El Tribunal podrá dar vista al Ministerio Público ante la posible comisión de delitos y, sin perjuicio de sus atribuciones sancionadoras, solicitar el juicio político de las personas juzgadoras electas por voto popular ante la Cámara de Diputados.</a:t>
            </a:r>
          </a:p>
          <a:p>
            <a:pPr>
              <a:lnSpc>
                <a:spcPct val="118000"/>
              </a:lnSpc>
              <a:spcAft>
                <a:spcPts val="300"/>
              </a:spcAft>
            </a:pPr>
            <a:r>
              <a:rPr sz="1100" b="0" u="none">
                <a:solidFill>
                  <a:srgbClr val="1A1A1A"/>
                </a:solidFill>
                <a:latin typeface="Montserrat"/>
              </a:rPr>
              <a:t>Las sanciones podrán incluir amonestación, suspensión, sanción económica, destitución e inhabilitación, con excepción de Ministras y Ministros de la SCJN y Magistradas y Magistrados electorales, que solo podrán ser removidos en los términos del Titulo Cuarto de esta Constitución.</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40 / 48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121408"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100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Tribunal de Disciplina Judicial: evaluación y capacitación  (3/4)</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El Tribunal evaluará el desempeño de las Magistradas y Magistrados de Circuito y las Juezas y Jueces de Distrito que resulten electas </a:t>
            </a:r>
            <a:r>
              <a:rPr sz="1100" b="1" u="sng">
                <a:solidFill>
                  <a:srgbClr val="6B1531"/>
                </a:solidFill>
                <a:latin typeface="Montserrat"/>
              </a:rPr>
              <a:t>en la elección federal que corresponda</a:t>
            </a:r>
            <a:r>
              <a:rPr sz="1100" b="0" u="none">
                <a:solidFill>
                  <a:srgbClr val="1A1A1A"/>
                </a:solidFill>
                <a:latin typeface="Montserrat"/>
              </a:rPr>
              <a:t> durante su primer año de ejercicio. La ley establecerá los métodos, criterios e indicadores aplicables a dicha evaluación.</a:t>
            </a:r>
          </a:p>
          <a:p>
            <a:pPr>
              <a:lnSpc>
                <a:spcPct val="118000"/>
              </a:lnSpc>
              <a:spcAft>
                <a:spcPts val="300"/>
              </a:spcAft>
            </a:pPr>
            <a:r>
              <a:rPr sz="1100" b="0" u="none">
                <a:solidFill>
                  <a:srgbClr val="1A1A1A"/>
                </a:solidFill>
                <a:latin typeface="Montserrat"/>
              </a:rPr>
              <a:t>La ley señalará las </a:t>
            </a:r>
            <a:r>
              <a:rPr sz="1100" b="1" u="sng">
                <a:solidFill>
                  <a:srgbClr val="6B1531"/>
                </a:solidFill>
                <a:latin typeface="Montserrat"/>
              </a:rPr>
              <a:t>areas intervinientes</a:t>
            </a:r>
            <a:r>
              <a:rPr sz="1100" b="0" u="none">
                <a:solidFill>
                  <a:srgbClr val="1A1A1A"/>
                </a:solidFill>
                <a:latin typeface="Montserrat"/>
              </a:rPr>
              <a:t> en los procesos de evaluación y seguimiento de resultados, garantizando la imparcialidad y objetividad de las personas evaluadoras, así como los procedimientos para ordenar las siguientes medidas correctivas o sancionadoras cuando la evaluación resulte insatisfactoria:</a:t>
            </a:r>
          </a:p>
          <a:p>
            <a:pPr>
              <a:lnSpc>
                <a:spcPct val="118000"/>
              </a:lnSpc>
              <a:spcAft>
                <a:spcPts val="300"/>
              </a:spcAft>
            </a:pPr>
            <a:r>
              <a:rPr sz="1100" b="0" u="none">
                <a:solidFill>
                  <a:srgbClr val="1A1A1A"/>
                </a:solidFill>
                <a:latin typeface="Montserrat"/>
              </a:rPr>
              <a:t>a) Medidas de fortalecimiento, consistentes en actividades de capacitación y otras tendientes a reforzar los conocimientos o competencias de la persona evaluada, a cuyo término se aplicará una nueva evaluación, y</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El Tribunal evaluará el desempeño de las Magistradas y Magistrados de Circuito y las Juezas y Jueces de Distrito que resulten electas durante su primer año de ejercicio </a:t>
            </a:r>
            <a:r>
              <a:rPr sz="1100" b="1" u="sng">
                <a:solidFill>
                  <a:srgbClr val="1E5B4F"/>
                </a:solidFill>
                <a:latin typeface="Montserrat"/>
              </a:rPr>
              <a:t>y aplicará programas de capacitación y actualización permanente, para lo cual podrá coordinarse con la Escuela Nacional de Formación Judicial</a:t>
            </a:r>
            <a:r>
              <a:rPr sz="1100" b="0" u="none">
                <a:solidFill>
                  <a:srgbClr val="1A1A1A"/>
                </a:solidFill>
                <a:latin typeface="Montserrat"/>
              </a:rPr>
              <a:t>. La ley establecerá los métodos, criterios e indicadores aplicables a los procesos de evaluación que correspondan.</a:t>
            </a:r>
          </a:p>
          <a:p>
            <a:pPr>
              <a:lnSpc>
                <a:spcPct val="118000"/>
              </a:lnSpc>
              <a:spcAft>
                <a:spcPts val="300"/>
              </a:spcAft>
            </a:pPr>
            <a:r>
              <a:rPr sz="1100" b="0" u="none">
                <a:solidFill>
                  <a:srgbClr val="1A1A1A"/>
                </a:solidFill>
                <a:latin typeface="Montserrat"/>
              </a:rPr>
              <a:t>La ley señalará los </a:t>
            </a:r>
            <a:r>
              <a:rPr sz="1100" b="1" u="sng">
                <a:solidFill>
                  <a:srgbClr val="1E5B4F"/>
                </a:solidFill>
                <a:latin typeface="Montserrat"/>
              </a:rPr>
              <a:t>criterios, metodologías, etapas</a:t>
            </a:r>
            <a:r>
              <a:rPr sz="1100" b="0" u="none">
                <a:solidFill>
                  <a:srgbClr val="1A1A1A"/>
                </a:solidFill>
                <a:latin typeface="Montserrat"/>
              </a:rPr>
              <a:t>, areas intervinientes en los procesos de evaluación y seguimiento de resultados, garantizando la </a:t>
            </a:r>
            <a:r>
              <a:rPr sz="1100" b="1" u="sng">
                <a:solidFill>
                  <a:srgbClr val="1E5B4F"/>
                </a:solidFill>
                <a:latin typeface="Montserrat"/>
              </a:rPr>
              <a:t>transparencia</a:t>
            </a:r>
            <a:r>
              <a:rPr sz="1100" b="0" u="none">
                <a:solidFill>
                  <a:srgbClr val="1A1A1A"/>
                </a:solidFill>
                <a:latin typeface="Montserrat"/>
              </a:rPr>
              <a:t>, imparcialidad y objetividad de los procesos de evaluación y de las personas evaluadoras, así como los procedimientos para ordenar las siguientes medidas correctivas o sancionadoras cuando la evaluación correspondiente resulte insatisfactoria:</a:t>
            </a:r>
          </a:p>
          <a:p>
            <a:pPr>
              <a:lnSpc>
                <a:spcPct val="118000"/>
              </a:lnSpc>
              <a:spcAft>
                <a:spcPts val="300"/>
              </a:spcAft>
            </a:pPr>
            <a:r>
              <a:rPr sz="1100" b="0" u="none">
                <a:solidFill>
                  <a:srgbClr val="1A1A1A"/>
                </a:solidFill>
                <a:latin typeface="Montserrat"/>
              </a:rPr>
              <a:t>a) Medidas de fortalecimiento, consistentes en actividades de capacitación y otras tendientes a reforzar los conocimientos o competencias de la persona evaluada, a cuyo término se aplicará una nueva evaluación, y</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41 / 48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2121408"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100 (íntegro)</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Tribunal de Disciplina Judicial: evaluación y capacitación  (4/4)</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b) Cuando la persona servidora pública no acredite favorablemente la evaluación o se niegue a acatar las medidas correctivas, el Tribunal podrá ordenar su suspensión de hasta un año y, transcurrido ese plazo sin acreditarla, resolver de manera fundada y motivada su destitución, sin responsabilidad para el Poder Judicial.</a:t>
            </a:r>
          </a:p>
          <a:p>
            <a:pPr>
              <a:lnSpc>
                <a:spcPct val="118000"/>
              </a:lnSpc>
              <a:spcAft>
                <a:spcPts val="300"/>
              </a:spcAft>
            </a:pPr>
            <a:r>
              <a:rPr sz="1100" b="0" u="none">
                <a:solidFill>
                  <a:srgbClr val="1A1A1A"/>
                </a:solidFill>
                <a:latin typeface="Montserrat"/>
              </a:rPr>
              <a:t>Las Magistradas y los Magistrados del Tribunal de Disciplina ejerceran su función con independencia e imparcialidad. Durante su encargo, solo podrán ser removidos en los términos del Titulo Cuarto de esta Constitución.</a:t>
            </a:r>
          </a:p>
          <a:p>
            <a:pPr>
              <a:lnSpc>
                <a:spcPct val="118000"/>
              </a:lnSpc>
              <a:spcAft>
                <a:spcPts val="300"/>
              </a:spcAft>
            </a:pPr>
            <a:r>
              <a:rPr sz="1100" b="0" u="none">
                <a:solidFill>
                  <a:srgbClr val="1A1A1A"/>
                </a:solidFill>
                <a:latin typeface="Montserrat"/>
              </a:rPr>
              <a:t>El órgano de administración judicial contara con independencia técnica y de gestión, y será responsable de la administración y carrera judicial del Poder Judicial, conforme a las leyes.</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b) Cuando la persona servidora pública no acredite favorablemente la evaluación o se niegue a acatar las medidas correctivas, el Tribunal podrá ordenar su suspensión de hasta un año y, transcurrido ese plazo sin acreditarla, resolver de manera fundada y motivada su destitución, sin responsabilidad para el Poder Judicial.</a:t>
            </a:r>
          </a:p>
          <a:p>
            <a:pPr>
              <a:lnSpc>
                <a:spcPct val="118000"/>
              </a:lnSpc>
              <a:spcAft>
                <a:spcPts val="300"/>
              </a:spcAft>
            </a:pPr>
            <a:r>
              <a:rPr sz="1100" b="0" u="none">
                <a:solidFill>
                  <a:srgbClr val="1A1A1A"/>
                </a:solidFill>
                <a:latin typeface="Montserrat"/>
              </a:rPr>
              <a:t>Las Magistradas y los Magistrados del Tribunal de Disciplina ejerceran su función con independencia e imparcialidad. Durante su encargo, solo podrán ser removidos en los términos del Titulo Cuarto de esta Constitución.</a:t>
            </a:r>
          </a:p>
          <a:p>
            <a:pPr>
              <a:lnSpc>
                <a:spcPct val="118000"/>
              </a:lnSpc>
              <a:spcAft>
                <a:spcPts val="300"/>
              </a:spcAft>
            </a:pPr>
            <a:r>
              <a:rPr sz="1100" b="0" u="none">
                <a:solidFill>
                  <a:srgbClr val="1A1A1A"/>
                </a:solidFill>
                <a:latin typeface="Montserrat"/>
              </a:rPr>
              <a:t>El órgano de administración judicial contara con independencia técnica y de gestión, y será responsable de la administración y carrera judicial del Poder Judicial, conforme a las leyes.</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42 / 48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3355848"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116 - FRACCIÓN III (íntegra)</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Poderes Judiciales de los Estados  (1/3)</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III. El Poder Judicial de los Estados se ejercera por los tribunales que establezcan las Constituciones respectivas.</a:t>
            </a:r>
          </a:p>
          <a:p>
            <a:pPr>
              <a:lnSpc>
                <a:spcPct val="118000"/>
              </a:lnSpc>
              <a:spcAft>
                <a:spcPts val="300"/>
              </a:spcAft>
            </a:pPr>
            <a:r>
              <a:rPr sz="1100" b="0" u="none">
                <a:solidFill>
                  <a:srgbClr val="1A1A1A"/>
                </a:solidFill>
                <a:latin typeface="Montserrat"/>
              </a:rPr>
              <a:t>La independencia de las magistradas y los magistrados y juezas y jueces en el ejercicio de sus funciones deberá estar garantizada por las Constituciones y las Leyes Organicas de los Estados, las cuales establecerán las condiciones para su elección por voto directo y secreto de la ciudadania; la creación de un Tribunal de Disciplina Judicial y de un órgano de administración judicial, conforme a las bases establecidas en esta Constitución para el Poder Judicial de la Federación; así como del ingreso, formación y permanencia de quienes sirvan a los Poderes Judiciales de los Estados.</a:t>
            </a:r>
          </a:p>
          <a:p>
            <a:pPr>
              <a:lnSpc>
                <a:spcPct val="118000"/>
              </a:lnSpc>
              <a:spcAft>
                <a:spcPts val="300"/>
              </a:spcAft>
            </a:pPr>
            <a:r>
              <a:rPr sz="1100" b="0" u="none">
                <a:solidFill>
                  <a:srgbClr val="1A1A1A"/>
                </a:solidFill>
                <a:latin typeface="Montserrat"/>
              </a:rPr>
              <a:t>Las Magistradas y los Magistrados y las juezas y los jueces integrantes de los Poderes Judiciales Locales deberán reunir los requisitos señalados por las fracciones I a IV del párrafo segundo del artículo 97 de esta Constitución. No podrán ser Magistradas o Magistrados las personas que hayan ocupado el cargo de titular de Secretaria o su equivalente, Fiscal o Diputada o Diputado Local, durante el año previo a la convocatoria respectiva por el Congreso local.</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III. El Poder Judicial de los Estados se ejercera por los tribunales que establezcan las Constituciones respectivas.</a:t>
            </a:r>
          </a:p>
          <a:p>
            <a:pPr>
              <a:lnSpc>
                <a:spcPct val="118000"/>
              </a:lnSpc>
              <a:spcAft>
                <a:spcPts val="300"/>
              </a:spcAft>
            </a:pPr>
            <a:r>
              <a:rPr sz="1100" b="0" u="none">
                <a:solidFill>
                  <a:srgbClr val="1A1A1A"/>
                </a:solidFill>
                <a:latin typeface="Montserrat"/>
              </a:rPr>
              <a:t>La independencia de las magistradas y los magistrados y juezas y jueces en el ejercicio de sus funciones deberá estar garantizada por las Constituciones y las Leyes Organicas de los Estados, las cuales establecerán las condiciones para su elección por voto directo y secreto de la ciudadania; la creación de un Tribunal de Disciplina Judicial y de un órgano de administración judicial, conforme a las bases establecidas en esta Constitución para el Poder Judicial de la Federación; así como del ingreso, formación y permanencia de quienes sirvan a los Poderes Judiciales de los Estados.</a:t>
            </a:r>
          </a:p>
          <a:p>
            <a:pPr>
              <a:lnSpc>
                <a:spcPct val="118000"/>
              </a:lnSpc>
              <a:spcAft>
                <a:spcPts val="300"/>
              </a:spcAft>
            </a:pPr>
            <a:r>
              <a:rPr sz="1100" b="0" u="none">
                <a:solidFill>
                  <a:srgbClr val="1A1A1A"/>
                </a:solidFill>
                <a:latin typeface="Montserrat"/>
              </a:rPr>
              <a:t>Las Magistradas y los Magistrados y las juezas y los jueces integrantes de los Poderes Judiciales Locales deberán reunir los requisitos señalados por las fracciones I a IV del párrafo segundo del artículo 97 de esta Constitución. No podrán ser Magistradas o Magistrados las personas que hayan ocupado el cargo de titular de Secretaria o su equivalente, Fiscal o Diputada o Diputado Local, durante el año previo a la convocatoria respectiva por el Congreso local.</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43 / 48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3355848"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116 - FRACCIÓN III (íntegra)</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Poderes Judiciales de los Estados  (2/3)</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Las propuestas de candidaturas y la elección de los magistrados y jueces integrantes de los Poderes Judiciales Locales se realizarán conforme a las bases, procedimientos, términos, modalidades y requisitos que señala esta Constitución para el Poder Judicial de la Federación </a:t>
            </a:r>
            <a:r>
              <a:rPr sz="1100" b="1" u="sng">
                <a:solidFill>
                  <a:srgbClr val="6B1531"/>
                </a:solidFill>
                <a:latin typeface="Montserrat"/>
              </a:rPr>
              <a:t>en lo que resulte aplicable</a:t>
            </a:r>
            <a:r>
              <a:rPr sz="1100" b="0" u="none">
                <a:solidFill>
                  <a:srgbClr val="1A1A1A"/>
                </a:solidFill>
                <a:latin typeface="Montserrat"/>
              </a:rPr>
              <a:t>, estableciendo mecanismos públicos, abiertos, transparentes, inclusivos, accesibles y paritarios de evaluación y selección que garanticen la participación de personas que cuenten con los conocimientos técnicos necesarios para el desempeño del cargo y se hayan distinguido por su honestidad, buena fama pública, competencia y antecedentes profesionales y académicos en el ejercicio de la actividad jurídica.</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Las propuestas de candidaturas y la elección de los magistrados, magistradas, juezas y jueces integrantes de los Poderes Judiciales Locales </a:t>
            </a:r>
            <a:r>
              <a:rPr sz="1100" b="1" u="sng">
                <a:solidFill>
                  <a:srgbClr val="1E5B4F"/>
                </a:solidFill>
                <a:latin typeface="Montserrat"/>
              </a:rPr>
              <a:t>se sujetaran a las mismas bases, etapas, procedimientos, términos, plazos, modalidades, requisitos, duración de los cargos y demás disposiciones que esta Constitución establece para el Poder Judicial de la Federación en todo lo que resulte aplicable, incluyendo de manera enunciativa: a) el establecimiento de mecanismos públicos, abiertos, transparentes, inclusivos, accesibles y paritarios de evaluación y selección; b) la integración por cada poder local de Comites de Evaluación que, a traves de criterios y metodologías homologadas, seleccionen a las cuatro personas mejor evaluadas para cada cargo; c) la depuración del listado mediante insaculación pública, así como la postulación por cada poder estatal de dos candidaturas por especialidad, observando la paridad de género, y d) la evaluación del desempeño de las personas juzgadoras que resulten electas durante su primer año de ejercicio, así como de su capacitación y actualización permanente por parte del Tribunal de Disciplina Judicial local.</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44 / 48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3355848"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116 - FRACCIÓN III (íntegra)</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Poderes Judiciales de los Estados  (3/3)</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Las y los magistrados y las y los jueces durarán en el ejercicio de su encargo nueve años, podrán ser reelectos y, si lo fueren, solo podrán ser privados de sus puestos en los términos que determinen las Constituciones y las Leyes de Responsabilidades de los Servidores Públicos de los Estados.</a:t>
            </a:r>
          </a:p>
          <a:p>
            <a:pPr>
              <a:lnSpc>
                <a:spcPct val="118000"/>
              </a:lnSpc>
              <a:spcAft>
                <a:spcPts val="300"/>
              </a:spcAft>
            </a:pPr>
            <a:r>
              <a:rPr sz="1100" b="0" u="none">
                <a:solidFill>
                  <a:srgbClr val="1A1A1A"/>
                </a:solidFill>
                <a:latin typeface="Montserrat"/>
              </a:rPr>
              <a:t>Las magistradas y los magistrados y las juezas y los jueces percibiran una remuneración adecuada e irrenunciable, la cual no podrá ser mayor a la establecida para la persona titular de la Presidencia de la República y no será disminuida durante su encargo.</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Las y los magistrados y las y los jueces durarán en el ejercicio de su encargo nueve años, podrán ser reelectos y, si lo fueren, solo podrán ser privados de sus puestos en los términos que determinen las Constituciones y las Leyes de Responsabilidades de los Servidores Públicos de los Estados.</a:t>
            </a:r>
          </a:p>
          <a:p>
            <a:pPr>
              <a:lnSpc>
                <a:spcPct val="118000"/>
              </a:lnSpc>
              <a:spcAft>
                <a:spcPts val="300"/>
              </a:spcAft>
            </a:pPr>
            <a:r>
              <a:rPr sz="1100" b="0" u="none">
                <a:solidFill>
                  <a:srgbClr val="1A1A1A"/>
                </a:solidFill>
                <a:latin typeface="Montserrat"/>
              </a:rPr>
              <a:t>Las magistradas y los magistrados y las juezas y los jueces percibiran una remuneración adecuada e irrenunciable, la cual no podrá ser mayor a la establecida para la persona titular de la Presidencia de la República y no será disminuida durante su encargo.</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45 / 48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4261104"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122 - APARTADO A, FRACCIÓN IV (íntegra)</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Poder Judicial de la Ciudad de México  (1/2)</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IV. El ejercicio del Poder Judicial se deposita en el Tribunal Superior de Justicia, el Tribunal de Disciplina Judicial local, el órgano de administración judicial y los juzgados y tribunales que establezca la Constitución Política de la Ciudad de México, la que garantizará la independencia de los magistrados y jueces en el ejercicio de sus funciones. Las leyes locales establecerán las condiciones para su elección por voto libre, directo y secreto de la ciudadania conforme a las bases, procedimientos, términos, modalidades y requisitos que señala esta Constitución para el Poder Judicial de la Federación </a:t>
            </a:r>
            <a:r>
              <a:rPr sz="1100" b="1" u="sng">
                <a:solidFill>
                  <a:srgbClr val="6B1531"/>
                </a:solidFill>
                <a:latin typeface="Montserrat"/>
              </a:rPr>
              <a:t>en lo que resulte aplicable</a:t>
            </a:r>
            <a:r>
              <a:rPr sz="1100" b="0" u="none">
                <a:solidFill>
                  <a:srgbClr val="1A1A1A"/>
                </a:solidFill>
                <a:latin typeface="Montserrat"/>
              </a:rPr>
              <a:t> y los demás que establezca la Constitución Política de la Ciudad de México y las leyes correspondientes, estableciendo mecanismos públicos, abiertos, transparentes, inclusivos, accesibles y paritarios de evaluación y selección que garanticen la participación de personas que cuenten con los conocimientos técnicos necesarios para el desempeño del cargo y se hayan distinguido por su honestidad, buena fama pública, competencia y antecedentes profesionales y académicos en el ejercicio de la actividad jurídica.</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IV. El ejercicio del Poder Judicial se deposita en el Tribunal Superior de Justicia, el Tribunal de Disciplina Judicial local, el órgano de administración judicial y los juzgados y tribunales que establezca la Constitución Política de la Ciudad de México, la que garantizará la independencia de los magistrados, magistradas, juezas y jueces en el ejercicio de sus funciones. Las leyes locales establecerán las condiciones para su elección por voto libre, directo y secreto de la ciudadania </a:t>
            </a:r>
            <a:r>
              <a:rPr sz="1100" b="1" u="sng">
                <a:solidFill>
                  <a:srgbClr val="1E5B4F"/>
                </a:solidFill>
                <a:latin typeface="Montserrat"/>
              </a:rPr>
              <a:t>sujetandose estrictamente a las bases, etapas, procedimientos, términos, modalidades, requisitos, duración de los cargos y demás disposiciones que señala esta Constitución para el Poder Judicial de la Federación en todo lo que resulte aplicable, incluyendo de manera enunciativa: a) el establecimiento de mecanismos públicos, abiertos, transparentes, inclusivos, accesibles y paritarios de evaluación y selección; b) la integración por cada poder de la Ciudad de México de Comites de Evaluación que seleccionen a las cuatro personas mejor evaluadas para cada cargo; c) la depuración mediante insaculación pública y la postulación de dos candidaturas por especialidad, observando la paridad de género, y d) la evaluación del desempeño de las personas juzgadoras durante su primer año de ejercicio, así como de su capacitación y actualización permanente por parte del Tribunal de Disciplina Judicial de la Ciudad de México.</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46 / 48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800"/>
          </a:xfrm>
          <a:prstGeom prst="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4261104" cy="292608"/>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Montserrat"/>
              </a:rPr>
              <a:t>ARTÍCULO 122 - APARTADO A, FRACCIÓN IV (íntegra)</a:t>
            </a:r>
          </a:p>
        </p:txBody>
      </p:sp>
      <p:sp>
        <p:nvSpPr>
          <p:cNvPr id="5" name="TextBox 4"/>
          <p:cNvSpPr txBox="1"/>
          <p:nvPr/>
        </p:nvSpPr>
        <p:spPr>
          <a:xfrm>
            <a:off x="548640" y="841248"/>
            <a:ext cx="11094415" cy="502920"/>
          </a:xfrm>
          <a:prstGeom prst="rect">
            <a:avLst/>
          </a:prstGeom>
          <a:noFill/>
        </p:spPr>
        <p:txBody>
          <a:bodyPr wrap="square" anchor="t" lIns="0" rIns="0" tIns="0" bIns="0">
            <a:spAutoFit/>
          </a:bodyPr>
          <a:lstStyle/>
          <a:p>
            <a:pPr algn="l">
              <a:lnSpc>
                <a:spcPct val="115000"/>
              </a:lnSpc>
            </a:pPr>
            <a:r>
              <a:rPr sz="2200" b="1">
                <a:solidFill>
                  <a:srgbClr val="6B1531"/>
                </a:solidFill>
                <a:latin typeface="Montserrat"/>
              </a:rPr>
              <a:t>Poder Judicial de la Ciudad de México  (2/2)</a:t>
            </a:r>
          </a:p>
        </p:txBody>
      </p:sp>
      <p:sp>
        <p:nvSpPr>
          <p:cNvPr id="6" name="Rectangle 5"/>
          <p:cNvSpPr/>
          <p:nvPr/>
        </p:nvSpPr>
        <p:spPr>
          <a:xfrm>
            <a:off x="548640" y="1389888"/>
            <a:ext cx="77724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3"/>
          </p:cNvPr>
          <p:cNvSpPr/>
          <p:nvPr/>
        </p:nvSpPr>
        <p:spPr>
          <a:xfrm>
            <a:off x="9128455" y="457200"/>
            <a:ext cx="2514600" cy="329184"/>
          </a:xfrm>
          <a:prstGeom prst="roundRect">
            <a:avLst/>
          </a:prstGeom>
          <a:solidFill>
            <a:srgbClr val="6B15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Montserrat"/>
              </a:rPr>
              <a:t>&lt; Volver al comparativo</a:t>
            </a:r>
          </a:p>
        </p:txBody>
      </p:sp>
      <p:sp>
        <p:nvSpPr>
          <p:cNvPr id="8" name="Rectangle 7"/>
          <p:cNvSpPr/>
          <p:nvPr/>
        </p:nvSpPr>
        <p:spPr>
          <a:xfrm>
            <a:off x="548640" y="1371600"/>
            <a:ext cx="5410047" cy="4206240"/>
          </a:xfrm>
          <a:prstGeom prst="rect">
            <a:avLst/>
          </a:prstGeom>
          <a:solidFill>
            <a:srgbClr val="F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50800" cy="4206240"/>
          </a:xfrm>
          <a:prstGeom prst="rect">
            <a:avLst/>
          </a:prstGeom>
          <a:solidFill>
            <a:srgbClr val="9B2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5135727" cy="256032"/>
          </a:xfrm>
          <a:prstGeom prst="rect">
            <a:avLst/>
          </a:prstGeom>
          <a:noFill/>
        </p:spPr>
        <p:txBody>
          <a:bodyPr wrap="square" anchor="t" lIns="0" rIns="0" tIns="0" bIns="0">
            <a:spAutoFit/>
          </a:bodyPr>
          <a:lstStyle/>
          <a:p>
            <a:pPr algn="l">
              <a:lnSpc>
                <a:spcPct val="115000"/>
              </a:lnSpc>
            </a:pPr>
            <a:r>
              <a:rPr sz="1050" b="1">
                <a:solidFill>
                  <a:srgbClr val="6B1531"/>
                </a:solidFill>
                <a:latin typeface="Montserrat"/>
              </a:rPr>
              <a:t>TEXTO VIGENTE (ANTES)  ·  lo subrayado cambia</a:t>
            </a:r>
          </a:p>
        </p:txBody>
      </p:sp>
      <p:sp>
        <p:nvSpPr>
          <p:cNvPr id="11" name="TextBox 10"/>
          <p:cNvSpPr txBox="1"/>
          <p:nvPr/>
        </p:nvSpPr>
        <p:spPr>
          <a:xfrm>
            <a:off x="713232"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Las leyes tambien establecerán las condiciones para el funcionamiento de órganos de administración y disciplina con independencia técnica, de gestión y para emitir sus resoluciones, conforme a las bases establecidas en esta Constitución para el Poder Judicial de la Federación; así como del ingreso, formación, permanencia y especialización de quienes integren el Poder Judicial.</a:t>
            </a:r>
          </a:p>
        </p:txBody>
      </p:sp>
      <p:sp>
        <p:nvSpPr>
          <p:cNvPr id="12" name="Rectangle 11"/>
          <p:cNvSpPr/>
          <p:nvPr/>
        </p:nvSpPr>
        <p:spPr>
          <a:xfrm>
            <a:off x="6233007" y="1371600"/>
            <a:ext cx="5410047" cy="4206240"/>
          </a:xfrm>
          <a:prstGeom prst="rect">
            <a:avLst/>
          </a:prstGeom>
          <a:solidFill>
            <a:srgbClr val="EA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371600"/>
            <a:ext cx="50800" cy="4206240"/>
          </a:xfrm>
          <a:prstGeom prst="rect">
            <a:avLst/>
          </a:prstGeom>
          <a:solidFill>
            <a:srgbClr val="1E5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444752"/>
            <a:ext cx="5135727" cy="256032"/>
          </a:xfrm>
          <a:prstGeom prst="rect">
            <a:avLst/>
          </a:prstGeom>
          <a:noFill/>
        </p:spPr>
        <p:txBody>
          <a:bodyPr wrap="square" anchor="t" lIns="0" rIns="0" tIns="0" bIns="0">
            <a:spAutoFit/>
          </a:bodyPr>
          <a:lstStyle/>
          <a:p>
            <a:pPr algn="l">
              <a:lnSpc>
                <a:spcPct val="115000"/>
              </a:lnSpc>
            </a:pPr>
            <a:r>
              <a:rPr sz="1050" b="1">
                <a:solidFill>
                  <a:srgbClr val="1E5B4F"/>
                </a:solidFill>
                <a:latin typeface="Montserrat"/>
              </a:rPr>
              <a:t>TEXTO REFORMADO (DESPUÉS)  ·  lo subrayado cambia</a:t>
            </a:r>
          </a:p>
        </p:txBody>
      </p:sp>
      <p:sp>
        <p:nvSpPr>
          <p:cNvPr id="15" name="TextBox 14"/>
          <p:cNvSpPr txBox="1"/>
          <p:nvPr/>
        </p:nvSpPr>
        <p:spPr>
          <a:xfrm>
            <a:off x="6397599" y="1755648"/>
            <a:ext cx="5099151" cy="3730752"/>
          </a:xfrm>
          <a:prstGeom prst="rect">
            <a:avLst/>
          </a:prstGeom>
          <a:noFill/>
        </p:spPr>
        <p:txBody>
          <a:bodyPr wrap="square" lIns="0" rIns="0" tIns="0" bIns="0">
            <a:normAutofit/>
          </a:bodyPr>
          <a:lstStyle/>
          <a:p>
            <a:pPr>
              <a:lnSpc>
                <a:spcPct val="118000"/>
              </a:lnSpc>
              <a:spcAft>
                <a:spcPts val="300"/>
              </a:spcAft>
            </a:pPr>
            <a:r>
              <a:rPr sz="1100" b="0" u="none">
                <a:solidFill>
                  <a:srgbClr val="1A1A1A"/>
                </a:solidFill>
                <a:latin typeface="Montserrat"/>
              </a:rPr>
              <a:t>Las leyes tambien establecerán las condiciones para el funcionamiento de órganos de administración y disciplina con independencia técnica, de gestión y para emitir sus resoluciones, conforme a las bases establecidas en esta Constitución para el Poder Judicial de la Federación; así como del ingreso, formación, permanencia y especialización de quienes integren el Poder Judicial.</a:t>
            </a:r>
          </a:p>
        </p:txBody>
      </p:sp>
      <p:sp>
        <p:nvSpPr>
          <p:cNvPr id="16" name="TextBox 15"/>
          <p:cNvSpPr txBox="1"/>
          <p:nvPr/>
        </p:nvSpPr>
        <p:spPr>
          <a:xfrm>
            <a:off x="548640" y="6181344"/>
            <a:ext cx="11094415" cy="292608"/>
          </a:xfrm>
          <a:prstGeom prst="rect">
            <a:avLst/>
          </a:prstGeom>
          <a:noFill/>
        </p:spPr>
        <p:txBody>
          <a:bodyPr wrap="square" lIns="0" rIns="0" tIns="0" bIns="0">
            <a:spAutoFit/>
          </a:bodyPr>
          <a:lstStyle/>
          <a:p>
            <a:r>
              <a:rPr sz="850" u="sng">
                <a:solidFill>
                  <a:srgbClr val="9B2247"/>
                </a:solidFill>
                <a:latin typeface="Montserrat"/>
                <a:hlinkClick r:id="rId2"/>
              </a:rPr>
              <a:t>Fuente: Cámara de Diputados. (2026, 26 de mayo). Dictamen de la Comisión de Puntos Constitucionales (Gaceta Parlamentaria núm. 7046, anexo III).</a:t>
            </a:r>
          </a:p>
        </p:txBody>
      </p:sp>
      <p:sp>
        <p:nvSpPr>
          <p:cNvPr id="17" name="Rectangle 16"/>
          <p:cNvSpPr/>
          <p:nvPr/>
        </p:nvSpPr>
        <p:spPr>
          <a:xfrm>
            <a:off x="0" y="6510528"/>
            <a:ext cx="12191695" cy="347472"/>
          </a:xfrm>
          <a:prstGeom prst="rect">
            <a:avLst/>
          </a:prstGeom>
          <a:solidFill>
            <a:srgbClr val="F5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10528"/>
            <a:ext cx="12191695" cy="254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5547207" cy="292608"/>
          </a:xfrm>
          <a:prstGeom prst="rect">
            <a:avLst/>
          </a:prstGeom>
          <a:noFill/>
        </p:spPr>
        <p:txBody>
          <a:bodyPr wrap="square" anchor="ctr" lIns="0" rIns="0" tIns="0" bIns="0">
            <a:spAutoFit/>
          </a:bodyPr>
          <a:lstStyle/>
          <a:p>
            <a:pPr algn="l">
              <a:lnSpc>
                <a:spcPct val="115000"/>
              </a:lnSpc>
            </a:pPr>
            <a:r>
              <a:rPr sz="900" b="1">
                <a:solidFill>
                  <a:srgbClr val="98989A"/>
                </a:solidFill>
                <a:latin typeface="Montserrat"/>
              </a:rPr>
              <a:t>COMPARATIVO</a:t>
            </a:r>
          </a:p>
        </p:txBody>
      </p:sp>
      <p:sp>
        <p:nvSpPr>
          <p:cNvPr id="20" name="TextBox 19"/>
          <p:cNvSpPr txBox="1"/>
          <p:nvPr/>
        </p:nvSpPr>
        <p:spPr>
          <a:xfrm>
            <a:off x="6095847" y="6510528"/>
            <a:ext cx="5547207" cy="292608"/>
          </a:xfrm>
          <a:prstGeom prst="rect">
            <a:avLst/>
          </a:prstGeom>
          <a:noFill/>
        </p:spPr>
        <p:txBody>
          <a:bodyPr wrap="square" anchor="ctr" lIns="0" rIns="0" tIns="0" bIns="0">
            <a:spAutoFit/>
          </a:bodyPr>
          <a:lstStyle/>
          <a:p>
            <a:pPr algn="r">
              <a:lnSpc>
                <a:spcPct val="115000"/>
              </a:lnSpc>
            </a:pPr>
            <a:r>
              <a:rPr sz="900" b="1">
                <a:solidFill>
                  <a:srgbClr val="98989A"/>
                </a:solidFill>
                <a:latin typeface="Montserrat"/>
              </a:rPr>
              <a:t>47 / 48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gradFill rotWithShape="1">
            <a:gsLst>
              <a:gs pos="0">
                <a:srgbClr val="3D0A1C"/>
              </a:gs>
              <a:gs pos="100000">
                <a:srgbClr val="1A1A1A"/>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08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10362895" cy="365760"/>
          </a:xfrm>
          <a:prstGeom prst="rect">
            <a:avLst/>
          </a:prstGeom>
          <a:noFill/>
        </p:spPr>
        <p:txBody>
          <a:bodyPr wrap="square" anchor="t" lIns="0" rIns="0" tIns="0" bIns="0">
            <a:spAutoFit/>
          </a:bodyPr>
          <a:lstStyle/>
          <a:p>
            <a:pPr algn="ctr">
              <a:lnSpc>
                <a:spcPct val="115000"/>
              </a:lnSpc>
            </a:pPr>
            <a:r>
              <a:rPr sz="1300" b="1">
                <a:solidFill>
                  <a:srgbClr val="98989A"/>
                </a:solidFill>
                <a:latin typeface="Montserrat"/>
              </a:rPr>
              <a:t>SÍNTESIS</a:t>
            </a:r>
          </a:p>
        </p:txBody>
      </p:sp>
      <p:sp>
        <p:nvSpPr>
          <p:cNvPr id="6" name="Rectangle 5"/>
          <p:cNvSpPr/>
          <p:nvPr/>
        </p:nvSpPr>
        <p:spPr>
          <a:xfrm>
            <a:off x="5455767" y="2468880"/>
            <a:ext cx="1280160" cy="38100"/>
          </a:xfrm>
          <a:prstGeom prst="rect">
            <a:avLst/>
          </a:prstGeom>
          <a:solidFill>
            <a:srgbClr val="A57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697480"/>
            <a:ext cx="11094415" cy="822960"/>
          </a:xfrm>
          <a:prstGeom prst="rect">
            <a:avLst/>
          </a:prstGeom>
          <a:noFill/>
        </p:spPr>
        <p:txBody>
          <a:bodyPr wrap="square" anchor="t" lIns="0" rIns="0" tIns="0" bIns="0">
            <a:spAutoFit/>
          </a:bodyPr>
          <a:lstStyle/>
          <a:p>
            <a:pPr algn="ctr">
              <a:lnSpc>
                <a:spcPct val="115000"/>
              </a:lnSpc>
            </a:pPr>
            <a:r>
              <a:rPr sz="3600" b="1">
                <a:solidFill>
                  <a:srgbClr val="E6D194"/>
                </a:solidFill>
                <a:latin typeface="Montserrat"/>
              </a:rPr>
              <a:t>Reforma al Poder Judicial 2026</a:t>
            </a:r>
          </a:p>
        </p:txBody>
      </p:sp>
      <p:sp>
        <p:nvSpPr>
          <p:cNvPr id="8" name="TextBox 7"/>
          <p:cNvSpPr txBox="1"/>
          <p:nvPr/>
        </p:nvSpPr>
        <p:spPr>
          <a:xfrm>
            <a:off x="548640" y="3611880"/>
            <a:ext cx="11094415" cy="457200"/>
          </a:xfrm>
          <a:prstGeom prst="rect">
            <a:avLst/>
          </a:prstGeom>
          <a:noFill/>
        </p:spPr>
        <p:txBody>
          <a:bodyPr wrap="square" anchor="t" lIns="0" rIns="0" tIns="0" bIns="0">
            <a:spAutoFit/>
          </a:bodyPr>
          <a:lstStyle/>
          <a:p>
            <a:pPr algn="ctr">
              <a:lnSpc>
                <a:spcPct val="115000"/>
              </a:lnSpc>
            </a:pPr>
            <a:r>
              <a:rPr sz="2000" b="0">
                <a:solidFill>
                  <a:srgbClr val="F5F0EB"/>
                </a:solidFill>
                <a:latin typeface="Montserrat"/>
              </a:rPr>
              <a:t>Segunda reforma - Comparativo Antes / Después</a:t>
            </a:r>
          </a:p>
        </p:txBody>
      </p:sp>
      <p:sp>
        <p:nvSpPr>
          <p:cNvPr id="9" name="TextBox 8"/>
          <p:cNvSpPr txBox="1"/>
          <p:nvPr/>
        </p:nvSpPr>
        <p:spPr>
          <a:xfrm>
            <a:off x="1371600" y="4389120"/>
            <a:ext cx="9448495" cy="731520"/>
          </a:xfrm>
          <a:prstGeom prst="rect">
            <a:avLst/>
          </a:prstGeom>
          <a:noFill/>
        </p:spPr>
        <p:txBody>
          <a:bodyPr wrap="square" anchor="t" lIns="0" rIns="0" tIns="0" bIns="0">
            <a:spAutoFit/>
          </a:bodyPr>
          <a:lstStyle/>
          <a:p>
            <a:pPr algn="ctr">
              <a:lnSpc>
                <a:spcPct val="140000"/>
              </a:lnSpc>
            </a:pPr>
            <a:r>
              <a:rPr sz="1200" b="0">
                <a:solidFill>
                  <a:srgbClr val="98989A"/>
                </a:solidFill>
                <a:latin typeface="Montserrat"/>
              </a:rPr>
              <a:t>Fuentes oficiales y académicas priorizadas - Prensa clasificada - APA 7 - 3 de junio de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