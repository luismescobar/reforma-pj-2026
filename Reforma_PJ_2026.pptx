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of.gob.mx/" TargetMode="Externa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15.xml"/><Relationship Id="rId9" Type="http://schemas.openxmlformats.org/officeDocument/2006/relationships/slide" Target="slide16.xml"/><Relationship Id="rId10" Type="http://schemas.openxmlformats.org/officeDocument/2006/relationships/slide" Target="slide17.xml"/><Relationship Id="rId11" Type="http://schemas.openxmlformats.org/officeDocument/2006/relationships/slide" Target="slide2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of.gob.mx/"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hyperlink" Target="https://comunicacionsocial.senado.gob.mx/informacion/comisionp/cp-comunicados/15376"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municacionsocial.senado.gob.mx/informacion/comunicados/15467"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2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2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2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2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3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3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3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4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of.gob.mx/"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xicoevalua.org/aplazar-las-elecciones-judiciales-a-2028-podria-dar-tiempo-a-mejorar-el-proceso-de-seleccion/"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of.gob.mx/" TargetMode="External"/><Relationship Id="rId3" Type="http://schemas.openxmlformats.org/officeDocument/2006/relationships/hyperlink" Target="https://gaceta.diputados.gob.mx/PDF/66/2026/may/20260526-III.pdf" TargetMode="External"/><Relationship Id="rId4" Type="http://schemas.openxmlformats.org/officeDocument/2006/relationships/hyperlink" Target="https://gaceta.diputados.gob.mx/Gaceta/66/2026/may/20260525.html" TargetMode="External"/><Relationship Id="rId5" Type="http://schemas.openxmlformats.org/officeDocument/2006/relationships/hyperlink" Target="https://comunicacionsocial.diputados.gob.mx/index.php/notilegis/publica-dof-decreto-de-la-reforma-constitucional-al-poder-judicial" TargetMode="External"/><Relationship Id="rId6" Type="http://schemas.openxmlformats.org/officeDocument/2006/relationships/hyperlink" Target="https://canaldelcongreso.gob.mx/noticias/10124" TargetMode="External"/><Relationship Id="rId7" Type="http://schemas.openxmlformats.org/officeDocument/2006/relationships/hyperlink" Target="https://comunicacionsocial.senado.gob.mx/informacion/comisionp/cp-comunicados/15376" TargetMode="External"/><Relationship Id="rId8" Type="http://schemas.openxmlformats.org/officeDocument/2006/relationships/hyperlink" Target="https://comunicacionsocial.senado.gob.mx/informacion/comunicados/15451" TargetMode="External"/><Relationship Id="rId9" Type="http://schemas.openxmlformats.org/officeDocument/2006/relationships/hyperlink" Target="https://comunicacionsocial.senado.gob.mx/informacion/comunicados/15467" TargetMode="External"/><Relationship Id="rId10" Type="http://schemas.openxmlformats.org/officeDocument/2006/relationships/hyperlink" Target="https://centralelectoral.ine.mx/2026/05/13/entrega-ine-diagnostico-tecnico-a-la-camara-de-diputados-para-fundamentar-el-aplazamiento-de-la-eleccion-judicial-al-2028/" TargetMode="External"/><Relationship Id="rId11" Type="http://schemas.openxmlformats.org/officeDocument/2006/relationships/hyperlink" Target="https://centralelectoral.ine.mx/2025/12/18/recibe-ine-informe-final-de-la-evaluacion-integral-del-proceso-electoral-extraordinario-del-poder-judicial-de-la-federacion/" TargetMode="External"/><Relationship Id="rId12" Type="http://schemas.openxmlformats.org/officeDocument/2006/relationships/hyperlink" Target="https://www.gob.mx/presidencia/prensa/"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oblanco.juridicas.unam.mx/" TargetMode="External"/><Relationship Id="rId3" Type="http://schemas.openxmlformats.org/officeDocument/2006/relationships/hyperlink" Target="https://www.gaceta.unam.mx/?p=185919" TargetMode="External"/><Relationship Id="rId4" Type="http://schemas.openxmlformats.org/officeDocument/2006/relationships/hyperlink" Target="https://doi.org/10.22201/iij.24484881e.2026.55.19837" TargetMode="External"/><Relationship Id="rId5" Type="http://schemas.openxmlformats.org/officeDocument/2006/relationships/hyperlink" Target="https://doi.org/10.22201/iij.24484881e.2026.55.21287" TargetMode="External"/><Relationship Id="rId6" Type="http://schemas.openxmlformats.org/officeDocument/2006/relationships/hyperlink" Target="https://doi.org/10.18042/cepc/redc.134.01" TargetMode="External"/><Relationship Id="rId7" Type="http://schemas.openxmlformats.org/officeDocument/2006/relationships/hyperlink" Target="https://doi.org/10.5944/trc.57.2026.48720" TargetMode="External"/><Relationship Id="rId8" Type="http://schemas.openxmlformats.org/officeDocument/2006/relationships/hyperlink" Target="https://doi.org/10.22201/iij.24487929e.2025.36.20966" TargetMode="External"/><Relationship Id="rId9" Type="http://schemas.openxmlformats.org/officeDocument/2006/relationships/hyperlink" Target="https://www.sitios.scjn.gob.mx/cec/" TargetMode="External"/><Relationship Id="rId10" Type="http://schemas.openxmlformats.org/officeDocument/2006/relationships/hyperlink" Target="https://mexicoevalua.org/aplazar-las-elecciones-judiciales-a-2028-podria-dar-tiempo-a-mejorar-el-proceso-de-seleccion/" TargetMode="External"/><Relationship Id="rId11" Type="http://schemas.openxmlformats.org/officeDocument/2006/relationships/hyperlink" Target="https://www.oas.org/es/cidh/jsForm/?File=/es/cidh/prensa/comunicados/2024/213.asp" TargetMode="External"/><Relationship Id="rId12" Type="http://schemas.openxmlformats.org/officeDocument/2006/relationships/hyperlink" Target="https://spcommreports.ohchr.org/" TargetMode="External"/><Relationship Id="rId13" Type="http://schemas.openxmlformats.org/officeDocument/2006/relationships/hyperlink" Target="https://www.oas.org/fpdb/press/2025_MEXICO_MOE_Elecciones_Judiciales_-Informe_Preliminar_ESP.pdf"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jornada.com.mx/noticia/2026/06/01/politica/congreso-declara-constitucional-la-reforma-que-pospone-eleccion-del-poder-judicial-al-2028" TargetMode="External"/><Relationship Id="rId3" Type="http://schemas.openxmlformats.org/officeDocument/2006/relationships/hyperlink" Target="https://www.jornada.com.mx/2026/05/29/politica/005n1pol" TargetMode="External"/><Relationship Id="rId4" Type="http://schemas.openxmlformats.org/officeDocument/2006/relationships/hyperlink" Target="https://www.milenio.com/politica/reforma-judicial-que-se-modifica-con-publicacion-en-el-dof" TargetMode="External"/><Relationship Id="rId5" Type="http://schemas.openxmlformats.org/officeDocument/2006/relationships/hyperlink" Target="https://www.infobae.com/mexico/2026/06/03/reforma-judicial-entra-en-vigor-hoy-en-mexico-gobierno-federal-explica-el-abc-de-la-ley/" TargetMode="External"/><Relationship Id="rId6" Type="http://schemas.openxmlformats.org/officeDocument/2006/relationships/hyperlink" Target="https://www.eluniversal.com.mx/nacion/" TargetMode="External"/><Relationship Id="rId7" Type="http://schemas.openxmlformats.org/officeDocument/2006/relationships/hyperlink" Target="https://www.reforma.com/" TargetMode="External"/><Relationship Id="rId8" Type="http://schemas.openxmlformats.org/officeDocument/2006/relationships/hyperlink" Target="https://www.proceso.com.mx/nacional/politica/2026/5/28/" TargetMode="External"/><Relationship Id="rId9" Type="http://schemas.openxmlformats.org/officeDocument/2006/relationships/hyperlink" Target="https://www.elfinanciero.com.mx/nacional/2026/05/25/" TargetMode="External"/><Relationship Id="rId10" Type="http://schemas.openxmlformats.org/officeDocument/2006/relationships/hyperlink" Target="https://politica.expansion.mx/congreso/2026/05/2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aceta.diputados.gob.mx/PDF/66/2026/may/20260526-III.pdf" TargetMode="External"/><Relationship Id="rId3" Type="http://schemas.openxmlformats.org/officeDocument/2006/relationships/slide" Target="slide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gradFill rotWithShape="1">
            <a:gsLst>
              <a:gs pos="0">
                <a:srgbClr val="3D0A1C"/>
              </a:gs>
              <a:gs pos="100000">
                <a:srgbClr val="1A1A1A"/>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08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371600"/>
            <a:ext cx="10362895" cy="365760"/>
          </a:xfrm>
          <a:prstGeom prst="rect">
            <a:avLst/>
          </a:prstGeom>
          <a:noFill/>
        </p:spPr>
        <p:txBody>
          <a:bodyPr wrap="square" anchor="t" lIns="0" rIns="0" tIns="0" bIns="0">
            <a:spAutoFit/>
          </a:bodyPr>
          <a:lstStyle/>
          <a:p>
            <a:pPr algn="ctr">
              <a:lnSpc>
                <a:spcPct val="115000"/>
              </a:lnSpc>
            </a:pPr>
            <a:r>
              <a:rPr sz="1300" b="1">
                <a:solidFill>
                  <a:srgbClr val="98989A"/>
                </a:solidFill>
                <a:latin typeface="Montserrat"/>
              </a:rPr>
              <a:t>Analisis juridico - Fuentes oficiales y academicas</a:t>
            </a:r>
          </a:p>
        </p:txBody>
      </p:sp>
      <p:sp>
        <p:nvSpPr>
          <p:cNvPr id="6" name="Rectangle 5"/>
          <p:cNvSpPr/>
          <p:nvPr/>
        </p:nvSpPr>
        <p:spPr>
          <a:xfrm>
            <a:off x="5455767" y="1828800"/>
            <a:ext cx="128016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029968"/>
            <a:ext cx="11094415" cy="914400"/>
          </a:xfrm>
          <a:prstGeom prst="rect">
            <a:avLst/>
          </a:prstGeom>
          <a:noFill/>
        </p:spPr>
        <p:txBody>
          <a:bodyPr wrap="square" anchor="t" lIns="0" rIns="0" tIns="0" bIns="0">
            <a:spAutoFit/>
          </a:bodyPr>
          <a:lstStyle/>
          <a:p>
            <a:pPr algn="ctr">
              <a:lnSpc>
                <a:spcPct val="115000"/>
              </a:lnSpc>
            </a:pPr>
            <a:r>
              <a:rPr sz="4000" b="1">
                <a:solidFill>
                  <a:srgbClr val="E6D194"/>
                </a:solidFill>
                <a:latin typeface="Montserrat"/>
              </a:rPr>
              <a:t>REFORMA AL PODER JUDICIAL</a:t>
            </a:r>
          </a:p>
        </p:txBody>
      </p:sp>
      <p:sp>
        <p:nvSpPr>
          <p:cNvPr id="8" name="TextBox 7"/>
          <p:cNvSpPr txBox="1"/>
          <p:nvPr/>
        </p:nvSpPr>
        <p:spPr>
          <a:xfrm>
            <a:off x="548640" y="2999232"/>
            <a:ext cx="11094415" cy="548640"/>
          </a:xfrm>
          <a:prstGeom prst="rect">
            <a:avLst/>
          </a:prstGeom>
          <a:noFill/>
        </p:spPr>
        <p:txBody>
          <a:bodyPr wrap="square" anchor="t" lIns="0" rIns="0" tIns="0" bIns="0">
            <a:spAutoFit/>
          </a:bodyPr>
          <a:lstStyle/>
          <a:p>
            <a:pPr algn="ctr">
              <a:lnSpc>
                <a:spcPct val="115000"/>
              </a:lnSpc>
            </a:pPr>
            <a:r>
              <a:rPr sz="2200" b="0">
                <a:solidFill>
                  <a:srgbClr val="F5F0EB"/>
                </a:solidFill>
                <a:latin typeface="Montserrat"/>
              </a:rPr>
              <a:t>Comparativo Antes / Despues - CPEUM</a:t>
            </a:r>
          </a:p>
        </p:txBody>
      </p:sp>
      <p:sp>
        <p:nvSpPr>
          <p:cNvPr id="9" name="Rounded Rectangle 8"/>
          <p:cNvSpPr/>
          <p:nvPr/>
        </p:nvSpPr>
        <p:spPr>
          <a:xfrm>
            <a:off x="548640" y="3840480"/>
            <a:ext cx="2087209" cy="841248"/>
          </a:xfrm>
          <a:prstGeom prst="roundRect">
            <a:avLst/>
          </a:prstGeom>
          <a:noFill/>
          <a:ln w="12700">
            <a:solidFill>
              <a:srgbClr val="A57F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3968496"/>
            <a:ext cx="2087209" cy="365760"/>
          </a:xfrm>
          <a:prstGeom prst="rect">
            <a:avLst/>
          </a:prstGeom>
          <a:noFill/>
        </p:spPr>
        <p:txBody>
          <a:bodyPr wrap="square" anchor="t" lIns="0" rIns="0" tIns="0" bIns="0">
            <a:spAutoFit/>
          </a:bodyPr>
          <a:lstStyle/>
          <a:p>
            <a:pPr algn="ctr">
              <a:lnSpc>
                <a:spcPct val="115000"/>
              </a:lnSpc>
            </a:pPr>
            <a:r>
              <a:rPr sz="1700" b="1">
                <a:solidFill>
                  <a:srgbClr val="E6D194"/>
                </a:solidFill>
                <a:latin typeface="Montserrat"/>
              </a:rPr>
              <a:t>02-06-2026</a:t>
            </a:r>
          </a:p>
        </p:txBody>
      </p:sp>
      <p:sp>
        <p:nvSpPr>
          <p:cNvPr id="11" name="TextBox 10"/>
          <p:cNvSpPr txBox="1"/>
          <p:nvPr/>
        </p:nvSpPr>
        <p:spPr>
          <a:xfrm>
            <a:off x="594360" y="4343400"/>
            <a:ext cx="1995769" cy="310896"/>
          </a:xfrm>
          <a:prstGeom prst="rect">
            <a:avLst/>
          </a:prstGeom>
          <a:noFill/>
        </p:spPr>
        <p:txBody>
          <a:bodyPr wrap="square" anchor="t" lIns="0" rIns="0" tIns="0" bIns="0">
            <a:spAutoFit/>
          </a:bodyPr>
          <a:lstStyle/>
          <a:p>
            <a:pPr algn="ctr">
              <a:lnSpc>
                <a:spcPct val="115000"/>
              </a:lnSpc>
            </a:pPr>
            <a:r>
              <a:rPr sz="900" b="1">
                <a:solidFill>
                  <a:srgbClr val="98989A"/>
                </a:solidFill>
                <a:latin typeface="Montserrat"/>
              </a:rPr>
              <a:t>Publicacion DOF</a:t>
            </a:r>
          </a:p>
        </p:txBody>
      </p:sp>
      <p:sp>
        <p:nvSpPr>
          <p:cNvPr id="12" name="Rounded Rectangle 11"/>
          <p:cNvSpPr/>
          <p:nvPr/>
        </p:nvSpPr>
        <p:spPr>
          <a:xfrm>
            <a:off x="2800441" y="3840480"/>
            <a:ext cx="2087209" cy="841248"/>
          </a:xfrm>
          <a:prstGeom prst="roundRect">
            <a:avLst/>
          </a:prstGeom>
          <a:noFill/>
          <a:ln w="12700">
            <a:solidFill>
              <a:srgbClr val="A57F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00441" y="3968496"/>
            <a:ext cx="2087209" cy="365760"/>
          </a:xfrm>
          <a:prstGeom prst="rect">
            <a:avLst/>
          </a:prstGeom>
          <a:noFill/>
        </p:spPr>
        <p:txBody>
          <a:bodyPr wrap="square" anchor="t" lIns="0" rIns="0" tIns="0" bIns="0">
            <a:spAutoFit/>
          </a:bodyPr>
          <a:lstStyle/>
          <a:p>
            <a:pPr algn="ctr">
              <a:lnSpc>
                <a:spcPct val="115000"/>
              </a:lnSpc>
            </a:pPr>
            <a:r>
              <a:rPr sz="1700" b="1">
                <a:solidFill>
                  <a:srgbClr val="E6D194"/>
                </a:solidFill>
                <a:latin typeface="Montserrat"/>
              </a:rPr>
              <a:t>7</a:t>
            </a:r>
          </a:p>
        </p:txBody>
      </p:sp>
      <p:sp>
        <p:nvSpPr>
          <p:cNvPr id="14" name="TextBox 13"/>
          <p:cNvSpPr txBox="1"/>
          <p:nvPr/>
        </p:nvSpPr>
        <p:spPr>
          <a:xfrm>
            <a:off x="2846161" y="4343400"/>
            <a:ext cx="1995769" cy="310896"/>
          </a:xfrm>
          <a:prstGeom prst="rect">
            <a:avLst/>
          </a:prstGeom>
          <a:noFill/>
        </p:spPr>
        <p:txBody>
          <a:bodyPr wrap="square" anchor="t" lIns="0" rIns="0" tIns="0" bIns="0">
            <a:spAutoFit/>
          </a:bodyPr>
          <a:lstStyle/>
          <a:p>
            <a:pPr algn="ctr">
              <a:lnSpc>
                <a:spcPct val="115000"/>
              </a:lnSpc>
            </a:pPr>
            <a:r>
              <a:rPr sz="900" b="1">
                <a:solidFill>
                  <a:srgbClr val="98989A"/>
                </a:solidFill>
                <a:latin typeface="Montserrat"/>
              </a:rPr>
              <a:t>Articulos reformados</a:t>
            </a:r>
          </a:p>
        </p:txBody>
      </p:sp>
      <p:sp>
        <p:nvSpPr>
          <p:cNvPr id="15" name="Rounded Rectangle 14"/>
          <p:cNvSpPr/>
          <p:nvPr/>
        </p:nvSpPr>
        <p:spPr>
          <a:xfrm>
            <a:off x="5052242" y="3840480"/>
            <a:ext cx="2087209" cy="841248"/>
          </a:xfrm>
          <a:prstGeom prst="roundRect">
            <a:avLst/>
          </a:prstGeom>
          <a:noFill/>
          <a:ln w="12700">
            <a:solidFill>
              <a:srgbClr val="A57F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52242" y="3968496"/>
            <a:ext cx="2087209" cy="365760"/>
          </a:xfrm>
          <a:prstGeom prst="rect">
            <a:avLst/>
          </a:prstGeom>
          <a:noFill/>
        </p:spPr>
        <p:txBody>
          <a:bodyPr wrap="square" anchor="t" lIns="0" rIns="0" tIns="0" bIns="0">
            <a:spAutoFit/>
          </a:bodyPr>
          <a:lstStyle/>
          <a:p>
            <a:pPr algn="ctr">
              <a:lnSpc>
                <a:spcPct val="115000"/>
              </a:lnSpc>
            </a:pPr>
            <a:r>
              <a:rPr sz="1700" b="1">
                <a:solidFill>
                  <a:srgbClr val="E6D194"/>
                </a:solidFill>
                <a:latin typeface="Montserrat"/>
              </a:rPr>
              <a:t>2027 a 2028</a:t>
            </a:r>
          </a:p>
        </p:txBody>
      </p:sp>
      <p:sp>
        <p:nvSpPr>
          <p:cNvPr id="17" name="TextBox 16"/>
          <p:cNvSpPr txBox="1"/>
          <p:nvPr/>
        </p:nvSpPr>
        <p:spPr>
          <a:xfrm>
            <a:off x="5097962" y="4343400"/>
            <a:ext cx="1995769" cy="310896"/>
          </a:xfrm>
          <a:prstGeom prst="rect">
            <a:avLst/>
          </a:prstGeom>
          <a:noFill/>
        </p:spPr>
        <p:txBody>
          <a:bodyPr wrap="square" anchor="t" lIns="0" rIns="0" tIns="0" bIns="0">
            <a:spAutoFit/>
          </a:bodyPr>
          <a:lstStyle/>
          <a:p>
            <a:pPr algn="ctr">
              <a:lnSpc>
                <a:spcPct val="115000"/>
              </a:lnSpc>
            </a:pPr>
            <a:r>
              <a:rPr sz="900" b="1">
                <a:solidFill>
                  <a:srgbClr val="98989A"/>
                </a:solidFill>
                <a:latin typeface="Montserrat"/>
              </a:rPr>
              <a:t>Eleccion judicial</a:t>
            </a:r>
          </a:p>
        </p:txBody>
      </p:sp>
      <p:sp>
        <p:nvSpPr>
          <p:cNvPr id="18" name="Rounded Rectangle 17"/>
          <p:cNvSpPr/>
          <p:nvPr/>
        </p:nvSpPr>
        <p:spPr>
          <a:xfrm>
            <a:off x="7304044" y="3840480"/>
            <a:ext cx="2087209" cy="841248"/>
          </a:xfrm>
          <a:prstGeom prst="roundRect">
            <a:avLst/>
          </a:prstGeom>
          <a:noFill/>
          <a:ln w="12700">
            <a:solidFill>
              <a:srgbClr val="A57F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04044" y="3968496"/>
            <a:ext cx="2087209" cy="365760"/>
          </a:xfrm>
          <a:prstGeom prst="rect">
            <a:avLst/>
          </a:prstGeom>
          <a:noFill/>
        </p:spPr>
        <p:txBody>
          <a:bodyPr wrap="square" anchor="t" lIns="0" rIns="0" tIns="0" bIns="0">
            <a:spAutoFit/>
          </a:bodyPr>
          <a:lstStyle/>
          <a:p>
            <a:pPr algn="ctr">
              <a:lnSpc>
                <a:spcPct val="115000"/>
              </a:lnSpc>
            </a:pPr>
            <a:r>
              <a:rPr sz="1700" b="1">
                <a:solidFill>
                  <a:srgbClr val="E6D194"/>
                </a:solidFill>
                <a:latin typeface="Montserrat"/>
              </a:rPr>
              <a:t>Art. 135</a:t>
            </a:r>
          </a:p>
        </p:txBody>
      </p:sp>
      <p:sp>
        <p:nvSpPr>
          <p:cNvPr id="20" name="TextBox 19"/>
          <p:cNvSpPr txBox="1"/>
          <p:nvPr/>
        </p:nvSpPr>
        <p:spPr>
          <a:xfrm>
            <a:off x="7349764" y="4343400"/>
            <a:ext cx="1995769" cy="310896"/>
          </a:xfrm>
          <a:prstGeom prst="rect">
            <a:avLst/>
          </a:prstGeom>
          <a:noFill/>
        </p:spPr>
        <p:txBody>
          <a:bodyPr wrap="square" anchor="t" lIns="0" rIns="0" tIns="0" bIns="0">
            <a:spAutoFit/>
          </a:bodyPr>
          <a:lstStyle/>
          <a:p>
            <a:pPr algn="ctr">
              <a:lnSpc>
                <a:spcPct val="115000"/>
              </a:lnSpc>
            </a:pPr>
            <a:r>
              <a:rPr sz="900" b="1">
                <a:solidFill>
                  <a:srgbClr val="98989A"/>
                </a:solidFill>
                <a:latin typeface="Montserrat"/>
              </a:rPr>
              <a:t>Via constituyente</a:t>
            </a:r>
          </a:p>
        </p:txBody>
      </p:sp>
      <p:sp>
        <p:nvSpPr>
          <p:cNvPr id="21" name="Rounded Rectangle 20"/>
          <p:cNvSpPr/>
          <p:nvPr/>
        </p:nvSpPr>
        <p:spPr>
          <a:xfrm>
            <a:off x="9555845" y="3840480"/>
            <a:ext cx="2087209" cy="841248"/>
          </a:xfrm>
          <a:prstGeom prst="roundRect">
            <a:avLst/>
          </a:prstGeom>
          <a:noFill/>
          <a:ln w="12700">
            <a:solidFill>
              <a:srgbClr val="A57F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55845" y="3968496"/>
            <a:ext cx="2087209" cy="365760"/>
          </a:xfrm>
          <a:prstGeom prst="rect">
            <a:avLst/>
          </a:prstGeom>
          <a:noFill/>
        </p:spPr>
        <p:txBody>
          <a:bodyPr wrap="square" anchor="t" lIns="0" rIns="0" tIns="0" bIns="0">
            <a:spAutoFit/>
          </a:bodyPr>
          <a:lstStyle/>
          <a:p>
            <a:pPr algn="ctr">
              <a:lnSpc>
                <a:spcPct val="115000"/>
              </a:lnSpc>
            </a:pPr>
            <a:r>
              <a:rPr sz="1700" b="1">
                <a:solidFill>
                  <a:srgbClr val="E6D194"/>
                </a:solidFill>
                <a:latin typeface="Montserrat"/>
              </a:rPr>
              <a:t>2.a</a:t>
            </a:r>
          </a:p>
        </p:txBody>
      </p:sp>
      <p:sp>
        <p:nvSpPr>
          <p:cNvPr id="23" name="TextBox 22"/>
          <p:cNvSpPr txBox="1"/>
          <p:nvPr/>
        </p:nvSpPr>
        <p:spPr>
          <a:xfrm>
            <a:off x="9601565" y="4343400"/>
            <a:ext cx="1995769" cy="310896"/>
          </a:xfrm>
          <a:prstGeom prst="rect">
            <a:avLst/>
          </a:prstGeom>
          <a:noFill/>
        </p:spPr>
        <p:txBody>
          <a:bodyPr wrap="square" anchor="t" lIns="0" rIns="0" tIns="0" bIns="0">
            <a:spAutoFit/>
          </a:bodyPr>
          <a:lstStyle/>
          <a:p>
            <a:pPr algn="ctr">
              <a:lnSpc>
                <a:spcPct val="115000"/>
              </a:lnSpc>
            </a:pPr>
            <a:r>
              <a:rPr sz="900" b="1">
                <a:solidFill>
                  <a:srgbClr val="98989A"/>
                </a:solidFill>
                <a:latin typeface="Montserrat"/>
              </a:rPr>
              <a:t>Reforma judicial</a:t>
            </a:r>
          </a:p>
        </p:txBody>
      </p:sp>
      <p:sp>
        <p:nvSpPr>
          <p:cNvPr id="24" name="TextBox 23"/>
          <p:cNvSpPr txBox="1"/>
          <p:nvPr/>
        </p:nvSpPr>
        <p:spPr>
          <a:xfrm>
            <a:off x="548640" y="6309360"/>
            <a:ext cx="11094415" cy="365760"/>
          </a:xfrm>
          <a:prstGeom prst="rect">
            <a:avLst/>
          </a:prstGeom>
          <a:noFill/>
        </p:spPr>
        <p:txBody>
          <a:bodyPr wrap="square" anchor="t" lIns="0" rIns="0" tIns="0" bIns="0">
            <a:spAutoFit/>
          </a:bodyPr>
          <a:lstStyle/>
          <a:p>
            <a:pPr algn="ctr">
              <a:lnSpc>
                <a:spcPct val="115000"/>
              </a:lnSpc>
            </a:pPr>
            <a:r>
              <a:rPr sz="1050" b="0">
                <a:solidFill>
                  <a:srgbClr val="98989A"/>
                </a:solidFill>
                <a:latin typeface="Montserrat"/>
              </a:rPr>
              <a:t>Decreto DOF 02/06/2026 - Corte informativo: 3 de junio de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80467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INDICE</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Indice de contenido</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554480"/>
            <a:ext cx="11094415" cy="4236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554480"/>
            <a:ext cx="50800" cy="423672"/>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94944" y="1642872"/>
            <a:ext cx="310896" cy="310896"/>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Montserrat"/>
              </a:rPr>
              <a:t>01</a:t>
            </a:r>
          </a:p>
        </p:txBody>
      </p:sp>
      <p:sp>
        <p:nvSpPr>
          <p:cNvPr id="10" name="TextBox 9"/>
          <p:cNvSpPr txBox="1"/>
          <p:nvPr/>
        </p:nvSpPr>
        <p:spPr>
          <a:xfrm>
            <a:off x="1152144" y="1554480"/>
            <a:ext cx="10180015" cy="423672"/>
          </a:xfrm>
          <a:prstGeom prst="rect">
            <a:avLst/>
          </a:prstGeom>
          <a:noFill/>
        </p:spPr>
        <p:txBody>
          <a:bodyPr wrap="square" anchor="ctr" lIns="0" rIns="0" tIns="0" bIns="0">
            <a:spAutoFit/>
          </a:bodyPr>
          <a:lstStyle/>
          <a:p>
            <a:pPr algn="l">
              <a:lnSpc>
                <a:spcPct val="115000"/>
              </a:lnSpc>
            </a:pPr>
            <a:r>
              <a:rPr sz="1500" b="1">
                <a:solidFill>
                  <a:srgbClr val="1A1A1A"/>
                </a:solidFill>
                <a:latin typeface="Montserrat"/>
              </a:rPr>
              <a:t>Que se reformo (panorama)</a:t>
            </a:r>
          </a:p>
        </p:txBody>
      </p:sp>
      <p:sp>
        <p:nvSpPr>
          <p:cNvPr id="11" name="Rounded Rectangle 10">
            <a:hlinkClick action="ppaction://hlinksldjump" r:id="rId3"/>
          </p:cNvPr>
          <p:cNvSpPr/>
          <p:nvPr/>
        </p:nvSpPr>
        <p:spPr>
          <a:xfrm>
            <a:off x="11185855" y="1642872"/>
            <a:ext cx="310896" cy="310896"/>
          </a:xfrm>
          <a:prstGeom prst="roundRect">
            <a:avLst/>
          </a:prstGeom>
          <a:solidFill>
            <a:srgbClr val="EFE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1531"/>
                </a:solidFill>
                <a:latin typeface="Montserrat"/>
              </a:rPr>
              <a:t>&gt;</a:t>
            </a:r>
          </a:p>
        </p:txBody>
      </p:sp>
      <p:sp>
        <p:nvSpPr>
          <p:cNvPr id="12" name="Rectangle 11"/>
          <p:cNvSpPr/>
          <p:nvPr/>
        </p:nvSpPr>
        <p:spPr>
          <a:xfrm>
            <a:off x="548640" y="2042160"/>
            <a:ext cx="11094415" cy="4236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042160"/>
            <a:ext cx="50800" cy="423672"/>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94944" y="2130552"/>
            <a:ext cx="310896" cy="310896"/>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Montserrat"/>
              </a:rPr>
              <a:t>02</a:t>
            </a:r>
          </a:p>
        </p:txBody>
      </p:sp>
      <p:sp>
        <p:nvSpPr>
          <p:cNvPr id="15" name="TextBox 14"/>
          <p:cNvSpPr txBox="1"/>
          <p:nvPr/>
        </p:nvSpPr>
        <p:spPr>
          <a:xfrm>
            <a:off x="1152144" y="2042160"/>
            <a:ext cx="10180015" cy="423672"/>
          </a:xfrm>
          <a:prstGeom prst="rect">
            <a:avLst/>
          </a:prstGeom>
          <a:noFill/>
        </p:spPr>
        <p:txBody>
          <a:bodyPr wrap="square" anchor="ctr" lIns="0" rIns="0" tIns="0" bIns="0">
            <a:spAutoFit/>
          </a:bodyPr>
          <a:lstStyle/>
          <a:p>
            <a:pPr algn="l">
              <a:lnSpc>
                <a:spcPct val="115000"/>
              </a:lnSpc>
            </a:pPr>
            <a:r>
              <a:rPr sz="1500" b="1">
                <a:solidFill>
                  <a:srgbClr val="1A1A1A"/>
                </a:solidFill>
                <a:latin typeface="Montserrat"/>
              </a:rPr>
              <a:t>Origen y actores clave</a:t>
            </a:r>
          </a:p>
        </p:txBody>
      </p:sp>
      <p:sp>
        <p:nvSpPr>
          <p:cNvPr id="16" name="Rounded Rectangle 15">
            <a:hlinkClick action="ppaction://hlinksldjump" r:id="rId4"/>
          </p:cNvPr>
          <p:cNvSpPr/>
          <p:nvPr/>
        </p:nvSpPr>
        <p:spPr>
          <a:xfrm>
            <a:off x="11185855" y="2130552"/>
            <a:ext cx="310896" cy="310896"/>
          </a:xfrm>
          <a:prstGeom prst="roundRect">
            <a:avLst/>
          </a:prstGeom>
          <a:solidFill>
            <a:srgbClr val="EFE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1531"/>
                </a:solidFill>
                <a:latin typeface="Montserrat"/>
              </a:rPr>
              <a:t>&gt;</a:t>
            </a:r>
          </a:p>
        </p:txBody>
      </p:sp>
      <p:sp>
        <p:nvSpPr>
          <p:cNvPr id="17" name="Rectangle 16"/>
          <p:cNvSpPr/>
          <p:nvPr/>
        </p:nvSpPr>
        <p:spPr>
          <a:xfrm>
            <a:off x="548640" y="2529840"/>
            <a:ext cx="11094415" cy="4236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2529840"/>
            <a:ext cx="50800" cy="423672"/>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94944" y="2618232"/>
            <a:ext cx="310896" cy="310896"/>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Montserrat"/>
              </a:rPr>
              <a:t>03</a:t>
            </a:r>
          </a:p>
        </p:txBody>
      </p:sp>
      <p:sp>
        <p:nvSpPr>
          <p:cNvPr id="20" name="TextBox 19"/>
          <p:cNvSpPr txBox="1"/>
          <p:nvPr/>
        </p:nvSpPr>
        <p:spPr>
          <a:xfrm>
            <a:off x="1152144" y="2529840"/>
            <a:ext cx="10180015" cy="423672"/>
          </a:xfrm>
          <a:prstGeom prst="rect">
            <a:avLst/>
          </a:prstGeom>
          <a:noFill/>
        </p:spPr>
        <p:txBody>
          <a:bodyPr wrap="square" anchor="ctr" lIns="0" rIns="0" tIns="0" bIns="0">
            <a:spAutoFit/>
          </a:bodyPr>
          <a:lstStyle/>
          <a:p>
            <a:pPr algn="l">
              <a:lnSpc>
                <a:spcPct val="115000"/>
              </a:lnSpc>
            </a:pPr>
            <a:r>
              <a:rPr sz="1500" b="1">
                <a:solidFill>
                  <a:srgbClr val="1A1A1A"/>
                </a:solidFill>
                <a:latin typeface="Montserrat"/>
              </a:rPr>
              <a:t>Tramite legislativo y votos</a:t>
            </a:r>
          </a:p>
        </p:txBody>
      </p:sp>
      <p:sp>
        <p:nvSpPr>
          <p:cNvPr id="21" name="Rounded Rectangle 20">
            <a:hlinkClick action="ppaction://hlinksldjump" r:id="rId5"/>
          </p:cNvPr>
          <p:cNvSpPr/>
          <p:nvPr/>
        </p:nvSpPr>
        <p:spPr>
          <a:xfrm>
            <a:off x="11185855" y="2618232"/>
            <a:ext cx="310896" cy="310896"/>
          </a:xfrm>
          <a:prstGeom prst="roundRect">
            <a:avLst/>
          </a:prstGeom>
          <a:solidFill>
            <a:srgbClr val="EFE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1531"/>
                </a:solidFill>
                <a:latin typeface="Montserrat"/>
              </a:rPr>
              <a:t>&gt;</a:t>
            </a:r>
          </a:p>
        </p:txBody>
      </p:sp>
      <p:sp>
        <p:nvSpPr>
          <p:cNvPr id="22" name="Rectangle 21"/>
          <p:cNvSpPr/>
          <p:nvPr/>
        </p:nvSpPr>
        <p:spPr>
          <a:xfrm>
            <a:off x="548640" y="3017520"/>
            <a:ext cx="11094415" cy="4236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3017520"/>
            <a:ext cx="50800" cy="423672"/>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94944" y="3105912"/>
            <a:ext cx="310896" cy="310896"/>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Montserrat"/>
              </a:rPr>
              <a:t>04</a:t>
            </a:r>
          </a:p>
        </p:txBody>
      </p:sp>
      <p:sp>
        <p:nvSpPr>
          <p:cNvPr id="25" name="TextBox 24"/>
          <p:cNvSpPr txBox="1"/>
          <p:nvPr/>
        </p:nvSpPr>
        <p:spPr>
          <a:xfrm>
            <a:off x="1152144" y="3017520"/>
            <a:ext cx="10180015" cy="423672"/>
          </a:xfrm>
          <a:prstGeom prst="rect">
            <a:avLst/>
          </a:prstGeom>
          <a:noFill/>
        </p:spPr>
        <p:txBody>
          <a:bodyPr wrap="square" anchor="ctr" lIns="0" rIns="0" tIns="0" bIns="0">
            <a:spAutoFit/>
          </a:bodyPr>
          <a:lstStyle/>
          <a:p>
            <a:pPr algn="l">
              <a:lnSpc>
                <a:spcPct val="115000"/>
              </a:lnSpc>
            </a:pPr>
            <a:r>
              <a:rPr sz="1500" b="1">
                <a:solidFill>
                  <a:srgbClr val="1A1A1A"/>
                </a:solidFill>
                <a:latin typeface="Montserrat"/>
              </a:rPr>
              <a:t>Por que (exposicion de motivos)</a:t>
            </a:r>
          </a:p>
        </p:txBody>
      </p:sp>
      <p:sp>
        <p:nvSpPr>
          <p:cNvPr id="26" name="Rounded Rectangle 25">
            <a:hlinkClick action="ppaction://hlinksldjump" r:id="rId6"/>
          </p:cNvPr>
          <p:cNvSpPr/>
          <p:nvPr/>
        </p:nvSpPr>
        <p:spPr>
          <a:xfrm>
            <a:off x="11185855" y="3105912"/>
            <a:ext cx="310896" cy="310896"/>
          </a:xfrm>
          <a:prstGeom prst="roundRect">
            <a:avLst/>
          </a:prstGeom>
          <a:solidFill>
            <a:srgbClr val="EFE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1531"/>
                </a:solidFill>
                <a:latin typeface="Montserrat"/>
              </a:rPr>
              <a:t>&gt;</a:t>
            </a:r>
          </a:p>
        </p:txBody>
      </p:sp>
      <p:sp>
        <p:nvSpPr>
          <p:cNvPr id="27" name="Rectangle 26"/>
          <p:cNvSpPr/>
          <p:nvPr/>
        </p:nvSpPr>
        <p:spPr>
          <a:xfrm>
            <a:off x="548640" y="3505200"/>
            <a:ext cx="11094415" cy="4236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 y="3505200"/>
            <a:ext cx="50800" cy="423672"/>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94944" y="3593592"/>
            <a:ext cx="310896" cy="310896"/>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Montserrat"/>
              </a:rPr>
              <a:t>05</a:t>
            </a:r>
          </a:p>
        </p:txBody>
      </p:sp>
      <p:sp>
        <p:nvSpPr>
          <p:cNvPr id="30" name="TextBox 29"/>
          <p:cNvSpPr txBox="1"/>
          <p:nvPr/>
        </p:nvSpPr>
        <p:spPr>
          <a:xfrm>
            <a:off x="1152144" y="3505200"/>
            <a:ext cx="10180015" cy="423672"/>
          </a:xfrm>
          <a:prstGeom prst="rect">
            <a:avLst/>
          </a:prstGeom>
          <a:noFill/>
        </p:spPr>
        <p:txBody>
          <a:bodyPr wrap="square" anchor="ctr" lIns="0" rIns="0" tIns="0" bIns="0">
            <a:spAutoFit/>
          </a:bodyPr>
          <a:lstStyle/>
          <a:p>
            <a:pPr algn="l">
              <a:lnSpc>
                <a:spcPct val="115000"/>
              </a:lnSpc>
            </a:pPr>
            <a:r>
              <a:rPr sz="1500" b="1">
                <a:solidFill>
                  <a:srgbClr val="1A1A1A"/>
                </a:solidFill>
                <a:latin typeface="Montserrat"/>
              </a:rPr>
              <a:t>Comparativo por articulo (fraccion)</a:t>
            </a:r>
          </a:p>
        </p:txBody>
      </p:sp>
      <p:sp>
        <p:nvSpPr>
          <p:cNvPr id="31" name="Rounded Rectangle 30">
            <a:hlinkClick action="ppaction://hlinksldjump" r:id="rId7"/>
          </p:cNvPr>
          <p:cNvSpPr/>
          <p:nvPr/>
        </p:nvSpPr>
        <p:spPr>
          <a:xfrm>
            <a:off x="11185855" y="3593592"/>
            <a:ext cx="310896" cy="310896"/>
          </a:xfrm>
          <a:prstGeom prst="roundRect">
            <a:avLst/>
          </a:prstGeom>
          <a:solidFill>
            <a:srgbClr val="EFE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1531"/>
                </a:solidFill>
                <a:latin typeface="Montserrat"/>
              </a:rPr>
              <a:t>&gt;</a:t>
            </a:r>
          </a:p>
        </p:txBody>
      </p:sp>
      <p:sp>
        <p:nvSpPr>
          <p:cNvPr id="32" name="Rectangle 31"/>
          <p:cNvSpPr/>
          <p:nvPr/>
        </p:nvSpPr>
        <p:spPr>
          <a:xfrm>
            <a:off x="548640" y="3992880"/>
            <a:ext cx="11094415" cy="4236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640" y="3992880"/>
            <a:ext cx="50800" cy="423672"/>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94944" y="4081272"/>
            <a:ext cx="310896" cy="310896"/>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Montserrat"/>
              </a:rPr>
              <a:t>06</a:t>
            </a:r>
          </a:p>
        </p:txBody>
      </p:sp>
      <p:sp>
        <p:nvSpPr>
          <p:cNvPr id="35" name="TextBox 34"/>
          <p:cNvSpPr txBox="1"/>
          <p:nvPr/>
        </p:nvSpPr>
        <p:spPr>
          <a:xfrm>
            <a:off x="1152144" y="3992880"/>
            <a:ext cx="10180015" cy="423672"/>
          </a:xfrm>
          <a:prstGeom prst="rect">
            <a:avLst/>
          </a:prstGeom>
          <a:noFill/>
        </p:spPr>
        <p:txBody>
          <a:bodyPr wrap="square" anchor="ctr" lIns="0" rIns="0" tIns="0" bIns="0">
            <a:spAutoFit/>
          </a:bodyPr>
          <a:lstStyle/>
          <a:p>
            <a:pPr algn="l">
              <a:lnSpc>
                <a:spcPct val="115000"/>
              </a:lnSpc>
            </a:pPr>
            <a:r>
              <a:rPr sz="1500" b="1">
                <a:solidFill>
                  <a:srgbClr val="1A1A1A"/>
                </a:solidFill>
                <a:latin typeface="Montserrat"/>
              </a:rPr>
              <a:t>Transitorios y calendario</a:t>
            </a:r>
          </a:p>
        </p:txBody>
      </p:sp>
      <p:sp>
        <p:nvSpPr>
          <p:cNvPr id="36" name="Rounded Rectangle 35">
            <a:hlinkClick action="ppaction://hlinksldjump" r:id="rId8"/>
          </p:cNvPr>
          <p:cNvSpPr/>
          <p:nvPr/>
        </p:nvSpPr>
        <p:spPr>
          <a:xfrm>
            <a:off x="11185855" y="4081272"/>
            <a:ext cx="310896" cy="310896"/>
          </a:xfrm>
          <a:prstGeom prst="roundRect">
            <a:avLst/>
          </a:prstGeom>
          <a:solidFill>
            <a:srgbClr val="EFE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1531"/>
                </a:solidFill>
                <a:latin typeface="Montserrat"/>
              </a:rPr>
              <a:t>&gt;</a:t>
            </a:r>
          </a:p>
        </p:txBody>
      </p:sp>
      <p:sp>
        <p:nvSpPr>
          <p:cNvPr id="37" name="Rectangle 36"/>
          <p:cNvSpPr/>
          <p:nvPr/>
        </p:nvSpPr>
        <p:spPr>
          <a:xfrm>
            <a:off x="548640" y="4480560"/>
            <a:ext cx="11094415" cy="4236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4480560"/>
            <a:ext cx="50800" cy="423672"/>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94944" y="4568952"/>
            <a:ext cx="310896" cy="310896"/>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Montserrat"/>
              </a:rPr>
              <a:t>07</a:t>
            </a:r>
          </a:p>
        </p:txBody>
      </p:sp>
      <p:sp>
        <p:nvSpPr>
          <p:cNvPr id="40" name="TextBox 39"/>
          <p:cNvSpPr txBox="1"/>
          <p:nvPr/>
        </p:nvSpPr>
        <p:spPr>
          <a:xfrm>
            <a:off x="1152144" y="4480560"/>
            <a:ext cx="10180015" cy="423672"/>
          </a:xfrm>
          <a:prstGeom prst="rect">
            <a:avLst/>
          </a:prstGeom>
          <a:noFill/>
        </p:spPr>
        <p:txBody>
          <a:bodyPr wrap="square" anchor="ctr" lIns="0" rIns="0" tIns="0" bIns="0">
            <a:spAutoFit/>
          </a:bodyPr>
          <a:lstStyle/>
          <a:p>
            <a:pPr algn="l">
              <a:lnSpc>
                <a:spcPct val="115000"/>
              </a:lnSpc>
            </a:pPr>
            <a:r>
              <a:rPr sz="1500" b="1">
                <a:solidFill>
                  <a:srgbClr val="1A1A1A"/>
                </a:solidFill>
                <a:latin typeface="Montserrat"/>
              </a:rPr>
              <a:t>Implicaciones: debate</a:t>
            </a:r>
          </a:p>
        </p:txBody>
      </p:sp>
      <p:sp>
        <p:nvSpPr>
          <p:cNvPr id="41" name="Rounded Rectangle 40">
            <a:hlinkClick action="ppaction://hlinksldjump" r:id="rId9"/>
          </p:cNvPr>
          <p:cNvSpPr/>
          <p:nvPr/>
        </p:nvSpPr>
        <p:spPr>
          <a:xfrm>
            <a:off x="11185855" y="4568952"/>
            <a:ext cx="310896" cy="310896"/>
          </a:xfrm>
          <a:prstGeom prst="roundRect">
            <a:avLst/>
          </a:prstGeom>
          <a:solidFill>
            <a:srgbClr val="EFE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1531"/>
                </a:solidFill>
                <a:latin typeface="Montserrat"/>
              </a:rPr>
              <a:t>&gt;</a:t>
            </a:r>
          </a:p>
        </p:txBody>
      </p:sp>
      <p:sp>
        <p:nvSpPr>
          <p:cNvPr id="42" name="Rectangle 41"/>
          <p:cNvSpPr/>
          <p:nvPr/>
        </p:nvSpPr>
        <p:spPr>
          <a:xfrm>
            <a:off x="548640" y="4968240"/>
            <a:ext cx="11094415" cy="4236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48640" y="4968240"/>
            <a:ext cx="50800" cy="423672"/>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94944" y="5056632"/>
            <a:ext cx="310896" cy="310896"/>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Montserrat"/>
              </a:rPr>
              <a:t>08</a:t>
            </a:r>
          </a:p>
        </p:txBody>
      </p:sp>
      <p:sp>
        <p:nvSpPr>
          <p:cNvPr id="45" name="TextBox 44"/>
          <p:cNvSpPr txBox="1"/>
          <p:nvPr/>
        </p:nvSpPr>
        <p:spPr>
          <a:xfrm>
            <a:off x="1152144" y="4968240"/>
            <a:ext cx="10180015" cy="423672"/>
          </a:xfrm>
          <a:prstGeom prst="rect">
            <a:avLst/>
          </a:prstGeom>
          <a:noFill/>
        </p:spPr>
        <p:txBody>
          <a:bodyPr wrap="square" anchor="ctr" lIns="0" rIns="0" tIns="0" bIns="0">
            <a:spAutoFit/>
          </a:bodyPr>
          <a:lstStyle/>
          <a:p>
            <a:pPr algn="l">
              <a:lnSpc>
                <a:spcPct val="115000"/>
              </a:lnSpc>
            </a:pPr>
            <a:r>
              <a:rPr sz="1500" b="1">
                <a:solidFill>
                  <a:srgbClr val="1A1A1A"/>
                </a:solidFill>
                <a:latin typeface="Montserrat"/>
              </a:rPr>
              <a:t>Fuentes (APA 7)</a:t>
            </a:r>
          </a:p>
        </p:txBody>
      </p:sp>
      <p:sp>
        <p:nvSpPr>
          <p:cNvPr id="46" name="Rounded Rectangle 45">
            <a:hlinkClick action="ppaction://hlinksldjump" r:id="rId10"/>
          </p:cNvPr>
          <p:cNvSpPr/>
          <p:nvPr/>
        </p:nvSpPr>
        <p:spPr>
          <a:xfrm>
            <a:off x="11185855" y="5056632"/>
            <a:ext cx="310896" cy="310896"/>
          </a:xfrm>
          <a:prstGeom prst="roundRect">
            <a:avLst/>
          </a:prstGeom>
          <a:solidFill>
            <a:srgbClr val="EFE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1531"/>
                </a:solidFill>
                <a:latin typeface="Montserrat"/>
              </a:rPr>
              <a:t>&gt;</a:t>
            </a:r>
          </a:p>
        </p:txBody>
      </p:sp>
      <p:sp>
        <p:nvSpPr>
          <p:cNvPr id="47" name="Rectangle 46"/>
          <p:cNvSpPr/>
          <p:nvPr/>
        </p:nvSpPr>
        <p:spPr>
          <a:xfrm>
            <a:off x="548640" y="5455920"/>
            <a:ext cx="11094415" cy="4236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48640" y="5455920"/>
            <a:ext cx="50800" cy="423672"/>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694944" y="5544312"/>
            <a:ext cx="310896" cy="310896"/>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Montserrat"/>
              </a:rPr>
              <a:t>09</a:t>
            </a:r>
          </a:p>
        </p:txBody>
      </p:sp>
      <p:sp>
        <p:nvSpPr>
          <p:cNvPr id="50" name="TextBox 49"/>
          <p:cNvSpPr txBox="1"/>
          <p:nvPr/>
        </p:nvSpPr>
        <p:spPr>
          <a:xfrm>
            <a:off x="1152144" y="5455920"/>
            <a:ext cx="10180015" cy="423672"/>
          </a:xfrm>
          <a:prstGeom prst="rect">
            <a:avLst/>
          </a:prstGeom>
          <a:noFill/>
        </p:spPr>
        <p:txBody>
          <a:bodyPr wrap="square" anchor="ctr" lIns="0" rIns="0" tIns="0" bIns="0">
            <a:spAutoFit/>
          </a:bodyPr>
          <a:lstStyle/>
          <a:p>
            <a:pPr algn="l">
              <a:lnSpc>
                <a:spcPct val="115000"/>
              </a:lnSpc>
            </a:pPr>
            <a:r>
              <a:rPr sz="1500" b="1">
                <a:solidFill>
                  <a:srgbClr val="1A1A1A"/>
                </a:solidFill>
                <a:latin typeface="Montserrat"/>
              </a:rPr>
              <a:t>ANEXO: articulos completos</a:t>
            </a:r>
          </a:p>
        </p:txBody>
      </p:sp>
      <p:sp>
        <p:nvSpPr>
          <p:cNvPr id="51" name="Rounded Rectangle 50">
            <a:hlinkClick action="ppaction://hlinksldjump" r:id="rId11"/>
          </p:cNvPr>
          <p:cNvSpPr/>
          <p:nvPr/>
        </p:nvSpPr>
        <p:spPr>
          <a:xfrm>
            <a:off x="11185855" y="5544312"/>
            <a:ext cx="310896" cy="310896"/>
          </a:xfrm>
          <a:prstGeom prst="roundRect">
            <a:avLst/>
          </a:prstGeom>
          <a:solidFill>
            <a:srgbClr val="EFE7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1531"/>
                </a:solidFill>
                <a:latin typeface="Montserrat"/>
              </a:rPr>
              <a:t>&gt;</a:t>
            </a:r>
          </a:p>
        </p:txBody>
      </p:sp>
      <p:sp>
        <p:nvSpPr>
          <p:cNvPr id="52" name="TextBox 51"/>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Secretaria de Gobernacion. (2026, 2 de junio). Decreto... en materia de reforma al Poder Judicial. DOF.</a:t>
            </a:r>
          </a:p>
        </p:txBody>
      </p:sp>
      <p:sp>
        <p:nvSpPr>
          <p:cNvPr id="53" name="Rectangle 52"/>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INDICE</a:t>
            </a:r>
          </a:p>
        </p:txBody>
      </p:sp>
      <p:sp>
        <p:nvSpPr>
          <p:cNvPr id="56" name="TextBox 55"/>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 / 44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969264"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PANORAMA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Que se reformo?</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81328"/>
            <a:ext cx="11094415" cy="457200"/>
          </a:xfrm>
          <a:prstGeom prst="rect">
            <a:avLst/>
          </a:prstGeom>
          <a:noFill/>
        </p:spPr>
        <p:txBody>
          <a:bodyPr wrap="square" anchor="t" lIns="0" rIns="0" tIns="0" bIns="0">
            <a:spAutoFit/>
          </a:bodyPr>
          <a:lstStyle/>
          <a:p>
            <a:pPr algn="l">
              <a:lnSpc>
                <a:spcPct val="135000"/>
              </a:lnSpc>
            </a:pPr>
            <a:r>
              <a:rPr sz="1250" b="0">
                <a:solidFill>
                  <a:srgbClr val="4A4A4A"/>
                </a:solidFill>
                <a:latin typeface="Montserrat"/>
              </a:rPr>
              <a:t>Segunda reforma judicial, complementaria y correctiva de la del 15-09-2024. Toca siete articulos y los transitorios.</a:t>
            </a:r>
          </a:p>
        </p:txBody>
      </p:sp>
      <p:sp>
        <p:nvSpPr>
          <p:cNvPr id="8" name="TextBox 7"/>
          <p:cNvSpPr txBox="1"/>
          <p:nvPr/>
        </p:nvSpPr>
        <p:spPr>
          <a:xfrm>
            <a:off x="548640" y="1965960"/>
            <a:ext cx="1920240" cy="585216"/>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Art. 35 IX-3</a:t>
            </a:r>
          </a:p>
        </p:txBody>
      </p:sp>
      <p:sp>
        <p:nvSpPr>
          <p:cNvPr id="9" name="TextBox 8"/>
          <p:cNvSpPr txBox="1"/>
          <p:nvPr/>
        </p:nvSpPr>
        <p:spPr>
          <a:xfrm>
            <a:off x="2514600" y="1965960"/>
            <a:ext cx="9128455" cy="585216"/>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Revocacion de mandato en fecha coincidente con las jornadas electorales.</a:t>
            </a:r>
          </a:p>
        </p:txBody>
      </p:sp>
      <p:sp>
        <p:nvSpPr>
          <p:cNvPr id="10" name="Rectangle 9"/>
          <p:cNvSpPr/>
          <p:nvPr/>
        </p:nvSpPr>
        <p:spPr>
          <a:xfrm>
            <a:off x="548640" y="2511044"/>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551176"/>
            <a:ext cx="1920240" cy="585216"/>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Art. 94</a:t>
            </a:r>
          </a:p>
        </p:txBody>
      </p:sp>
      <p:sp>
        <p:nvSpPr>
          <p:cNvPr id="12" name="TextBox 11"/>
          <p:cNvSpPr txBox="1"/>
          <p:nvPr/>
        </p:nvSpPr>
        <p:spPr>
          <a:xfrm>
            <a:off x="2514600" y="2551176"/>
            <a:ext cx="9128455" cy="585216"/>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La SCJN podra funcionar en dos secciones, ademas del Pleno.</a:t>
            </a:r>
          </a:p>
        </p:txBody>
      </p:sp>
      <p:sp>
        <p:nvSpPr>
          <p:cNvPr id="13" name="Rectangle 12"/>
          <p:cNvSpPr/>
          <p:nvPr/>
        </p:nvSpPr>
        <p:spPr>
          <a:xfrm>
            <a:off x="548640" y="3096260"/>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136392"/>
            <a:ext cx="1920240" cy="585216"/>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Art. 96</a:t>
            </a:r>
          </a:p>
        </p:txBody>
      </p:sp>
      <p:sp>
        <p:nvSpPr>
          <p:cNvPr id="15" name="TextBox 14"/>
          <p:cNvSpPr txBox="1"/>
          <p:nvPr/>
        </p:nvSpPr>
        <p:spPr>
          <a:xfrm>
            <a:off x="2514600" y="3136392"/>
            <a:ext cx="9128455" cy="585216"/>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Comision Coordinadora, menos candidaturas (insaculacion a 2) y boletas claras.</a:t>
            </a:r>
          </a:p>
        </p:txBody>
      </p:sp>
      <p:sp>
        <p:nvSpPr>
          <p:cNvPr id="16" name="Rectangle 15"/>
          <p:cNvSpPr/>
          <p:nvPr/>
        </p:nvSpPr>
        <p:spPr>
          <a:xfrm>
            <a:off x="548640" y="3681476"/>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721608"/>
            <a:ext cx="1920240" cy="585216"/>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Art. 98</a:t>
            </a:r>
          </a:p>
        </p:txBody>
      </p:sp>
      <p:sp>
        <p:nvSpPr>
          <p:cNvPr id="18" name="TextBox 17"/>
          <p:cNvSpPr txBox="1"/>
          <p:nvPr/>
        </p:nvSpPr>
        <p:spPr>
          <a:xfrm>
            <a:off x="2514600" y="3721608"/>
            <a:ext cx="9128455" cy="585216"/>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Vacantes, licencias y renuncia irrevocable para contender por otro cargo.</a:t>
            </a:r>
          </a:p>
        </p:txBody>
      </p:sp>
      <p:sp>
        <p:nvSpPr>
          <p:cNvPr id="19" name="Rectangle 18"/>
          <p:cNvSpPr/>
          <p:nvPr/>
        </p:nvSpPr>
        <p:spPr>
          <a:xfrm>
            <a:off x="548640" y="4266692"/>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306824"/>
            <a:ext cx="1920240" cy="585216"/>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Art. 100</a:t>
            </a:r>
          </a:p>
        </p:txBody>
      </p:sp>
      <p:sp>
        <p:nvSpPr>
          <p:cNvPr id="21" name="TextBox 20"/>
          <p:cNvSpPr txBox="1"/>
          <p:nvPr/>
        </p:nvSpPr>
        <p:spPr>
          <a:xfrm>
            <a:off x="2514600" y="4306824"/>
            <a:ext cx="9128455" cy="585216"/>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Evaluacion del primer ano + capacitacion (Escuela Nac. de Formacion Judicial).</a:t>
            </a:r>
          </a:p>
        </p:txBody>
      </p:sp>
      <p:sp>
        <p:nvSpPr>
          <p:cNvPr id="22" name="Rectangle 21"/>
          <p:cNvSpPr/>
          <p:nvPr/>
        </p:nvSpPr>
        <p:spPr>
          <a:xfrm>
            <a:off x="548640" y="4851908"/>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892040"/>
            <a:ext cx="1920240" cy="585216"/>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Arts. 116 y 122</a:t>
            </a:r>
          </a:p>
        </p:txBody>
      </p:sp>
      <p:sp>
        <p:nvSpPr>
          <p:cNvPr id="24" name="TextBox 23"/>
          <p:cNvSpPr txBox="1"/>
          <p:nvPr/>
        </p:nvSpPr>
        <p:spPr>
          <a:xfrm>
            <a:off x="2514600" y="4892040"/>
            <a:ext cx="9128455" cy="585216"/>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Replica obligatoria del modelo federal en estados y CDMX.</a:t>
            </a:r>
          </a:p>
        </p:txBody>
      </p:sp>
      <p:sp>
        <p:nvSpPr>
          <p:cNvPr id="25" name="Rectangle 24"/>
          <p:cNvSpPr/>
          <p:nvPr/>
        </p:nvSpPr>
        <p:spPr>
          <a:xfrm>
            <a:off x="548640" y="5437124"/>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477256"/>
            <a:ext cx="1920240" cy="585216"/>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Transitorios</a:t>
            </a:r>
          </a:p>
        </p:txBody>
      </p:sp>
      <p:sp>
        <p:nvSpPr>
          <p:cNvPr id="27" name="TextBox 26"/>
          <p:cNvSpPr txBox="1"/>
          <p:nvPr/>
        </p:nvSpPr>
        <p:spPr>
          <a:xfrm>
            <a:off x="2514600" y="5477256"/>
            <a:ext cx="9128455" cy="585216"/>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Eleccion judicial 2027 a 2028; reeleccion del TEPJF; plazos de armonizacion.</a:t>
            </a:r>
          </a:p>
        </p:txBody>
      </p:sp>
      <p:sp>
        <p:nvSpPr>
          <p:cNvPr id="28" name="Rectangle 27"/>
          <p:cNvSpPr/>
          <p:nvPr/>
        </p:nvSpPr>
        <p:spPr>
          <a:xfrm>
            <a:off x="548640" y="6022340"/>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Secretaria de Gobernacion. (2026, 2 de junio). Decreto... en materia de reforma al Poder Judicial. DOF.</a:t>
            </a:r>
          </a:p>
        </p:txBody>
      </p:sp>
      <p:sp>
        <p:nvSpPr>
          <p:cNvPr id="30" name="Rectangle 29"/>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PANORAMA</a:t>
            </a:r>
          </a:p>
        </p:txBody>
      </p:sp>
      <p:sp>
        <p:nvSpPr>
          <p:cNvPr id="33" name="TextBox 32"/>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 / 44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1380744"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ACTORES CLAVE</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Quien la propone y la conduce</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ct_sheinbaum.png"/>
          <p:cNvPicPr>
            <a:picLocks noChangeAspect="1"/>
          </p:cNvPicPr>
          <p:nvPr/>
        </p:nvPicPr>
        <p:blipFill>
          <a:blip r:embed="rId2"/>
          <a:stretch>
            <a:fillRect/>
          </a:stretch>
        </p:blipFill>
        <p:spPr>
          <a:xfrm>
            <a:off x="822960" y="1828800"/>
            <a:ext cx="1554480" cy="1554480"/>
          </a:xfrm>
          <a:prstGeom prst="rect">
            <a:avLst/>
          </a:prstGeom>
        </p:spPr>
      </p:pic>
      <p:sp>
        <p:nvSpPr>
          <p:cNvPr id="8" name="TextBox 7"/>
          <p:cNvSpPr txBox="1"/>
          <p:nvPr/>
        </p:nvSpPr>
        <p:spPr>
          <a:xfrm>
            <a:off x="548640" y="3493008"/>
            <a:ext cx="2103120" cy="329184"/>
          </a:xfrm>
          <a:prstGeom prst="rect">
            <a:avLst/>
          </a:prstGeom>
          <a:noFill/>
        </p:spPr>
        <p:txBody>
          <a:bodyPr wrap="square" anchor="t" lIns="0" rIns="0" tIns="0" bIns="0">
            <a:spAutoFit/>
          </a:bodyPr>
          <a:lstStyle/>
          <a:p>
            <a:pPr algn="ctr">
              <a:lnSpc>
                <a:spcPct val="115000"/>
              </a:lnSpc>
            </a:pPr>
            <a:r>
              <a:rPr sz="1350" b="1">
                <a:solidFill>
                  <a:srgbClr val="6B1531"/>
                </a:solidFill>
                <a:latin typeface="Montserrat"/>
              </a:rPr>
              <a:t>Claudia Sheinbaum</a:t>
            </a:r>
          </a:p>
        </p:txBody>
      </p:sp>
      <p:sp>
        <p:nvSpPr>
          <p:cNvPr id="9" name="TextBox 8"/>
          <p:cNvSpPr txBox="1"/>
          <p:nvPr/>
        </p:nvSpPr>
        <p:spPr>
          <a:xfrm>
            <a:off x="548640" y="3840480"/>
            <a:ext cx="2103120" cy="640080"/>
          </a:xfrm>
          <a:prstGeom prst="rect">
            <a:avLst/>
          </a:prstGeom>
          <a:noFill/>
        </p:spPr>
        <p:txBody>
          <a:bodyPr wrap="square" anchor="t" lIns="0" rIns="0" tIns="0" bIns="0">
            <a:spAutoFit/>
          </a:bodyPr>
          <a:lstStyle/>
          <a:p>
            <a:pPr algn="ctr">
              <a:lnSpc>
                <a:spcPct val="125000"/>
              </a:lnSpc>
            </a:pPr>
            <a:r>
              <a:rPr sz="1050" b="0">
                <a:solidFill>
                  <a:srgbClr val="4A4A4A"/>
                </a:solidFill>
                <a:latin typeface="Montserrat"/>
              </a:rPr>
              <a:t>Presidenta - promulga el decreto</a:t>
            </a:r>
          </a:p>
        </p:txBody>
      </p:sp>
      <p:pic>
        <p:nvPicPr>
          <p:cNvPr id="10" name="Picture 9" descr="act_rosa_icela.png"/>
          <p:cNvPicPr>
            <a:picLocks noChangeAspect="1"/>
          </p:cNvPicPr>
          <p:nvPr/>
        </p:nvPicPr>
        <p:blipFill>
          <a:blip r:embed="rId3"/>
          <a:stretch>
            <a:fillRect/>
          </a:stretch>
        </p:blipFill>
        <p:spPr>
          <a:xfrm>
            <a:off x="3070783" y="1828800"/>
            <a:ext cx="1554480" cy="1554480"/>
          </a:xfrm>
          <a:prstGeom prst="rect">
            <a:avLst/>
          </a:prstGeom>
        </p:spPr>
      </p:pic>
      <p:sp>
        <p:nvSpPr>
          <p:cNvPr id="11" name="TextBox 10"/>
          <p:cNvSpPr txBox="1"/>
          <p:nvPr/>
        </p:nvSpPr>
        <p:spPr>
          <a:xfrm>
            <a:off x="2796463" y="3493008"/>
            <a:ext cx="2103120" cy="329184"/>
          </a:xfrm>
          <a:prstGeom prst="rect">
            <a:avLst/>
          </a:prstGeom>
          <a:noFill/>
        </p:spPr>
        <p:txBody>
          <a:bodyPr wrap="square" anchor="t" lIns="0" rIns="0" tIns="0" bIns="0">
            <a:spAutoFit/>
          </a:bodyPr>
          <a:lstStyle/>
          <a:p>
            <a:pPr algn="ctr">
              <a:lnSpc>
                <a:spcPct val="115000"/>
              </a:lnSpc>
            </a:pPr>
            <a:r>
              <a:rPr sz="1350" b="1">
                <a:solidFill>
                  <a:srgbClr val="6B1531"/>
                </a:solidFill>
                <a:latin typeface="Montserrat"/>
              </a:rPr>
              <a:t>Rosa Icela Rodriguez</a:t>
            </a:r>
          </a:p>
        </p:txBody>
      </p:sp>
      <p:sp>
        <p:nvSpPr>
          <p:cNvPr id="12" name="TextBox 11"/>
          <p:cNvSpPr txBox="1"/>
          <p:nvPr/>
        </p:nvSpPr>
        <p:spPr>
          <a:xfrm>
            <a:off x="2796463" y="3840480"/>
            <a:ext cx="2103120" cy="640080"/>
          </a:xfrm>
          <a:prstGeom prst="rect">
            <a:avLst/>
          </a:prstGeom>
          <a:noFill/>
        </p:spPr>
        <p:txBody>
          <a:bodyPr wrap="square" anchor="t" lIns="0" rIns="0" tIns="0" bIns="0">
            <a:spAutoFit/>
          </a:bodyPr>
          <a:lstStyle/>
          <a:p>
            <a:pPr algn="ctr">
              <a:lnSpc>
                <a:spcPct val="125000"/>
              </a:lnSpc>
            </a:pPr>
            <a:r>
              <a:rPr sz="1050" b="0">
                <a:solidFill>
                  <a:srgbClr val="4A4A4A"/>
                </a:solidFill>
                <a:latin typeface="Montserrat"/>
              </a:rPr>
              <a:t>Sec. de Gobernacion - entrega la iniciativa</a:t>
            </a:r>
          </a:p>
        </p:txBody>
      </p:sp>
      <p:pic>
        <p:nvPicPr>
          <p:cNvPr id="13" name="Picture 12" descr="act_alcalde.png"/>
          <p:cNvPicPr>
            <a:picLocks noChangeAspect="1"/>
          </p:cNvPicPr>
          <p:nvPr/>
        </p:nvPicPr>
        <p:blipFill>
          <a:blip r:embed="rId4"/>
          <a:stretch>
            <a:fillRect/>
          </a:stretch>
        </p:blipFill>
        <p:spPr>
          <a:xfrm>
            <a:off x="5318607" y="1828800"/>
            <a:ext cx="1554480" cy="1554480"/>
          </a:xfrm>
          <a:prstGeom prst="rect">
            <a:avLst/>
          </a:prstGeom>
        </p:spPr>
      </p:pic>
      <p:sp>
        <p:nvSpPr>
          <p:cNvPr id="14" name="TextBox 13"/>
          <p:cNvSpPr txBox="1"/>
          <p:nvPr/>
        </p:nvSpPr>
        <p:spPr>
          <a:xfrm>
            <a:off x="5044287" y="3493008"/>
            <a:ext cx="2103120" cy="329184"/>
          </a:xfrm>
          <a:prstGeom prst="rect">
            <a:avLst/>
          </a:prstGeom>
          <a:noFill/>
        </p:spPr>
        <p:txBody>
          <a:bodyPr wrap="square" anchor="t" lIns="0" rIns="0" tIns="0" bIns="0">
            <a:spAutoFit/>
          </a:bodyPr>
          <a:lstStyle/>
          <a:p>
            <a:pPr algn="ctr">
              <a:lnSpc>
                <a:spcPct val="115000"/>
              </a:lnSpc>
            </a:pPr>
            <a:r>
              <a:rPr sz="1350" b="1">
                <a:solidFill>
                  <a:srgbClr val="6B1531"/>
                </a:solidFill>
                <a:latin typeface="Montserrat"/>
              </a:rPr>
              <a:t>Luisa Maria Alcalde</a:t>
            </a:r>
          </a:p>
        </p:txBody>
      </p:sp>
      <p:sp>
        <p:nvSpPr>
          <p:cNvPr id="15" name="TextBox 14"/>
          <p:cNvSpPr txBox="1"/>
          <p:nvPr/>
        </p:nvSpPr>
        <p:spPr>
          <a:xfrm>
            <a:off x="5044287" y="3840480"/>
            <a:ext cx="2103120" cy="640080"/>
          </a:xfrm>
          <a:prstGeom prst="rect">
            <a:avLst/>
          </a:prstGeom>
          <a:noFill/>
        </p:spPr>
        <p:txBody>
          <a:bodyPr wrap="square" anchor="t" lIns="0" rIns="0" tIns="0" bIns="0">
            <a:spAutoFit/>
          </a:bodyPr>
          <a:lstStyle/>
          <a:p>
            <a:pPr algn="ctr">
              <a:lnSpc>
                <a:spcPct val="125000"/>
              </a:lnSpc>
            </a:pPr>
            <a:r>
              <a:rPr sz="1050" b="0">
                <a:solidFill>
                  <a:srgbClr val="4A4A4A"/>
                </a:solidFill>
                <a:latin typeface="Montserrat"/>
              </a:rPr>
              <a:t>Consejera Juridica - disena y defiende</a:t>
            </a:r>
          </a:p>
        </p:txBody>
      </p:sp>
      <p:pic>
        <p:nvPicPr>
          <p:cNvPr id="16" name="Picture 15" descr="act_mier.png"/>
          <p:cNvPicPr>
            <a:picLocks noChangeAspect="1"/>
          </p:cNvPicPr>
          <p:nvPr/>
        </p:nvPicPr>
        <p:blipFill>
          <a:blip r:embed="rId5"/>
          <a:stretch>
            <a:fillRect/>
          </a:stretch>
        </p:blipFill>
        <p:spPr>
          <a:xfrm>
            <a:off x="7566431" y="1828800"/>
            <a:ext cx="1554480" cy="1554480"/>
          </a:xfrm>
          <a:prstGeom prst="rect">
            <a:avLst/>
          </a:prstGeom>
        </p:spPr>
      </p:pic>
      <p:sp>
        <p:nvSpPr>
          <p:cNvPr id="17" name="TextBox 16"/>
          <p:cNvSpPr txBox="1"/>
          <p:nvPr/>
        </p:nvSpPr>
        <p:spPr>
          <a:xfrm>
            <a:off x="7292111" y="3493008"/>
            <a:ext cx="2103120" cy="329184"/>
          </a:xfrm>
          <a:prstGeom prst="rect">
            <a:avLst/>
          </a:prstGeom>
          <a:noFill/>
        </p:spPr>
        <p:txBody>
          <a:bodyPr wrap="square" anchor="t" lIns="0" rIns="0" tIns="0" bIns="0">
            <a:spAutoFit/>
          </a:bodyPr>
          <a:lstStyle/>
          <a:p>
            <a:pPr algn="ctr">
              <a:lnSpc>
                <a:spcPct val="115000"/>
              </a:lnSpc>
            </a:pPr>
            <a:r>
              <a:rPr sz="1350" b="1">
                <a:solidFill>
                  <a:srgbClr val="6B1531"/>
                </a:solidFill>
                <a:latin typeface="Montserrat"/>
              </a:rPr>
              <a:t>Ignacio Mier</a:t>
            </a:r>
          </a:p>
        </p:txBody>
      </p:sp>
      <p:sp>
        <p:nvSpPr>
          <p:cNvPr id="18" name="TextBox 17"/>
          <p:cNvSpPr txBox="1"/>
          <p:nvPr/>
        </p:nvSpPr>
        <p:spPr>
          <a:xfrm>
            <a:off x="7292111" y="3840480"/>
            <a:ext cx="2103120" cy="640080"/>
          </a:xfrm>
          <a:prstGeom prst="rect">
            <a:avLst/>
          </a:prstGeom>
          <a:noFill/>
        </p:spPr>
        <p:txBody>
          <a:bodyPr wrap="square" anchor="t" lIns="0" rIns="0" tIns="0" bIns="0">
            <a:spAutoFit/>
          </a:bodyPr>
          <a:lstStyle/>
          <a:p>
            <a:pPr algn="ctr">
              <a:lnSpc>
                <a:spcPct val="125000"/>
              </a:lnSpc>
            </a:pPr>
            <a:r>
              <a:rPr sz="1050" b="0">
                <a:solidFill>
                  <a:srgbClr val="4A4A4A"/>
                </a:solidFill>
                <a:latin typeface="Montserrat"/>
              </a:rPr>
              <a:t>Coordinador - vocero del aplazamiento</a:t>
            </a:r>
          </a:p>
        </p:txBody>
      </p:sp>
      <p:pic>
        <p:nvPicPr>
          <p:cNvPr id="19" name="Picture 18" descr="act_monreal.png"/>
          <p:cNvPicPr>
            <a:picLocks noChangeAspect="1"/>
          </p:cNvPicPr>
          <p:nvPr/>
        </p:nvPicPr>
        <p:blipFill>
          <a:blip r:embed="rId6"/>
          <a:stretch>
            <a:fillRect/>
          </a:stretch>
        </p:blipFill>
        <p:spPr>
          <a:xfrm>
            <a:off x="9814255" y="1828800"/>
            <a:ext cx="1554480" cy="1554480"/>
          </a:xfrm>
          <a:prstGeom prst="rect">
            <a:avLst/>
          </a:prstGeom>
        </p:spPr>
      </p:pic>
      <p:sp>
        <p:nvSpPr>
          <p:cNvPr id="20" name="TextBox 19"/>
          <p:cNvSpPr txBox="1"/>
          <p:nvPr/>
        </p:nvSpPr>
        <p:spPr>
          <a:xfrm>
            <a:off x="9539935" y="3493008"/>
            <a:ext cx="2103120" cy="329184"/>
          </a:xfrm>
          <a:prstGeom prst="rect">
            <a:avLst/>
          </a:prstGeom>
          <a:noFill/>
        </p:spPr>
        <p:txBody>
          <a:bodyPr wrap="square" anchor="t" lIns="0" rIns="0" tIns="0" bIns="0">
            <a:spAutoFit/>
          </a:bodyPr>
          <a:lstStyle/>
          <a:p>
            <a:pPr algn="ctr">
              <a:lnSpc>
                <a:spcPct val="115000"/>
              </a:lnSpc>
            </a:pPr>
            <a:r>
              <a:rPr sz="1350" b="1">
                <a:solidFill>
                  <a:srgbClr val="6B1531"/>
                </a:solidFill>
                <a:latin typeface="Montserrat"/>
              </a:rPr>
              <a:t>Ricardo Monreal</a:t>
            </a:r>
          </a:p>
        </p:txBody>
      </p:sp>
      <p:sp>
        <p:nvSpPr>
          <p:cNvPr id="21" name="TextBox 20"/>
          <p:cNvSpPr txBox="1"/>
          <p:nvPr/>
        </p:nvSpPr>
        <p:spPr>
          <a:xfrm>
            <a:off x="9539935" y="3840480"/>
            <a:ext cx="2103120" cy="640080"/>
          </a:xfrm>
          <a:prstGeom prst="rect">
            <a:avLst/>
          </a:prstGeom>
          <a:noFill/>
        </p:spPr>
        <p:txBody>
          <a:bodyPr wrap="square" anchor="t" lIns="0" rIns="0" tIns="0" bIns="0">
            <a:spAutoFit/>
          </a:bodyPr>
          <a:lstStyle/>
          <a:p>
            <a:pPr algn="ctr">
              <a:lnSpc>
                <a:spcPct val="125000"/>
              </a:lnSpc>
            </a:pPr>
            <a:r>
              <a:rPr sz="1050" b="0">
                <a:solidFill>
                  <a:srgbClr val="4A4A4A"/>
                </a:solidFill>
                <a:latin typeface="Montserrat"/>
              </a:rPr>
              <a:t>Pres. Jucopo (Diputados) - conduccion</a:t>
            </a:r>
          </a:p>
        </p:txBody>
      </p:sp>
      <p:sp>
        <p:nvSpPr>
          <p:cNvPr id="22" name="TextBox 21"/>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7"/>
              </a:rPr>
              <a:t>Fuente: Senado de la Republica. (2026, 20 de mayo). Recibe el Congreso iniciativa en materia de reforma al Poder Judicial (Com. 014).</a:t>
            </a:r>
          </a:p>
        </p:txBody>
      </p:sp>
      <p:sp>
        <p:nvSpPr>
          <p:cNvPr id="23" name="Rectangle 22"/>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ACTORES</a:t>
            </a:r>
          </a:p>
        </p:txBody>
      </p:sp>
      <p:sp>
        <p:nvSpPr>
          <p:cNvPr id="26" name="TextBox 25"/>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4 / 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1874519"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TRAMITE LEGISLATIVO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Cronologia y votaciones (fast-track)</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572768"/>
            <a:ext cx="11094415" cy="36576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572768"/>
            <a:ext cx="1444752" cy="365760"/>
          </a:xfrm>
          <a:prstGeom prst="rect">
            <a:avLst/>
          </a:prstGeom>
          <a:noFill/>
        </p:spPr>
        <p:txBody>
          <a:bodyPr wrap="square" anchor="ctr" lIns="0" rIns="0" tIns="0" bIns="0">
            <a:spAutoFit/>
          </a:bodyPr>
          <a:lstStyle/>
          <a:p>
            <a:pPr algn="l">
              <a:lnSpc>
                <a:spcPct val="115000"/>
              </a:lnSpc>
            </a:pPr>
            <a:r>
              <a:rPr sz="1100" b="1">
                <a:solidFill>
                  <a:srgbClr val="FFFFFF"/>
                </a:solidFill>
                <a:latin typeface="Montserrat"/>
              </a:rPr>
              <a:t>Fecha</a:t>
            </a:r>
          </a:p>
        </p:txBody>
      </p:sp>
      <p:sp>
        <p:nvSpPr>
          <p:cNvPr id="9" name="TextBox 8"/>
          <p:cNvSpPr txBox="1"/>
          <p:nvPr/>
        </p:nvSpPr>
        <p:spPr>
          <a:xfrm>
            <a:off x="2212848" y="1572768"/>
            <a:ext cx="7875727" cy="365760"/>
          </a:xfrm>
          <a:prstGeom prst="rect">
            <a:avLst/>
          </a:prstGeom>
          <a:noFill/>
        </p:spPr>
        <p:txBody>
          <a:bodyPr wrap="square" anchor="ctr" lIns="0" rIns="0" tIns="0" bIns="0">
            <a:spAutoFit/>
          </a:bodyPr>
          <a:lstStyle/>
          <a:p>
            <a:pPr algn="l">
              <a:lnSpc>
                <a:spcPct val="115000"/>
              </a:lnSpc>
            </a:pPr>
            <a:r>
              <a:rPr sz="1100" b="1">
                <a:solidFill>
                  <a:srgbClr val="FFFFFF"/>
                </a:solidFill>
                <a:latin typeface="Montserrat"/>
              </a:rPr>
              <a:t>Hito</a:t>
            </a:r>
          </a:p>
        </p:txBody>
      </p:sp>
      <p:sp>
        <p:nvSpPr>
          <p:cNvPr id="10" name="TextBox 9"/>
          <p:cNvSpPr txBox="1"/>
          <p:nvPr/>
        </p:nvSpPr>
        <p:spPr>
          <a:xfrm>
            <a:off x="10198303" y="1572768"/>
            <a:ext cx="1444752" cy="365760"/>
          </a:xfrm>
          <a:prstGeom prst="rect">
            <a:avLst/>
          </a:prstGeom>
          <a:noFill/>
        </p:spPr>
        <p:txBody>
          <a:bodyPr wrap="square" anchor="ctr" lIns="0" rIns="0" tIns="0" bIns="0">
            <a:spAutoFit/>
          </a:bodyPr>
          <a:lstStyle/>
          <a:p>
            <a:pPr algn="l">
              <a:lnSpc>
                <a:spcPct val="115000"/>
              </a:lnSpc>
            </a:pPr>
            <a:r>
              <a:rPr sz="1100" b="1">
                <a:solidFill>
                  <a:srgbClr val="FFFFFF"/>
                </a:solidFill>
                <a:latin typeface="Montserrat"/>
              </a:rPr>
              <a:t>Votacion</a:t>
            </a:r>
          </a:p>
        </p:txBody>
      </p:sp>
      <p:sp>
        <p:nvSpPr>
          <p:cNvPr id="11" name="TextBox 10"/>
          <p:cNvSpPr txBox="1"/>
          <p:nvPr/>
        </p:nvSpPr>
        <p:spPr>
          <a:xfrm>
            <a:off x="658368" y="1938528"/>
            <a:ext cx="1371600" cy="460629"/>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20 may 2026</a:t>
            </a:r>
          </a:p>
        </p:txBody>
      </p:sp>
      <p:sp>
        <p:nvSpPr>
          <p:cNvPr id="12" name="TextBox 11"/>
          <p:cNvSpPr txBox="1"/>
          <p:nvPr/>
        </p:nvSpPr>
        <p:spPr>
          <a:xfrm>
            <a:off x="2212848" y="1938528"/>
            <a:ext cx="7802575"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Ejecutivo entrega la iniciativa a la Comision Permanente</a:t>
            </a:r>
          </a:p>
        </p:txBody>
      </p:sp>
      <p:sp>
        <p:nvSpPr>
          <p:cNvPr id="13" name="TextBox 12"/>
          <p:cNvSpPr txBox="1"/>
          <p:nvPr/>
        </p:nvSpPr>
        <p:spPr>
          <a:xfrm>
            <a:off x="10198303" y="1938528"/>
            <a:ext cx="1371600"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a:t>
            </a:r>
          </a:p>
        </p:txBody>
      </p:sp>
      <p:sp>
        <p:nvSpPr>
          <p:cNvPr id="14" name="Rectangle 13"/>
          <p:cNvSpPr/>
          <p:nvPr/>
        </p:nvSpPr>
        <p:spPr>
          <a:xfrm>
            <a:off x="548640" y="2389632"/>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2399157"/>
            <a:ext cx="11094415" cy="460629"/>
          </a:xfrm>
          <a:prstGeom prst="rect">
            <a:avLst/>
          </a:prstGeom>
          <a:solidFill>
            <a:srgbClr val="FB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2399157"/>
            <a:ext cx="1371600" cy="460629"/>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25-26 may 2026</a:t>
            </a:r>
          </a:p>
        </p:txBody>
      </p:sp>
      <p:sp>
        <p:nvSpPr>
          <p:cNvPr id="17" name="TextBox 16"/>
          <p:cNvSpPr txBox="1"/>
          <p:nvPr/>
        </p:nvSpPr>
        <p:spPr>
          <a:xfrm>
            <a:off x="2212848" y="2399157"/>
            <a:ext cx="7802575"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Dictamen - Gaceta Parlamentaria num. 7045-7046</a:t>
            </a:r>
          </a:p>
        </p:txBody>
      </p:sp>
      <p:sp>
        <p:nvSpPr>
          <p:cNvPr id="18" name="TextBox 17"/>
          <p:cNvSpPr txBox="1"/>
          <p:nvPr/>
        </p:nvSpPr>
        <p:spPr>
          <a:xfrm>
            <a:off x="10198303" y="2399157"/>
            <a:ext cx="1371600"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a:t>
            </a:r>
          </a:p>
        </p:txBody>
      </p:sp>
      <p:sp>
        <p:nvSpPr>
          <p:cNvPr id="19" name="Rectangle 18"/>
          <p:cNvSpPr/>
          <p:nvPr/>
        </p:nvSpPr>
        <p:spPr>
          <a:xfrm>
            <a:off x="548640" y="2850261"/>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2859786"/>
            <a:ext cx="1371600" cy="460629"/>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26 may 2026</a:t>
            </a:r>
          </a:p>
        </p:txBody>
      </p:sp>
      <p:sp>
        <p:nvSpPr>
          <p:cNvPr id="21" name="TextBox 20"/>
          <p:cNvSpPr txBox="1"/>
          <p:nvPr/>
        </p:nvSpPr>
        <p:spPr>
          <a:xfrm>
            <a:off x="2212848" y="2859786"/>
            <a:ext cx="7802575"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Pleno de Diputados - en lo general</a:t>
            </a:r>
          </a:p>
        </p:txBody>
      </p:sp>
      <p:sp>
        <p:nvSpPr>
          <p:cNvPr id="22" name="TextBox 21"/>
          <p:cNvSpPr txBox="1"/>
          <p:nvPr/>
        </p:nvSpPr>
        <p:spPr>
          <a:xfrm>
            <a:off x="10198303" y="2859786"/>
            <a:ext cx="1371600"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341-124-0</a:t>
            </a:r>
          </a:p>
        </p:txBody>
      </p:sp>
      <p:sp>
        <p:nvSpPr>
          <p:cNvPr id="23" name="Rectangle 22"/>
          <p:cNvSpPr/>
          <p:nvPr/>
        </p:nvSpPr>
        <p:spPr>
          <a:xfrm>
            <a:off x="548640" y="3310890"/>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3320415"/>
            <a:ext cx="11094415" cy="460629"/>
          </a:xfrm>
          <a:prstGeom prst="rect">
            <a:avLst/>
          </a:prstGeom>
          <a:solidFill>
            <a:srgbClr val="FB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3320415"/>
            <a:ext cx="1371600" cy="460629"/>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28 may 2026</a:t>
            </a:r>
          </a:p>
        </p:txBody>
      </p:sp>
      <p:sp>
        <p:nvSpPr>
          <p:cNvPr id="26" name="TextBox 25"/>
          <p:cNvSpPr txBox="1"/>
          <p:nvPr/>
        </p:nvSpPr>
        <p:spPr>
          <a:xfrm>
            <a:off x="2212848" y="3320415"/>
            <a:ext cx="7802575"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Pleno de Diputados - en lo particular</a:t>
            </a:r>
          </a:p>
        </p:txBody>
      </p:sp>
      <p:sp>
        <p:nvSpPr>
          <p:cNvPr id="27" name="TextBox 26"/>
          <p:cNvSpPr txBox="1"/>
          <p:nvPr/>
        </p:nvSpPr>
        <p:spPr>
          <a:xfrm>
            <a:off x="10198303" y="3320415"/>
            <a:ext cx="1371600"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322-132-22</a:t>
            </a:r>
          </a:p>
        </p:txBody>
      </p:sp>
      <p:sp>
        <p:nvSpPr>
          <p:cNvPr id="28" name="Rectangle 27"/>
          <p:cNvSpPr/>
          <p:nvPr/>
        </p:nvSpPr>
        <p:spPr>
          <a:xfrm>
            <a:off x="548640" y="3771519"/>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781044"/>
            <a:ext cx="1371600" cy="460629"/>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29 may 2026</a:t>
            </a:r>
          </a:p>
        </p:txBody>
      </p:sp>
      <p:sp>
        <p:nvSpPr>
          <p:cNvPr id="30" name="TextBox 29"/>
          <p:cNvSpPr txBox="1"/>
          <p:nvPr/>
        </p:nvSpPr>
        <p:spPr>
          <a:xfrm>
            <a:off x="2212848" y="3781044"/>
            <a:ext cx="7802575"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Pleno del Senado - en lo general</a:t>
            </a:r>
          </a:p>
        </p:txBody>
      </p:sp>
      <p:sp>
        <p:nvSpPr>
          <p:cNvPr id="31" name="TextBox 30"/>
          <p:cNvSpPr txBox="1"/>
          <p:nvPr/>
        </p:nvSpPr>
        <p:spPr>
          <a:xfrm>
            <a:off x="10198303" y="3781044"/>
            <a:ext cx="1371600"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87-40-0</a:t>
            </a:r>
          </a:p>
        </p:txBody>
      </p:sp>
      <p:sp>
        <p:nvSpPr>
          <p:cNvPr id="32" name="Rectangle 31"/>
          <p:cNvSpPr/>
          <p:nvPr/>
        </p:nvSpPr>
        <p:spPr>
          <a:xfrm>
            <a:off x="548640" y="4232148"/>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640" y="4241673"/>
            <a:ext cx="11094415" cy="460629"/>
          </a:xfrm>
          <a:prstGeom prst="rect">
            <a:avLst/>
          </a:prstGeom>
          <a:solidFill>
            <a:srgbClr val="FB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241673"/>
            <a:ext cx="1371600" cy="460629"/>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29-31 may 2026</a:t>
            </a:r>
          </a:p>
        </p:txBody>
      </p:sp>
      <p:sp>
        <p:nvSpPr>
          <p:cNvPr id="35" name="TextBox 34"/>
          <p:cNvSpPr txBox="1"/>
          <p:nvPr/>
        </p:nvSpPr>
        <p:spPr>
          <a:xfrm>
            <a:off x="2212848" y="4241673"/>
            <a:ext cx="7802575"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Congresos estatales (se requerian 17)</a:t>
            </a:r>
          </a:p>
        </p:txBody>
      </p:sp>
      <p:sp>
        <p:nvSpPr>
          <p:cNvPr id="36" name="TextBox 35"/>
          <p:cNvSpPr txBox="1"/>
          <p:nvPr/>
        </p:nvSpPr>
        <p:spPr>
          <a:xfrm>
            <a:off x="10198303" y="4241673"/>
            <a:ext cx="1371600"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25 a favor</a:t>
            </a:r>
          </a:p>
        </p:txBody>
      </p:sp>
      <p:sp>
        <p:nvSpPr>
          <p:cNvPr id="37" name="Rectangle 36"/>
          <p:cNvSpPr/>
          <p:nvPr/>
        </p:nvSpPr>
        <p:spPr>
          <a:xfrm>
            <a:off x="548640" y="4692777"/>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4702302"/>
            <a:ext cx="1371600" cy="460629"/>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1 jun 2026</a:t>
            </a:r>
          </a:p>
        </p:txBody>
      </p:sp>
      <p:sp>
        <p:nvSpPr>
          <p:cNvPr id="39" name="TextBox 38"/>
          <p:cNvSpPr txBox="1"/>
          <p:nvPr/>
        </p:nvSpPr>
        <p:spPr>
          <a:xfrm>
            <a:off x="2212848" y="4702302"/>
            <a:ext cx="7802575"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Comision Permanente - declaratoria de constitucionalidad</a:t>
            </a:r>
          </a:p>
        </p:txBody>
      </p:sp>
      <p:sp>
        <p:nvSpPr>
          <p:cNvPr id="40" name="TextBox 39"/>
          <p:cNvSpPr txBox="1"/>
          <p:nvPr/>
        </p:nvSpPr>
        <p:spPr>
          <a:xfrm>
            <a:off x="10198303" y="4702302"/>
            <a:ext cx="1371600"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a:t>
            </a:r>
          </a:p>
        </p:txBody>
      </p:sp>
      <p:sp>
        <p:nvSpPr>
          <p:cNvPr id="41" name="Rectangle 40"/>
          <p:cNvSpPr/>
          <p:nvPr/>
        </p:nvSpPr>
        <p:spPr>
          <a:xfrm>
            <a:off x="548640" y="5153406"/>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48640" y="5162931"/>
            <a:ext cx="11094415" cy="460629"/>
          </a:xfrm>
          <a:prstGeom prst="rect">
            <a:avLst/>
          </a:prstGeom>
          <a:solidFill>
            <a:srgbClr val="FB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5162931"/>
            <a:ext cx="1371600" cy="460629"/>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2 jun 2026</a:t>
            </a:r>
          </a:p>
        </p:txBody>
      </p:sp>
      <p:sp>
        <p:nvSpPr>
          <p:cNvPr id="44" name="TextBox 43"/>
          <p:cNvSpPr txBox="1"/>
          <p:nvPr/>
        </p:nvSpPr>
        <p:spPr>
          <a:xfrm>
            <a:off x="2212848" y="5162931"/>
            <a:ext cx="7802575"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Publicacion en el DOF - 3 jun: entra en vigor</a:t>
            </a:r>
          </a:p>
        </p:txBody>
      </p:sp>
      <p:sp>
        <p:nvSpPr>
          <p:cNvPr id="45" name="TextBox 44"/>
          <p:cNvSpPr txBox="1"/>
          <p:nvPr/>
        </p:nvSpPr>
        <p:spPr>
          <a:xfrm>
            <a:off x="10198303" y="5162931"/>
            <a:ext cx="1371600" cy="460629"/>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a:t>
            </a:r>
          </a:p>
        </p:txBody>
      </p:sp>
      <p:sp>
        <p:nvSpPr>
          <p:cNvPr id="46" name="Rectangle 45"/>
          <p:cNvSpPr/>
          <p:nvPr/>
        </p:nvSpPr>
        <p:spPr>
          <a:xfrm>
            <a:off x="548640" y="5614035"/>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5833872"/>
            <a:ext cx="11094415" cy="365760"/>
          </a:xfrm>
          <a:prstGeom prst="rect">
            <a:avLst/>
          </a:prstGeom>
          <a:noFill/>
        </p:spPr>
        <p:txBody>
          <a:bodyPr wrap="square" anchor="t" lIns="0" rIns="0" tIns="0" bIns="0">
            <a:spAutoFit/>
          </a:bodyPr>
          <a:lstStyle/>
          <a:p>
            <a:pPr algn="l">
              <a:lnSpc>
                <a:spcPct val="120000"/>
              </a:lnSpc>
            </a:pPr>
            <a:r>
              <a:rPr sz="1000" b="0">
                <a:solidFill>
                  <a:srgbClr val="98989A"/>
                </a:solidFill>
                <a:latin typeface="Montserrat"/>
              </a:rPr>
              <a:t>A favor: Morena, PVEM y PT. En contra: PAN, PRI y MC. 22 abstenciones en Morena por la reeleccion del TEPJF.</a:t>
            </a:r>
          </a:p>
        </p:txBody>
      </p:sp>
      <p:sp>
        <p:nvSpPr>
          <p:cNvPr id="48" name="TextBox 47"/>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Senado de la Republica. (2026, 29 de mayo). Senado aprueba reforma que aplaza la eleccion del Poder Judicial de 2027 a 2028 (Com. 1466).</a:t>
            </a:r>
          </a:p>
        </p:txBody>
      </p:sp>
      <p:sp>
        <p:nvSpPr>
          <p:cNvPr id="49" name="Rectangle 48"/>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TRAMITE</a:t>
            </a:r>
          </a:p>
        </p:txBody>
      </p:sp>
      <p:sp>
        <p:nvSpPr>
          <p:cNvPr id="52" name="TextBox 51"/>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5 / 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EXPOSICION DE MOTIVOS</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Por que? (segun el dictamen)</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81328"/>
            <a:ext cx="11094415" cy="457200"/>
          </a:xfrm>
          <a:prstGeom prst="rect">
            <a:avLst/>
          </a:prstGeom>
          <a:noFill/>
        </p:spPr>
        <p:txBody>
          <a:bodyPr wrap="square" anchor="t" lIns="0" rIns="0" tIns="0" bIns="0">
            <a:spAutoFit/>
          </a:bodyPr>
          <a:lstStyle/>
          <a:p>
            <a:pPr algn="l">
              <a:lnSpc>
                <a:spcPct val="135000"/>
              </a:lnSpc>
            </a:pPr>
            <a:r>
              <a:rPr sz="1250" b="0">
                <a:solidFill>
                  <a:srgbClr val="4A4A4A"/>
                </a:solidFill>
                <a:latin typeface="Montserrat"/>
              </a:rPr>
              <a:t>La iniciativa presidencial se organiza en 7 ejes. El dictamen (Gaceta 7046) los vincula a cada articulo.</a:t>
            </a:r>
          </a:p>
        </p:txBody>
      </p:sp>
      <p:sp>
        <p:nvSpPr>
          <p:cNvPr id="8" name="TextBox 7"/>
          <p:cNvSpPr txBox="1"/>
          <p:nvPr/>
        </p:nvSpPr>
        <p:spPr>
          <a:xfrm>
            <a:off x="548640" y="1965960"/>
            <a:ext cx="1920240" cy="819302"/>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Eje I - Art. 35</a:t>
            </a:r>
          </a:p>
        </p:txBody>
      </p:sp>
      <p:sp>
        <p:nvSpPr>
          <p:cNvPr id="9" name="TextBox 8"/>
          <p:cNvSpPr txBox="1"/>
          <p:nvPr/>
        </p:nvSpPr>
        <p:spPr>
          <a:xfrm>
            <a:off x="2514600" y="1965960"/>
            <a:ext cx="9128455" cy="819302"/>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Concurrencia electoral para 'dotar de mayor racionalidad, eficiencia y funcionalidad... evitando la duplicidad de estructuras, recursos humanos, materiales y financieros'.</a:t>
            </a:r>
          </a:p>
        </p:txBody>
      </p:sp>
      <p:sp>
        <p:nvSpPr>
          <p:cNvPr id="10" name="Rectangle 9"/>
          <p:cNvSpPr/>
          <p:nvPr/>
        </p:nvSpPr>
        <p:spPr>
          <a:xfrm>
            <a:off x="548640" y="2745130"/>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85262"/>
            <a:ext cx="1920240" cy="819302"/>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Eje VI - Art. 94</a:t>
            </a:r>
          </a:p>
        </p:txBody>
      </p:sp>
      <p:sp>
        <p:nvSpPr>
          <p:cNvPr id="12" name="TextBox 11"/>
          <p:cNvSpPr txBox="1"/>
          <p:nvPr/>
        </p:nvSpPr>
        <p:spPr>
          <a:xfrm>
            <a:off x="2514600" y="2785262"/>
            <a:ext cx="9128455" cy="819302"/>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Secciones que permitan al Pleno conocer los asuntos de fondo y 'gestionar de manera mas eficiente' los asuntos de tramite.</a:t>
            </a:r>
          </a:p>
        </p:txBody>
      </p:sp>
      <p:sp>
        <p:nvSpPr>
          <p:cNvPr id="13" name="Rectangle 12"/>
          <p:cNvSpPr/>
          <p:nvPr/>
        </p:nvSpPr>
        <p:spPr>
          <a:xfrm>
            <a:off x="548640" y="3564432"/>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4564"/>
            <a:ext cx="1920240" cy="819302"/>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Ejes II-III - Art. 96</a:t>
            </a:r>
          </a:p>
        </p:txBody>
      </p:sp>
      <p:sp>
        <p:nvSpPr>
          <p:cNvPr id="15" name="TextBox 14"/>
          <p:cNvSpPr txBox="1"/>
          <p:nvPr/>
        </p:nvSpPr>
        <p:spPr>
          <a:xfrm>
            <a:off x="2514600" y="3604564"/>
            <a:ext cx="9128455" cy="819302"/>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Comision con metodologias homologadas y examenes; reducir 'de diez a cuatro' porque 'un muy alto numero de candidaturas... puede dificultar la deliberacion ciudadana'.</a:t>
            </a:r>
          </a:p>
        </p:txBody>
      </p:sp>
      <p:sp>
        <p:nvSpPr>
          <p:cNvPr id="16" name="Rectangle 15"/>
          <p:cNvSpPr/>
          <p:nvPr/>
        </p:nvSpPr>
        <p:spPr>
          <a:xfrm>
            <a:off x="548640" y="4383735"/>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423867"/>
            <a:ext cx="1920240" cy="819302"/>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Eje V - Arts. 98 y 100</a:t>
            </a:r>
          </a:p>
        </p:txBody>
      </p:sp>
      <p:sp>
        <p:nvSpPr>
          <p:cNvPr id="18" name="TextBox 17"/>
          <p:cNvSpPr txBox="1"/>
          <p:nvPr/>
        </p:nvSpPr>
        <p:spPr>
          <a:xfrm>
            <a:off x="2514600" y="4423867"/>
            <a:ext cx="9128455" cy="819302"/>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Separacion mediante 'renuncia expresa e irrevocable'; elevar a rango constitucional la 'capacitacion y actualizacion permanente'.</a:t>
            </a:r>
          </a:p>
        </p:txBody>
      </p:sp>
      <p:sp>
        <p:nvSpPr>
          <p:cNvPr id="19" name="Rectangle 18"/>
          <p:cNvSpPr/>
          <p:nvPr/>
        </p:nvSpPr>
        <p:spPr>
          <a:xfrm>
            <a:off x="548640" y="5203037"/>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243169"/>
            <a:ext cx="1920240" cy="819302"/>
          </a:xfrm>
          <a:prstGeom prst="rect">
            <a:avLst/>
          </a:prstGeom>
          <a:noFill/>
        </p:spPr>
        <p:txBody>
          <a:bodyPr wrap="square" anchor="ctr" lIns="0" rIns="0" tIns="0" bIns="0">
            <a:spAutoFit/>
          </a:bodyPr>
          <a:lstStyle/>
          <a:p>
            <a:pPr algn="l">
              <a:lnSpc>
                <a:spcPct val="115000"/>
              </a:lnSpc>
            </a:pPr>
            <a:r>
              <a:rPr sz="1200" b="1">
                <a:solidFill>
                  <a:srgbClr val="6B1531"/>
                </a:solidFill>
                <a:latin typeface="Montserrat"/>
              </a:rPr>
              <a:t>Eje VII - Arts. 116 y 122</a:t>
            </a:r>
          </a:p>
        </p:txBody>
      </p:sp>
      <p:sp>
        <p:nvSpPr>
          <p:cNvPr id="21" name="TextBox 20"/>
          <p:cNvSpPr txBox="1"/>
          <p:nvPr/>
        </p:nvSpPr>
        <p:spPr>
          <a:xfrm>
            <a:off x="2514600" y="5243169"/>
            <a:ext cx="9128455" cy="819302"/>
          </a:xfrm>
          <a:prstGeom prst="rect">
            <a:avLst/>
          </a:prstGeom>
          <a:noFill/>
        </p:spPr>
        <p:txBody>
          <a:bodyPr wrap="square" anchor="ctr" lIns="0" rIns="0" tIns="0" bIns="0">
            <a:spAutoFit/>
          </a:bodyPr>
          <a:lstStyle/>
          <a:p>
            <a:pPr algn="l">
              <a:lnSpc>
                <a:spcPct val="125000"/>
              </a:lnSpc>
            </a:pPr>
            <a:r>
              <a:rPr sz="1150" b="0">
                <a:solidFill>
                  <a:srgbClr val="4A4A4A"/>
                </a:solidFill>
                <a:latin typeface="Montserrat"/>
              </a:rPr>
              <a:t>Replicar el orden federal por 'casos en que diversos Estados no se ajustaron al diseno constitucional' (AI 92/2025, 97/2025, 98/2025).</a:t>
            </a:r>
          </a:p>
        </p:txBody>
      </p:sp>
      <p:sp>
        <p:nvSpPr>
          <p:cNvPr id="22" name="Rectangle 21"/>
          <p:cNvSpPr/>
          <p:nvPr/>
        </p:nvSpPr>
        <p:spPr>
          <a:xfrm>
            <a:off x="548640" y="6022340"/>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4" name="Rectangle 23"/>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PANORAMA</a:t>
            </a:r>
          </a:p>
        </p:txBody>
      </p:sp>
      <p:sp>
        <p:nvSpPr>
          <p:cNvPr id="27" name="TextBox 26"/>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6 / 44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86207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35 - FRAC. IX - NUM. 3</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Revocacion de mandato: fecha coincidente</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357055" y="457200"/>
            <a:ext cx="2286000" cy="329184"/>
          </a:xfrm>
          <a:prstGeom prst="round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3D0A1C"/>
                </a:solidFill>
                <a:latin typeface="Montserrat"/>
              </a:rPr>
              <a:t>Ver articulo COMPLETO &gt;</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3o. Se realizara mediante votacion libre, directa y secreta de ciudadanos y ciudadanas inscritos en la lista nominal, </a:t>
            </a:r>
            <a:r>
              <a:rPr sz="1150" b="1" u="none">
                <a:solidFill>
                  <a:srgbClr val="1A1A1A"/>
                </a:solidFill>
                <a:latin typeface="Montserrat"/>
              </a:rPr>
              <a:t>el domingo siguiente a los noventa dias posteriores a la convocatoria y en fecha no coincidente</a:t>
            </a:r>
            <a:r>
              <a:rPr sz="1150" b="0" u="none">
                <a:solidFill>
                  <a:srgbClr val="1A1A1A"/>
                </a:solidFill>
                <a:latin typeface="Montserrat"/>
              </a:rPr>
              <a:t> con las jornadas electorales, federal o locales.</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3o. Se realizara mediante votacion libre, directa y secreta de ciudadanos y ciudadanas inscritos en la lista nominal, </a:t>
            </a:r>
            <a:r>
              <a:rPr sz="1150" b="1" u="none">
                <a:solidFill>
                  <a:srgbClr val="1A1A1A"/>
                </a:solidFill>
                <a:latin typeface="Montserrat"/>
              </a:rPr>
              <a:t>el primer domingo de junio del cuarto ano del periodo constitucional de forma coincidente</a:t>
            </a:r>
            <a:r>
              <a:rPr sz="1150" b="0" u="none">
                <a:solidFill>
                  <a:srgbClr val="1A1A1A"/>
                </a:solidFill>
                <a:latin typeface="Montserrat"/>
              </a:rPr>
              <a:t> con las jornadas electorales, federal o locales.</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La revocacion de mandato se fija al 1er domingo de junio del 4o ano y se empalma al calendario electoral (en este sexenio, 2028).</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I: 'dotar de mayor racionalidad, eficiencia y funcionalidad al sistema electoral... evitando la duplicidad de estructuras, recursos humanos, materiales y financieros'.</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7 /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108960"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94 - PARRAFOS 3o, 4o Y 5o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La SCJN podra funcionar en dos secciones</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357055" y="457200"/>
            <a:ext cx="2286000" cy="329184"/>
          </a:xfrm>
          <a:prstGeom prst="round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3D0A1C"/>
                </a:solidFill>
                <a:latin typeface="Montserrat"/>
              </a:rPr>
              <a:t>Ver articulo COMPLETO &gt;</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 Suprema Corte de Justicia de la Nacion se compondra de nueve integrantes, Ministras y Ministros, y </a:t>
            </a:r>
            <a:r>
              <a:rPr sz="1150" b="1" u="none">
                <a:solidFill>
                  <a:srgbClr val="1A1A1A"/>
                </a:solidFill>
                <a:latin typeface="Montserrat"/>
              </a:rPr>
              <a:t>funcionara en Pleno</a:t>
            </a:r>
            <a:r>
              <a:rPr sz="1150" b="0" u="none">
                <a:solidFill>
                  <a:srgbClr val="1A1A1A"/>
                </a:solidFill>
                <a:latin typeface="Montserrat"/>
              </a:rPr>
              <a:t>. Su presidencia se renovara cada dos anos de manera rotatoria en funcion del numero de votos que obtenga cada candidatura en la eleccion respectiva, correspondiendo la presidencia a quienes alcancen mayor votacion.</a:t>
            </a:r>
          </a:p>
          <a:p>
            <a:pPr>
              <a:lnSpc>
                <a:spcPct val="118000"/>
              </a:lnSpc>
              <a:spcAft>
                <a:spcPts val="300"/>
              </a:spcAft>
            </a:pPr>
            <a:r>
              <a:rPr sz="1150" b="0" u="none">
                <a:solidFill>
                  <a:srgbClr val="1A1A1A"/>
                </a:solidFill>
                <a:latin typeface="Montserrat"/>
              </a:rPr>
              <a:t>En los terminos que la ley disponga las </a:t>
            </a:r>
            <a:r>
              <a:rPr sz="1150" b="1" u="none">
                <a:solidFill>
                  <a:srgbClr val="1A1A1A"/>
                </a:solidFill>
                <a:latin typeface="Montserrat"/>
              </a:rPr>
              <a:t>sesiones del Pleno seran publicas</a:t>
            </a:r>
            <a:r>
              <a:rPr sz="1150" b="0" u="none">
                <a:solidFill>
                  <a:srgbClr val="1A1A1A"/>
                </a:solidFill>
                <a:latin typeface="Montserrat"/>
              </a:rPr>
              <a:t>.</a:t>
            </a:r>
          </a:p>
          <a:p>
            <a:pPr>
              <a:lnSpc>
                <a:spcPct val="118000"/>
              </a:lnSpc>
              <a:spcAft>
                <a:spcPts val="300"/>
              </a:spcAft>
            </a:pPr>
            <a:r>
              <a:rPr sz="1150" b="0" u="none">
                <a:solidFill>
                  <a:srgbClr val="1A1A1A"/>
                </a:solidFill>
                <a:latin typeface="Montserrat"/>
              </a:rPr>
              <a:t>La competencia de la Suprema Corte, su </a:t>
            </a:r>
            <a:r>
              <a:rPr sz="1150" b="1" u="none">
                <a:solidFill>
                  <a:srgbClr val="1A1A1A"/>
                </a:solidFill>
                <a:latin typeface="Montserrat"/>
              </a:rPr>
              <a:t>funcionamiento en Pleno</a:t>
            </a:r>
            <a:r>
              <a:rPr sz="1150" b="0" u="none">
                <a:solidFill>
                  <a:srgbClr val="1A1A1A"/>
                </a:solidFill>
                <a:latin typeface="Montserrat"/>
              </a:rPr>
              <a:t>, la competencia de los Plenos Regionales, de los Tribunales de Circuito, de los Juzgados de Distrito y del Tribunal Electoral, asi como las responsabilidades en que incurran las servidoras y los servidores publicos del Poder Judicial de la Federacion, se regiran por lo que dispongan las leyes y los acuerdos generales correspondientes, de conformidad con las bases que esta Constitucion establece.</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 Suprema Corte de Justicia de la Nacion se compondra de nueve integrantes, Ministras y Ministros, y funcionara en Pleno; </a:t>
            </a:r>
            <a:r>
              <a:rPr sz="1150" b="1" u="none">
                <a:solidFill>
                  <a:srgbClr val="1A1A1A"/>
                </a:solidFill>
                <a:latin typeface="Montserrat"/>
              </a:rPr>
              <a:t>tambien, con aprobacion del Pleno, podra funcionar en dos secciones</a:t>
            </a:r>
            <a:r>
              <a:rPr sz="1150" b="0" u="none">
                <a:solidFill>
                  <a:srgbClr val="1A1A1A"/>
                </a:solidFill>
                <a:latin typeface="Montserrat"/>
              </a:rPr>
              <a:t>. La presidencia de la Corte se renovara cada dos anos de manera rotatoria en funcion del numero de votos que obtenga cada candidatura en la eleccion respectiva, correspondiendo la presidencia a quienes alcancen mayor votacion.</a:t>
            </a:r>
          </a:p>
          <a:p>
            <a:pPr>
              <a:lnSpc>
                <a:spcPct val="118000"/>
              </a:lnSpc>
              <a:spcAft>
                <a:spcPts val="300"/>
              </a:spcAft>
            </a:pPr>
            <a:r>
              <a:rPr sz="1150" b="0" u="none">
                <a:solidFill>
                  <a:srgbClr val="1A1A1A"/>
                </a:solidFill>
                <a:latin typeface="Montserrat"/>
              </a:rPr>
              <a:t>En los terminos que la ley disponga las </a:t>
            </a:r>
            <a:r>
              <a:rPr sz="1150" b="1" u="none">
                <a:solidFill>
                  <a:srgbClr val="1A1A1A"/>
                </a:solidFill>
                <a:latin typeface="Montserrat"/>
              </a:rPr>
              <a:t>sesiones del Pleno y de las secciones seran publicas</a:t>
            </a:r>
            <a:r>
              <a:rPr sz="1150" b="0" u="none">
                <a:solidFill>
                  <a:srgbClr val="1A1A1A"/>
                </a:solidFill>
                <a:latin typeface="Montserrat"/>
              </a:rPr>
              <a:t>.</a:t>
            </a:r>
          </a:p>
          <a:p>
            <a:pPr>
              <a:lnSpc>
                <a:spcPct val="118000"/>
              </a:lnSpc>
              <a:spcAft>
                <a:spcPts val="300"/>
              </a:spcAft>
            </a:pPr>
            <a:r>
              <a:rPr sz="1150" b="0" u="none">
                <a:solidFill>
                  <a:srgbClr val="1A1A1A"/>
                </a:solidFill>
                <a:latin typeface="Montserrat"/>
              </a:rPr>
              <a:t>La competencia de la Suprema Corte, su </a:t>
            </a:r>
            <a:r>
              <a:rPr sz="1150" b="1" u="none">
                <a:solidFill>
                  <a:srgbClr val="1A1A1A"/>
                </a:solidFill>
                <a:latin typeface="Montserrat"/>
              </a:rPr>
              <a:t>funcionamiento en Pleno y en secciones</a:t>
            </a:r>
            <a:r>
              <a:rPr sz="1150" b="0" u="none">
                <a:solidFill>
                  <a:srgbClr val="1A1A1A"/>
                </a:solidFill>
                <a:latin typeface="Montserrat"/>
              </a:rPr>
              <a:t>, la competencia de los Plenos Regionales, de los Tribunales de Circuito, de los Juzgados de Distrito y del Tribunal Electoral, asi como las responsabilidades en que incurran las servidoras y los servidores publicos del Poder Judicial de la Federacion, se regiran por lo que dispongan las leyes y los acuerdos generales correspondientes, de conformidad con las bases que esta Constitucion establece.</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Se habilitan dos secciones (con aprobacion del Pleno), cercanas a las Salas suprimidas en 2024, y sus sesiones seran publicas.</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VI: que el Pleno conozca 'los asuntos de fondo que sienten criterios obligatorios' y gestione 'de manera mas eficiente' los asuntos de tramite (la SCJN procesa ~20% menos asuntos).</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8 / 44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94436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96 (1/2) - FRAC. I Y II</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Convocatoria, Comision Coordinadora e insaculacion</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357055" y="457200"/>
            <a:ext cx="2286000" cy="329184"/>
          </a:xfrm>
          <a:prstGeom prst="round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3D0A1C"/>
                </a:solidFill>
                <a:latin typeface="Montserrat"/>
              </a:rPr>
              <a:t>Ver articulo COMPLETO &gt;</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 El Senado de la Republica publicara la convocatoria para la integracion del listado de candidaturas </a:t>
            </a:r>
            <a:r>
              <a:rPr sz="1150" b="1" u="none">
                <a:solidFill>
                  <a:srgbClr val="1A1A1A"/>
                </a:solidFill>
                <a:latin typeface="Montserrat"/>
              </a:rPr>
              <a:t>dentro de los treinta dias naturales siguientes a la instalacion del primer periodo ordinario de sesiones del ano anterior</a:t>
            </a:r>
            <a:r>
              <a:rPr sz="1150" b="0" u="none">
                <a:solidFill>
                  <a:srgbClr val="1A1A1A"/>
                </a:solidFill>
                <a:latin typeface="Montserrat"/>
              </a:rPr>
              <a:t> al de la eleccion que corresponda, que contendra las etapas completas del procedimiento, sus fechas y plazos improrrogables y los cargos a elegir.</a:t>
            </a:r>
          </a:p>
          <a:p>
            <a:pPr>
              <a:lnSpc>
                <a:spcPct val="118000"/>
              </a:lnSpc>
              <a:spcAft>
                <a:spcPts val="300"/>
              </a:spcAft>
            </a:pPr>
            <a:r>
              <a:rPr sz="1150" b="0" u="none">
                <a:solidFill>
                  <a:srgbClr val="1A1A1A"/>
                </a:solidFill>
                <a:latin typeface="Montserrat"/>
              </a:rPr>
              <a:t>II. b) Cada Poder integrara un Comite de Evaluacion conformado por cinco personas reconocidas en la actividad juridica, que recibira los expedientes de las personas aspirantes, evaluara el cumplimiento de los requisitos e identificara a las personas mejor evaluadas.</a:t>
            </a:r>
          </a:p>
          <a:p>
            <a:pPr>
              <a:lnSpc>
                <a:spcPct val="118000"/>
              </a:lnSpc>
              <a:spcAft>
                <a:spcPts val="300"/>
              </a:spcAft>
            </a:pPr>
            <a:r>
              <a:rPr sz="1150" b="0" u="none">
                <a:solidFill>
                  <a:srgbClr val="1A1A1A"/>
                </a:solidFill>
                <a:latin typeface="Montserrat"/>
              </a:rPr>
              <a:t>c) Los Comites de Evaluacion integraran un listado de las </a:t>
            </a:r>
            <a:r>
              <a:rPr sz="1150" b="1" u="none">
                <a:solidFill>
                  <a:srgbClr val="1A1A1A"/>
                </a:solidFill>
                <a:latin typeface="Montserrat"/>
              </a:rPr>
              <a:t>diez</a:t>
            </a:r>
            <a:r>
              <a:rPr sz="1150" b="0" u="none">
                <a:solidFill>
                  <a:srgbClr val="1A1A1A"/>
                </a:solidFill>
                <a:latin typeface="Montserrat"/>
              </a:rPr>
              <a:t> personas mejor evaluadas para cada cargo (Ministras/os, Sala Superior y salas regionales del TE e integrantes del TDJ) y de las </a:t>
            </a:r>
            <a:r>
              <a:rPr sz="1150" b="1" u="none">
                <a:solidFill>
                  <a:srgbClr val="1A1A1A"/>
                </a:solidFill>
                <a:latin typeface="Montserrat"/>
              </a:rPr>
              <a:t>seis</a:t>
            </a:r>
            <a:r>
              <a:rPr sz="1150" b="0" u="none">
                <a:solidFill>
                  <a:srgbClr val="1A1A1A"/>
                </a:solidFill>
                <a:latin typeface="Montserrat"/>
              </a:rPr>
              <a:t> (Magistraturas de Circuito y Juzgados de Distrito). Posteriormente, depuraran dicho listado mediante </a:t>
            </a:r>
            <a:r>
              <a:rPr sz="1150" b="1" u="none">
                <a:solidFill>
                  <a:srgbClr val="1A1A1A"/>
                </a:solidFill>
                <a:latin typeface="Montserrat"/>
              </a:rPr>
              <a:t>insaculacion publica para ajustarlo al numero de postulaciones</a:t>
            </a:r>
            <a:r>
              <a:rPr sz="1150" b="0" u="none">
                <a:solidFill>
                  <a:srgbClr val="1A1A1A"/>
                </a:solidFill>
                <a:latin typeface="Montserrat"/>
              </a:rPr>
              <a:t> para cada cargo, observando la paridad de genero.</a:t>
            </a:r>
          </a:p>
          <a:p>
            <a:pPr>
              <a:lnSpc>
                <a:spcPct val="118000"/>
              </a:lnSpc>
              <a:spcAft>
                <a:spcPts val="300"/>
              </a:spcAft>
            </a:pPr>
            <a:r>
              <a:rPr sz="1150" b="0" u="none">
                <a:solidFill>
                  <a:srgbClr val="1A1A1A"/>
                </a:solidFill>
                <a:latin typeface="Montserrat"/>
              </a:rPr>
              <a:t>Postulacion: el Poder Ejecutivo </a:t>
            </a:r>
            <a:r>
              <a:rPr sz="1150" b="1" u="none">
                <a:solidFill>
                  <a:srgbClr val="1A1A1A"/>
                </a:solidFill>
                <a:latin typeface="Montserrat"/>
              </a:rPr>
              <a:t>hasta tres</a:t>
            </a:r>
            <a:r>
              <a:rPr sz="1150" b="0" u="none">
                <a:solidFill>
                  <a:srgbClr val="1A1A1A"/>
                </a:solidFill>
                <a:latin typeface="Montserrat"/>
              </a:rPr>
              <a:t>; el Legislativo </a:t>
            </a:r>
            <a:r>
              <a:rPr sz="1150" b="1" u="none">
                <a:solidFill>
                  <a:srgbClr val="1A1A1A"/>
                </a:solidFill>
                <a:latin typeface="Montserrat"/>
              </a:rPr>
              <a:t>hasta tres</a:t>
            </a:r>
            <a:r>
              <a:rPr sz="1150" b="0" u="none">
                <a:solidFill>
                  <a:srgbClr val="1A1A1A"/>
                </a:solidFill>
                <a:latin typeface="Montserrat"/>
              </a:rPr>
              <a:t>; el Judicial </a:t>
            </a:r>
            <a:r>
              <a:rPr sz="1150" b="1" u="none">
                <a:solidFill>
                  <a:srgbClr val="1A1A1A"/>
                </a:solidFill>
                <a:latin typeface="Montserrat"/>
              </a:rPr>
              <a:t>hasta tres</a:t>
            </a:r>
            <a:r>
              <a:rPr sz="1150" b="0" u="none">
                <a:solidFill>
                  <a:srgbClr val="1A1A1A"/>
                </a:solidFill>
                <a:latin typeface="Montserrat"/>
              </a:rPr>
              <a:t> (Circuito/Distrito, hasta dos).</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 El Senado de la Republica publicara la convocatoria para la integracion del listado de candidaturas </a:t>
            </a:r>
            <a:r>
              <a:rPr sz="1150" b="1" u="none">
                <a:solidFill>
                  <a:srgbClr val="1A1A1A"/>
                </a:solidFill>
                <a:latin typeface="Montserrat"/>
              </a:rPr>
              <a:t>a mas tardar el treinta de abril del ano anterior</a:t>
            </a:r>
            <a:r>
              <a:rPr sz="1150" b="0" u="none">
                <a:solidFill>
                  <a:srgbClr val="1A1A1A"/>
                </a:solidFill>
                <a:latin typeface="Montserrat"/>
              </a:rPr>
              <a:t> al de la eleccion judicial que corresponda, que contendra las etapas completas del procedimiento, sus fechas y plazos improrrogables y los cargos a elegir.</a:t>
            </a:r>
          </a:p>
          <a:p>
            <a:pPr>
              <a:lnSpc>
                <a:spcPct val="118000"/>
              </a:lnSpc>
              <a:spcAft>
                <a:spcPts val="300"/>
              </a:spcAft>
            </a:pPr>
            <a:r>
              <a:rPr sz="1150" b="0" u="none">
                <a:solidFill>
                  <a:srgbClr val="1A1A1A"/>
                </a:solidFill>
                <a:latin typeface="Montserrat"/>
              </a:rPr>
              <a:t>II. b) Cada Poder integrara un Comite de Evaluacion conformado por cinco personas reconocidas en la actividad juridica, quienes elegiran de entre sus integrantes a la persona que coordine sus trabajos. </a:t>
            </a:r>
            <a:r>
              <a:rPr sz="1150" b="1" u="none">
                <a:solidFill>
                  <a:srgbClr val="1A1A1A"/>
                </a:solidFill>
                <a:latin typeface="Montserrat"/>
              </a:rPr>
              <a:t>Las personas coordinadoras de los tres Comites integraran una Comision Coordinadora, responsable de verificar el cumplimiento de los requisitos, establecer criterios y metodologias homologadas de evaluacion, seleccion y examenes de conocimientos, y emitir acuerdos que regulen los trabajos de los tres Comites.</a:t>
            </a:r>
          </a:p>
          <a:p>
            <a:pPr>
              <a:lnSpc>
                <a:spcPct val="118000"/>
              </a:lnSpc>
              <a:spcAft>
                <a:spcPts val="300"/>
              </a:spcAft>
            </a:pPr>
            <a:r>
              <a:rPr sz="1150" b="0" u="none">
                <a:solidFill>
                  <a:srgbClr val="1A1A1A"/>
                </a:solidFill>
                <a:latin typeface="Montserrat"/>
              </a:rPr>
              <a:t>c) Los Comites integraran un listado de las </a:t>
            </a:r>
            <a:r>
              <a:rPr sz="1150" b="1" u="none">
                <a:solidFill>
                  <a:srgbClr val="1A1A1A"/>
                </a:solidFill>
                <a:latin typeface="Montserrat"/>
              </a:rPr>
              <a:t>cuatro</a:t>
            </a:r>
            <a:r>
              <a:rPr sz="1150" b="0" u="none">
                <a:solidFill>
                  <a:srgbClr val="1A1A1A"/>
                </a:solidFill>
                <a:latin typeface="Montserrat"/>
              </a:rPr>
              <a:t> personas mejor evaluadas para cada cargo. Posteriormente, depuraran dicho listado mediante </a:t>
            </a:r>
            <a:r>
              <a:rPr sz="1150" b="1" u="none">
                <a:solidFill>
                  <a:srgbClr val="1A1A1A"/>
                </a:solidFill>
                <a:latin typeface="Montserrat"/>
              </a:rPr>
              <a:t>insaculacion publica para ajustarlo a dos personas para cada cargo</a:t>
            </a:r>
            <a:r>
              <a:rPr sz="1150" b="0" u="none">
                <a:solidFill>
                  <a:srgbClr val="1A1A1A"/>
                </a:solidFill>
                <a:latin typeface="Montserrat"/>
              </a:rPr>
              <a:t>. Los Comites garantizaran la paridad de genero en el listado a insacular y en el posterior a la insaculacion.</a:t>
            </a:r>
          </a:p>
          <a:p>
            <a:pPr>
              <a:lnSpc>
                <a:spcPct val="118000"/>
              </a:lnSpc>
              <a:spcAft>
                <a:spcPts val="300"/>
              </a:spcAft>
            </a:pPr>
            <a:r>
              <a:rPr sz="1150" b="0" u="none">
                <a:solidFill>
                  <a:srgbClr val="1A1A1A"/>
                </a:solidFill>
                <a:latin typeface="Montserrat"/>
              </a:rPr>
              <a:t>Postulacion: cada Poder de la Union </a:t>
            </a:r>
            <a:r>
              <a:rPr sz="1150" b="1" u="none">
                <a:solidFill>
                  <a:srgbClr val="1A1A1A"/>
                </a:solidFill>
                <a:latin typeface="Montserrat"/>
              </a:rPr>
              <a:t>postulara dos personas para cada cargo</a:t>
            </a:r>
            <a:r>
              <a:rPr sz="1150" b="0" u="none">
                <a:solidFill>
                  <a:srgbClr val="1A1A1A"/>
                </a:solidFill>
                <a:latin typeface="Montserrat"/>
              </a:rPr>
              <a:t>.</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Convocatoria adelantada (30 de abril); nace la Comision Coordinadora con examenes; el listado baja de 10/6 a 4 y la insaculacion deja 2 por cargo; cada Poder postula 2.</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Ejes II-III: homologar criterios dispares de 2025 e incorporar examenes; reducir 'de diez a cuatro' porque 'un muy alto numero de candidaturas por cargo puede dificultar la deliberacion ciudadana'.</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9 / 44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602735"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96 (2/2) - PARRAFOS ADICIONADOS</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Eleccion por circuito, boletas y jornada</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357055" y="457200"/>
            <a:ext cx="2286000" cy="329184"/>
          </a:xfrm>
          <a:prstGeom prst="round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3D0A1C"/>
                </a:solidFill>
                <a:latin typeface="Montserrat"/>
              </a:rPr>
              <a:t>Ver articulo COMPLETO &gt;</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Texto anterior: la eleccion de Magistraturas de Circuito y Juzgados de Distrito se realizaba 'por circuito judicial conforme al procedimiento establecido en este articulo'. </a:t>
            </a:r>
            <a:r>
              <a:rPr sz="1150" b="1" u="none">
                <a:solidFill>
                  <a:srgbClr val="1A1A1A"/>
                </a:solidFill>
                <a:latin typeface="Montserrat"/>
              </a:rPr>
              <a:t>No existian</a:t>
            </a:r>
            <a:r>
              <a:rPr sz="1150" b="0" u="none">
                <a:solidFill>
                  <a:srgbClr val="1A1A1A"/>
                </a:solidFill>
                <a:latin typeface="Montserrat"/>
              </a:rPr>
              <a:t> reglas constitucionales sobre division en distritos judiciales, asignacion aleatoria de candidaturas por distrito, contenido de las boletas, sede de la jornada judicial ni computo en casilla (parrafos adicionados por la reforma).</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Para Magistraturas de Circuito y Juzgados de Distrito la eleccion se realizara </a:t>
            </a:r>
            <a:r>
              <a:rPr sz="1150" b="1" u="none">
                <a:solidFill>
                  <a:srgbClr val="1A1A1A"/>
                </a:solidFill>
                <a:latin typeface="Montserrat"/>
              </a:rPr>
              <a:t>por circuito y distrito judicial</a:t>
            </a:r>
            <a:r>
              <a:rPr sz="1150" b="0" u="none">
                <a:solidFill>
                  <a:srgbClr val="1A1A1A"/>
                </a:solidFill>
                <a:latin typeface="Montserrat"/>
              </a:rPr>
              <a:t>: el INE dividira cada circuito en los distritos necesarios; generara una lista por especialidad distinguiendo Poder postulante y genero, y en acto publico </a:t>
            </a:r>
            <a:r>
              <a:rPr sz="1150" b="1" u="none">
                <a:solidFill>
                  <a:srgbClr val="1A1A1A"/>
                </a:solidFill>
                <a:latin typeface="Montserrat"/>
              </a:rPr>
              <a:t>asignara aleatoriamente</a:t>
            </a:r>
            <a:r>
              <a:rPr sz="1150" b="0" u="none">
                <a:solidFill>
                  <a:srgbClr val="1A1A1A"/>
                </a:solidFill>
                <a:latin typeface="Montserrat"/>
              </a:rPr>
              <a:t> las candidaturas a cada distrito (dos personas del mismo genero por especialidad).</a:t>
            </a:r>
          </a:p>
          <a:p>
            <a:pPr>
              <a:lnSpc>
                <a:spcPct val="118000"/>
              </a:lnSpc>
              <a:spcAft>
                <a:spcPts val="300"/>
              </a:spcAft>
            </a:pPr>
            <a:r>
              <a:rPr sz="1150" b="0" u="none">
                <a:solidFill>
                  <a:srgbClr val="1A1A1A"/>
                </a:solidFill>
                <a:latin typeface="Montserrat"/>
              </a:rPr>
              <a:t>Las </a:t>
            </a:r>
            <a:r>
              <a:rPr sz="1150" b="1" u="none">
                <a:solidFill>
                  <a:srgbClr val="1A1A1A"/>
                </a:solidFill>
                <a:latin typeface="Montserrat"/>
              </a:rPr>
              <a:t>boletas distinguiran al Poder postulante</a:t>
            </a:r>
            <a:r>
              <a:rPr sz="1150" b="0" u="none">
                <a:solidFill>
                  <a:srgbClr val="1A1A1A"/>
                </a:solidFill>
                <a:latin typeface="Montserrat"/>
              </a:rPr>
              <a:t> y a las personas juzgadoras en funciones, con los nombres completos en recuadros.</a:t>
            </a:r>
          </a:p>
          <a:p>
            <a:pPr>
              <a:lnSpc>
                <a:spcPct val="118000"/>
              </a:lnSpc>
              <a:spcAft>
                <a:spcPts val="300"/>
              </a:spcAft>
            </a:pPr>
            <a:r>
              <a:rPr sz="1150" b="0" u="none">
                <a:solidFill>
                  <a:srgbClr val="1A1A1A"/>
                </a:solidFill>
                <a:latin typeface="Montserrat"/>
              </a:rPr>
              <a:t>La </a:t>
            </a:r>
            <a:r>
              <a:rPr sz="1150" b="1" u="none">
                <a:solidFill>
                  <a:srgbClr val="1A1A1A"/>
                </a:solidFill>
                <a:latin typeface="Montserrat"/>
              </a:rPr>
              <a:t>jornada electoral judicial</a:t>
            </a:r>
            <a:r>
              <a:rPr sz="1150" b="0" u="none">
                <a:solidFill>
                  <a:srgbClr val="1A1A1A"/>
                </a:solidFill>
                <a:latin typeface="Montserrat"/>
              </a:rPr>
              <a:t> se celebrara en la misma ubicacion de las elecciones ordinarias y </a:t>
            </a:r>
            <a:r>
              <a:rPr sz="1150" b="1" u="none">
                <a:solidFill>
                  <a:srgbClr val="1A1A1A"/>
                </a:solidFill>
                <a:latin typeface="Montserrat"/>
              </a:rPr>
              <a:t>sin la intervencion de representantes de partidos politicos</a:t>
            </a:r>
            <a:r>
              <a:rPr sz="1150" b="0" u="none">
                <a:solidFill>
                  <a:srgbClr val="1A1A1A"/>
                </a:solidFill>
                <a:latin typeface="Montserrat"/>
              </a:rPr>
              <a:t>.</a:t>
            </a:r>
          </a:p>
          <a:p>
            <a:pPr>
              <a:lnSpc>
                <a:spcPct val="118000"/>
              </a:lnSpc>
              <a:spcAft>
                <a:spcPts val="300"/>
              </a:spcAft>
            </a:pPr>
            <a:r>
              <a:rPr sz="1150" b="0" u="none">
                <a:solidFill>
                  <a:srgbClr val="1A1A1A"/>
                </a:solidFill>
                <a:latin typeface="Montserrat"/>
              </a:rPr>
              <a:t>El escrutinio y computo se realizara </a:t>
            </a:r>
            <a:r>
              <a:rPr sz="1150" b="1" u="none">
                <a:solidFill>
                  <a:srgbClr val="1A1A1A"/>
                </a:solidFill>
                <a:latin typeface="Montserrat"/>
              </a:rPr>
              <a:t>en la casilla</a:t>
            </a:r>
            <a:r>
              <a:rPr sz="1150" b="0" u="none">
                <a:solidFill>
                  <a:srgbClr val="1A1A1A"/>
                </a:solidFill>
                <a:latin typeface="Montserrat"/>
              </a:rPr>
              <a:t> donde fueron sufragados.</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Se constitucionaliza la geografia electoral judicial (circuito/distrito), el contenido de las boletas, la jornada sin partidos y el computo en casilla.</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Ejes II-III: facilitar el voto informado y ordenar la operacion electoral judicial que en 2025 genero confusion logistica.</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10 /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108960"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98 - PARRAFOS 1o, 3o Y 4o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Vacantes, licencias y renuncia irrevocable</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357055" y="457200"/>
            <a:ext cx="2286000" cy="329184"/>
          </a:xfrm>
          <a:prstGeom prst="round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3D0A1C"/>
                </a:solidFill>
                <a:latin typeface="Montserrat"/>
              </a:rPr>
              <a:t>Ver articulo COMPLETO &gt;</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Cuando la falta de una Ministra o Ministro, Magistrada o Magistrado del Tribunal de Disciplina Judicial, del Tribunal Electoral, </a:t>
            </a:r>
            <a:r>
              <a:rPr sz="1150" b="1" u="none">
                <a:solidFill>
                  <a:srgbClr val="1A1A1A"/>
                </a:solidFill>
                <a:latin typeface="Montserrat"/>
              </a:rPr>
              <a:t>de Circuito y de Distrito</a:t>
            </a:r>
            <a:r>
              <a:rPr sz="1150" b="0" u="none">
                <a:solidFill>
                  <a:srgbClr val="1A1A1A"/>
                </a:solidFill>
                <a:latin typeface="Montserrat"/>
              </a:rPr>
              <a:t> excediere de un mes o sea definitiva, ocupara la vacante la </a:t>
            </a:r>
            <a:r>
              <a:rPr sz="1150" b="1" u="none">
                <a:solidFill>
                  <a:srgbClr val="1A1A1A"/>
                </a:solidFill>
                <a:latin typeface="Montserrat"/>
              </a:rPr>
              <a:t>persona del mismo genero que haya obtenido el segundo lugar</a:t>
            </a:r>
            <a:r>
              <a:rPr sz="1150" b="0" u="none">
                <a:solidFill>
                  <a:srgbClr val="1A1A1A"/>
                </a:solidFill>
                <a:latin typeface="Montserrat"/>
              </a:rPr>
              <a:t> en numero de votos; en caso de declinacion, seguira en prelacion quien obtuvo mayor votacion. El Senado tomara protesta a la persona sustituta por el periodo que reste.</a:t>
            </a:r>
          </a:p>
          <a:p>
            <a:pPr>
              <a:lnSpc>
                <a:spcPct val="118000"/>
              </a:lnSpc>
              <a:spcAft>
                <a:spcPts val="300"/>
              </a:spcAft>
            </a:pPr>
            <a:r>
              <a:rPr sz="1150" b="0" u="none">
                <a:solidFill>
                  <a:srgbClr val="1A1A1A"/>
                </a:solidFill>
                <a:latin typeface="Montserrat"/>
              </a:rPr>
              <a:t>Las licencias menores a un mes las conceden los respectivos Plenos o el organo de administracion judicial; las mayores, sin goce de sueldo, el Senado o la Comision Permanente. Ninguna licencia podra exceder de un ano.</a:t>
            </a:r>
          </a:p>
          <a:p>
            <a:pPr>
              <a:lnSpc>
                <a:spcPct val="118000"/>
              </a:lnSpc>
              <a:spcAft>
                <a:spcPts val="300"/>
              </a:spcAft>
            </a:pPr>
            <a:r>
              <a:rPr sz="1150" b="0" u="none">
                <a:solidFill>
                  <a:srgbClr val="1A1A1A"/>
                </a:solidFill>
                <a:latin typeface="Montserrat"/>
              </a:rPr>
              <a:t>(No existia regla de separacion para contender por otro cargo.)</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Cuando la falta de una Ministra o Ministro, del Tribunal de Disciplina Judicial </a:t>
            </a:r>
            <a:r>
              <a:rPr sz="1150" b="1" u="none">
                <a:solidFill>
                  <a:srgbClr val="1A1A1A"/>
                </a:solidFill>
                <a:latin typeface="Montserrat"/>
              </a:rPr>
              <a:t>y</a:t>
            </a:r>
            <a:r>
              <a:rPr sz="1150" b="0" u="none">
                <a:solidFill>
                  <a:srgbClr val="1A1A1A"/>
                </a:solidFill>
                <a:latin typeface="Montserrat"/>
              </a:rPr>
              <a:t> del Tribunal Electoral excediere de un mes o sea definitiva, ocupara la vacante la persona del mismo genero que obtuvo el segundo lugar... </a:t>
            </a:r>
            <a:r>
              <a:rPr sz="1150" b="1" u="none">
                <a:solidFill>
                  <a:srgbClr val="1A1A1A"/>
                </a:solidFill>
                <a:latin typeface="Montserrat"/>
              </a:rPr>
              <a:t>En caso de defuncion, renuncia, destitucion o ausencia definitiva de Magistradas o Magistrados de Circuito y Juezas o Jueces de Distrito, el organo de administracion judicial declarara vacante el cargo y debera renovarse... en la eleccion inmediata posterior</a:t>
            </a:r>
            <a:r>
              <a:rPr sz="1150" b="0" u="none">
                <a:solidFill>
                  <a:srgbClr val="1A1A1A"/>
                </a:solidFill>
                <a:latin typeface="Montserrat"/>
              </a:rPr>
              <a:t>.</a:t>
            </a:r>
          </a:p>
          <a:p>
            <a:pPr>
              <a:lnSpc>
                <a:spcPct val="118000"/>
              </a:lnSpc>
              <a:spcAft>
                <a:spcPts val="300"/>
              </a:spcAft>
            </a:pPr>
            <a:r>
              <a:rPr sz="1150" b="0" u="none">
                <a:solidFill>
                  <a:srgbClr val="1A1A1A"/>
                </a:solidFill>
                <a:latin typeface="Montserrat"/>
              </a:rPr>
              <a:t>Las licencias... salvo Circuito o Distrito, que podran concederse sin goce de sueldo por el organo de administracion judicial. Ninguna licencia excedera de un ano.</a:t>
            </a:r>
          </a:p>
          <a:p>
            <a:pPr>
              <a:lnSpc>
                <a:spcPct val="118000"/>
              </a:lnSpc>
              <a:spcAft>
                <a:spcPts val="300"/>
              </a:spcAft>
            </a:pPr>
            <a:r>
              <a:rPr sz="1150" b="1" u="none">
                <a:solidFill>
                  <a:srgbClr val="1A1A1A"/>
                </a:solidFill>
                <a:latin typeface="Montserrat"/>
              </a:rPr>
              <a:t>Las personas juzgadoras que aspiren a un cargo de eleccion distinto al que ostenten deberan separarse del cargo mediante renuncia expresa e irrevocable</a:t>
            </a:r>
            <a:r>
              <a:rPr sz="1150" b="0" u="none">
                <a:solidFill>
                  <a:srgbClr val="1A1A1A"/>
                </a:solidFill>
                <a:latin typeface="Montserrat"/>
              </a:rPr>
              <a:t>, la cual informaran al organo de administracion judicial antes de su registro.</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Se separan dos regimenes de vacante (SCJN/TDJ/TE vs Circuito/Distrito) y se exige renuncia irrevocable para contender por otro cargo.</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 garantizar 'la continuidad y calidad de la funcion jurisdiccional' y evitar 'el descuido o la paralisis de la labor jurisdiccional en curso'.</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11 /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94436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100 - PARRAFOS 9o Y 10o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Evaluacion del primer ano + capacitacion</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357055" y="457200"/>
            <a:ext cx="2286000" cy="329184"/>
          </a:xfrm>
          <a:prstGeom prst="round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3D0A1C"/>
                </a:solidFill>
                <a:latin typeface="Montserrat"/>
              </a:rPr>
              <a:t>Ver articulo COMPLETO &gt;</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Tribunal evaluara el desempeno de las Magistradas y Magistrados de Circuito y las Juezas y Jueces de Distrito que resulten electas </a:t>
            </a:r>
            <a:r>
              <a:rPr sz="1150" b="1" u="none">
                <a:solidFill>
                  <a:srgbClr val="1A1A1A"/>
                </a:solidFill>
                <a:latin typeface="Montserrat"/>
              </a:rPr>
              <a:t>en la eleccion federal que corresponda</a:t>
            </a:r>
            <a:r>
              <a:rPr sz="1150" b="0" u="none">
                <a:solidFill>
                  <a:srgbClr val="1A1A1A"/>
                </a:solidFill>
                <a:latin typeface="Montserrat"/>
              </a:rPr>
              <a:t> durante su primer ano de ejercicio. La ley establecera los metodos, criterios e indicadores aplicables a dicha evaluacion.</a:t>
            </a:r>
          </a:p>
          <a:p>
            <a:pPr>
              <a:lnSpc>
                <a:spcPct val="118000"/>
              </a:lnSpc>
              <a:spcAft>
                <a:spcPts val="300"/>
              </a:spcAft>
            </a:pPr>
            <a:r>
              <a:rPr sz="1150" b="0" u="none">
                <a:solidFill>
                  <a:srgbClr val="1A1A1A"/>
                </a:solidFill>
                <a:latin typeface="Montserrat"/>
              </a:rPr>
              <a:t>La ley senalara las </a:t>
            </a:r>
            <a:r>
              <a:rPr sz="1150" b="1" u="none">
                <a:solidFill>
                  <a:srgbClr val="1A1A1A"/>
                </a:solidFill>
                <a:latin typeface="Montserrat"/>
              </a:rPr>
              <a:t>areas intervinientes</a:t>
            </a:r>
            <a:r>
              <a:rPr sz="1150" b="0" u="none">
                <a:solidFill>
                  <a:srgbClr val="1A1A1A"/>
                </a:solidFill>
                <a:latin typeface="Montserrat"/>
              </a:rPr>
              <a:t> en los procesos de evaluacion y seguimiento de resultados, garantizando la imparcialidad y objetividad de las personas evaluadoras, asi como los procedimientos para ordenar las medidas correctivas o sancionadoras cuando la evaluacion resulte insatisfactoria.</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Tribunal evaluara el desempeno... durante su primer ano de ejercicio </a:t>
            </a:r>
            <a:r>
              <a:rPr sz="1150" b="1" u="none">
                <a:solidFill>
                  <a:srgbClr val="1A1A1A"/>
                </a:solidFill>
                <a:latin typeface="Montserrat"/>
              </a:rPr>
              <a:t>y aplicara programas de capacitacion y actualizacion permanente, para lo cual podra coordinarse con la Escuela Nacional de Formacion Judicial</a:t>
            </a:r>
            <a:r>
              <a:rPr sz="1150" b="0" u="none">
                <a:solidFill>
                  <a:srgbClr val="1A1A1A"/>
                </a:solidFill>
                <a:latin typeface="Montserrat"/>
              </a:rPr>
              <a:t>. La ley establecera los metodos, criterios e indicadores aplicables a los procesos de evaluacion que correspondan.</a:t>
            </a:r>
          </a:p>
          <a:p>
            <a:pPr>
              <a:lnSpc>
                <a:spcPct val="118000"/>
              </a:lnSpc>
              <a:spcAft>
                <a:spcPts val="300"/>
              </a:spcAft>
            </a:pPr>
            <a:r>
              <a:rPr sz="1150" b="0" u="none">
                <a:solidFill>
                  <a:srgbClr val="1A1A1A"/>
                </a:solidFill>
                <a:latin typeface="Montserrat"/>
              </a:rPr>
              <a:t>La ley senalara los </a:t>
            </a:r>
            <a:r>
              <a:rPr sz="1150" b="1" u="none">
                <a:solidFill>
                  <a:srgbClr val="1A1A1A"/>
                </a:solidFill>
                <a:latin typeface="Montserrat"/>
              </a:rPr>
              <a:t>criterios, metodologias, etapas</a:t>
            </a:r>
            <a:r>
              <a:rPr sz="1150" b="0" u="none">
                <a:solidFill>
                  <a:srgbClr val="1A1A1A"/>
                </a:solidFill>
                <a:latin typeface="Montserrat"/>
              </a:rPr>
              <a:t>, areas intervinientes en los procesos de evaluacion y seguimiento de resultados, garantizando la </a:t>
            </a:r>
            <a:r>
              <a:rPr sz="1150" b="1" u="none">
                <a:solidFill>
                  <a:srgbClr val="1A1A1A"/>
                </a:solidFill>
                <a:latin typeface="Montserrat"/>
              </a:rPr>
              <a:t>transparencia</a:t>
            </a:r>
            <a:r>
              <a:rPr sz="1150" b="0" u="none">
                <a:solidFill>
                  <a:srgbClr val="1A1A1A"/>
                </a:solidFill>
                <a:latin typeface="Montserrat"/>
              </a:rPr>
              <a:t>, imparcialidad y objetividad de los procesos de evaluacion y de las personas evaluadoras, asi como los procedimientos para ordenar las medidas correctivas o sancionadoras...</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Se anade capacitacion y actualizacion permanente (Escuela Nac. de Formacion Judicial) y se detallan criterios, metodologias y etapas con enfasis en transparencia.</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 'elevar a rango constitucional la aplicacion de programas de capacitacion y actualizacion permanente para todas las personas juzgadoras'.</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12 / 44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273551"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116 - FRAC. III, PARRAFO 4o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Poderes Judiciales de los Estados</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357055" y="457200"/>
            <a:ext cx="2286000" cy="329184"/>
          </a:xfrm>
          <a:prstGeom prst="round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3D0A1C"/>
                </a:solidFill>
                <a:latin typeface="Montserrat"/>
              </a:rPr>
              <a:t>Ver articulo COMPLETO &gt;</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propuestas de candidaturas y la eleccion de los magistrados y jueces integrantes de los Poderes Judiciales Locales se realizaran conforme a las bases, procedimientos, terminos, modalidades y requisitos que senala esta Constitucion para el Poder Judicial de la Federacion </a:t>
            </a:r>
            <a:r>
              <a:rPr sz="1150" b="1" u="none">
                <a:solidFill>
                  <a:srgbClr val="1A1A1A"/>
                </a:solidFill>
                <a:latin typeface="Montserrat"/>
              </a:rPr>
              <a:t>en lo que resulte aplicable</a:t>
            </a:r>
            <a:r>
              <a:rPr sz="1150" b="0" u="none">
                <a:solidFill>
                  <a:srgbClr val="1A1A1A"/>
                </a:solidFill>
                <a:latin typeface="Montserrat"/>
              </a:rPr>
              <a:t>, estableciendo mecanismos publicos, abiertos, transparentes, inclusivos, accesibles y paritarios de evaluacion y seleccion que garanticen la participacion de personas que cuenten con los conocimientos tecnicos necesarios para el desempeno del cargo y se hayan distinguido por su honestidad, buena fama publica, competencia y antecedentes profesionales y academicos en el ejercicio de la actividad juridica.</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propuestas de candidaturas y la eleccion de los magistrados, magistradas, juezas y jueces integrantes de los Poderes Judiciales Locales </a:t>
            </a:r>
            <a:r>
              <a:rPr sz="1150" b="1" u="none">
                <a:solidFill>
                  <a:srgbClr val="1A1A1A"/>
                </a:solidFill>
                <a:latin typeface="Montserrat"/>
              </a:rPr>
              <a:t>se sujetaran a las mismas bases, etapas, procedimientos, terminos, plazos, modalidades, requisitos, duracion de los cargos</a:t>
            </a:r>
            <a:r>
              <a:rPr sz="1150" b="0" u="none">
                <a:solidFill>
                  <a:srgbClr val="1A1A1A"/>
                </a:solidFill>
                <a:latin typeface="Montserrat"/>
              </a:rPr>
              <a:t> y demas disposiciones que esta Constitucion establece para el Poder Judicial de la Federacion en todo lo que resulte aplicable, </a:t>
            </a:r>
            <a:r>
              <a:rPr sz="1150" b="1" u="none">
                <a:solidFill>
                  <a:srgbClr val="1A1A1A"/>
                </a:solidFill>
                <a:latin typeface="Montserrat"/>
              </a:rPr>
              <a:t>incluyendo de manera enunciativa</a:t>
            </a:r>
            <a:r>
              <a:rPr sz="1150" b="0" u="none">
                <a:solidFill>
                  <a:srgbClr val="1A1A1A"/>
                </a:solidFill>
                <a:latin typeface="Montserrat"/>
              </a:rPr>
              <a:t>:</a:t>
            </a:r>
          </a:p>
          <a:p>
            <a:pPr>
              <a:lnSpc>
                <a:spcPct val="118000"/>
              </a:lnSpc>
              <a:spcAft>
                <a:spcPts val="300"/>
              </a:spcAft>
            </a:pPr>
            <a:r>
              <a:rPr sz="1150" b="0" u="none">
                <a:solidFill>
                  <a:srgbClr val="1A1A1A"/>
                </a:solidFill>
                <a:latin typeface="Montserrat"/>
              </a:rPr>
              <a:t>a) mecanismos publicos, abiertos, transparentes, inclusivos, accesibles y paritarios de evaluacion y seleccion;</a:t>
            </a:r>
          </a:p>
          <a:p>
            <a:pPr>
              <a:lnSpc>
                <a:spcPct val="118000"/>
              </a:lnSpc>
              <a:spcAft>
                <a:spcPts val="300"/>
              </a:spcAft>
            </a:pPr>
            <a:r>
              <a:rPr sz="1150" b="0" u="none">
                <a:solidFill>
                  <a:srgbClr val="1A1A1A"/>
                </a:solidFill>
                <a:latin typeface="Montserrat"/>
              </a:rPr>
              <a:t>b) la integracion por cada poder local de Comites de Evaluacion que, con criterios y metodologias homologadas, seleccionen a las </a:t>
            </a:r>
            <a:r>
              <a:rPr sz="1150" b="1" u="none">
                <a:solidFill>
                  <a:srgbClr val="1A1A1A"/>
                </a:solidFill>
                <a:latin typeface="Montserrat"/>
              </a:rPr>
              <a:t>cuatro personas mejor evaluadas</a:t>
            </a:r>
            <a:r>
              <a:rPr sz="1150" b="0" u="none">
                <a:solidFill>
                  <a:srgbClr val="1A1A1A"/>
                </a:solidFill>
                <a:latin typeface="Montserrat"/>
              </a:rPr>
              <a:t> para cada cargo;</a:t>
            </a:r>
          </a:p>
          <a:p>
            <a:pPr>
              <a:lnSpc>
                <a:spcPct val="118000"/>
              </a:lnSpc>
              <a:spcAft>
                <a:spcPts val="300"/>
              </a:spcAft>
            </a:pPr>
            <a:r>
              <a:rPr sz="1150" b="0" u="none">
                <a:solidFill>
                  <a:srgbClr val="1A1A1A"/>
                </a:solidFill>
                <a:latin typeface="Montserrat"/>
              </a:rPr>
              <a:t>c) la depuracion del listado mediante </a:t>
            </a:r>
            <a:r>
              <a:rPr sz="1150" b="1" u="none">
                <a:solidFill>
                  <a:srgbClr val="1A1A1A"/>
                </a:solidFill>
                <a:latin typeface="Montserrat"/>
              </a:rPr>
              <a:t>insaculacion publica</a:t>
            </a:r>
            <a:r>
              <a:rPr sz="1150" b="0" u="none">
                <a:solidFill>
                  <a:srgbClr val="1A1A1A"/>
                </a:solidFill>
                <a:latin typeface="Montserrat"/>
              </a:rPr>
              <a:t> y la postulacion por cada poder estatal de </a:t>
            </a:r>
            <a:r>
              <a:rPr sz="1150" b="1" u="none">
                <a:solidFill>
                  <a:srgbClr val="1A1A1A"/>
                </a:solidFill>
                <a:latin typeface="Montserrat"/>
              </a:rPr>
              <a:t>dos candidaturas</a:t>
            </a:r>
            <a:r>
              <a:rPr sz="1150" b="0" u="none">
                <a:solidFill>
                  <a:srgbClr val="1A1A1A"/>
                </a:solidFill>
                <a:latin typeface="Montserrat"/>
              </a:rPr>
              <a:t> por especialidad, observando la paridad de genero, y</a:t>
            </a:r>
          </a:p>
          <a:p>
            <a:pPr>
              <a:lnSpc>
                <a:spcPct val="118000"/>
              </a:lnSpc>
              <a:spcAft>
                <a:spcPts val="300"/>
              </a:spcAft>
            </a:pPr>
            <a:r>
              <a:rPr sz="1150" b="0" u="none">
                <a:solidFill>
                  <a:srgbClr val="1A1A1A"/>
                </a:solidFill>
                <a:latin typeface="Montserrat"/>
              </a:rPr>
              <a:t>d) la </a:t>
            </a:r>
            <a:r>
              <a:rPr sz="1150" b="1" u="none">
                <a:solidFill>
                  <a:srgbClr val="1A1A1A"/>
                </a:solidFill>
                <a:latin typeface="Montserrat"/>
              </a:rPr>
              <a:t>evaluacion del desempeno</a:t>
            </a:r>
            <a:r>
              <a:rPr sz="1150" b="0" u="none">
                <a:solidFill>
                  <a:srgbClr val="1A1A1A"/>
                </a:solidFill>
                <a:latin typeface="Montserrat"/>
              </a:rPr>
              <a:t> del primer ano por el Tribunal de Disciplina Judicial local.</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La replica pasa de 'en lo que resulte aplicable' a 'sujetarse estrictamente', con catalogo enunciativo (a-d) y plazos breves (60/90 dias).</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VII: hubo 'casos en que diversos Estados no se ajustaron al diseno constitucional' (AI 92/2025, 97/2025 y ac. 102/2025; 98/2025 y ac. 106/2025).</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13 / 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191256"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122 - APARTADO A, FRAC. IV</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Poder Judicial de la Ciudad de Mexico</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357055" y="457200"/>
            <a:ext cx="2286000" cy="329184"/>
          </a:xfrm>
          <a:prstGeom prst="round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3D0A1C"/>
                </a:solidFill>
                <a:latin typeface="Montserrat"/>
              </a:rPr>
              <a:t>Ver articulo COMPLETO &gt;</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ejercicio del Poder Judicial se deposita en el Tribunal Superior de Justicia, el Tribunal de Disciplina Judicial local, el organo de administracion judicial y los juzgados y tribunales que establezca la Constitucion Politica de la Ciudad de Mexico... Las leyes locales estableceran las condiciones para su eleccion por voto libre, directo y secreto de la ciudadania conforme a las bases, procedimientos, terminos, modalidades y requisitos que senala esta Constitucion para el Poder Judicial de la Federacion </a:t>
            </a:r>
            <a:r>
              <a:rPr sz="1150" b="1" u="none">
                <a:solidFill>
                  <a:srgbClr val="1A1A1A"/>
                </a:solidFill>
                <a:latin typeface="Montserrat"/>
              </a:rPr>
              <a:t>en lo que resulte aplicable</a:t>
            </a:r>
            <a:r>
              <a:rPr sz="1150" b="0" u="none">
                <a:solidFill>
                  <a:srgbClr val="1A1A1A"/>
                </a:solidFill>
                <a:latin typeface="Montserrat"/>
              </a:rPr>
              <a:t>... estableciendo mecanismos publicos, abiertos, transparentes, inclusivos, accesibles y paritarios de evaluacion y seleccion.</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leyes locales estableceran las condiciones para su eleccion por voto libre, directo y secreto de la ciudadania </a:t>
            </a:r>
            <a:r>
              <a:rPr sz="1150" b="1" u="none">
                <a:solidFill>
                  <a:srgbClr val="1A1A1A"/>
                </a:solidFill>
                <a:latin typeface="Montserrat"/>
              </a:rPr>
              <a:t>sujetandose estrictamente a las bases, etapas, procedimientos, terminos, modalidades, requisitos, duracion de los cargos</a:t>
            </a:r>
            <a:r>
              <a:rPr sz="1150" b="0" u="none">
                <a:solidFill>
                  <a:srgbClr val="1A1A1A"/>
                </a:solidFill>
                <a:latin typeface="Montserrat"/>
              </a:rPr>
              <a:t>... </a:t>
            </a:r>
            <a:r>
              <a:rPr sz="1150" b="1" u="none">
                <a:solidFill>
                  <a:srgbClr val="1A1A1A"/>
                </a:solidFill>
                <a:latin typeface="Montserrat"/>
              </a:rPr>
              <a:t>incluyendo de manera enunciativa</a:t>
            </a:r>
            <a:r>
              <a:rPr sz="1150" b="0" u="none">
                <a:solidFill>
                  <a:srgbClr val="1A1A1A"/>
                </a:solidFill>
                <a:latin typeface="Montserrat"/>
              </a:rPr>
              <a:t>:</a:t>
            </a:r>
          </a:p>
          <a:p>
            <a:pPr>
              <a:lnSpc>
                <a:spcPct val="118000"/>
              </a:lnSpc>
              <a:spcAft>
                <a:spcPts val="300"/>
              </a:spcAft>
            </a:pPr>
            <a:r>
              <a:rPr sz="1150" b="0" u="none">
                <a:solidFill>
                  <a:srgbClr val="1A1A1A"/>
                </a:solidFill>
                <a:latin typeface="Montserrat"/>
              </a:rPr>
              <a:t>a) mecanismos publicos, abiertos, transparentes, inclusivos, accesibles y paritarios de evaluacion y seleccion;</a:t>
            </a:r>
          </a:p>
          <a:p>
            <a:pPr>
              <a:lnSpc>
                <a:spcPct val="118000"/>
              </a:lnSpc>
              <a:spcAft>
                <a:spcPts val="300"/>
              </a:spcAft>
            </a:pPr>
            <a:r>
              <a:rPr sz="1150" b="0" u="none">
                <a:solidFill>
                  <a:srgbClr val="1A1A1A"/>
                </a:solidFill>
                <a:latin typeface="Montserrat"/>
              </a:rPr>
              <a:t>b) la integracion por cada poder de la Ciudad de Mexico de Comites de Evaluacion que seleccionen a las </a:t>
            </a:r>
            <a:r>
              <a:rPr sz="1150" b="1" u="none">
                <a:solidFill>
                  <a:srgbClr val="1A1A1A"/>
                </a:solidFill>
                <a:latin typeface="Montserrat"/>
              </a:rPr>
              <a:t>cuatro personas mejor evaluadas</a:t>
            </a:r>
            <a:r>
              <a:rPr sz="1150" b="0" u="none">
                <a:solidFill>
                  <a:srgbClr val="1A1A1A"/>
                </a:solidFill>
                <a:latin typeface="Montserrat"/>
              </a:rPr>
              <a:t> para cada cargo;</a:t>
            </a:r>
          </a:p>
          <a:p>
            <a:pPr>
              <a:lnSpc>
                <a:spcPct val="118000"/>
              </a:lnSpc>
              <a:spcAft>
                <a:spcPts val="300"/>
              </a:spcAft>
            </a:pPr>
            <a:r>
              <a:rPr sz="1150" b="0" u="none">
                <a:solidFill>
                  <a:srgbClr val="1A1A1A"/>
                </a:solidFill>
                <a:latin typeface="Montserrat"/>
              </a:rPr>
              <a:t>c) la depuracion mediante </a:t>
            </a:r>
            <a:r>
              <a:rPr sz="1150" b="1" u="none">
                <a:solidFill>
                  <a:srgbClr val="1A1A1A"/>
                </a:solidFill>
                <a:latin typeface="Montserrat"/>
              </a:rPr>
              <a:t>insaculacion publica</a:t>
            </a:r>
            <a:r>
              <a:rPr sz="1150" b="0" u="none">
                <a:solidFill>
                  <a:srgbClr val="1A1A1A"/>
                </a:solidFill>
                <a:latin typeface="Montserrat"/>
              </a:rPr>
              <a:t> y la postulacion de </a:t>
            </a:r>
            <a:r>
              <a:rPr sz="1150" b="1" u="none">
                <a:solidFill>
                  <a:srgbClr val="1A1A1A"/>
                </a:solidFill>
                <a:latin typeface="Montserrat"/>
              </a:rPr>
              <a:t>dos candidaturas</a:t>
            </a:r>
            <a:r>
              <a:rPr sz="1150" b="0" u="none">
                <a:solidFill>
                  <a:srgbClr val="1A1A1A"/>
                </a:solidFill>
                <a:latin typeface="Montserrat"/>
              </a:rPr>
              <a:t> por especialidad con paridad, y</a:t>
            </a:r>
          </a:p>
          <a:p>
            <a:pPr>
              <a:lnSpc>
                <a:spcPct val="118000"/>
              </a:lnSpc>
              <a:spcAft>
                <a:spcPts val="300"/>
              </a:spcAft>
            </a:pPr>
            <a:r>
              <a:rPr sz="1150" b="0" u="none">
                <a:solidFill>
                  <a:srgbClr val="1A1A1A"/>
                </a:solidFill>
                <a:latin typeface="Montserrat"/>
              </a:rPr>
              <a:t>d) la </a:t>
            </a:r>
            <a:r>
              <a:rPr sz="1150" b="1" u="none">
                <a:solidFill>
                  <a:srgbClr val="1A1A1A"/>
                </a:solidFill>
                <a:latin typeface="Montserrat"/>
              </a:rPr>
              <a:t>evaluacion del desempeno</a:t>
            </a:r>
            <a:r>
              <a:rPr sz="1150" b="0" u="none">
                <a:solidFill>
                  <a:srgbClr val="1A1A1A"/>
                </a:solidFill>
                <a:latin typeface="Montserrat"/>
              </a:rPr>
              <a:t> del primer ano por el Tribunal de Disciplina Judicial de la Ciudad de Mexico.</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La CDMX replica obligatoriamente el modelo federal (Comites locales, 4 mejor evaluadas, insaculacion a 2, paridad y evaluacion del 1er ano).</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VII: certeza juridica nacional y homologacion de los Poderes Judiciales locales con el orden federal.</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14 /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129844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TRANSITORIOS</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Calendario, periodos y reeleccion del TEPJF</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572768"/>
            <a:ext cx="11094415" cy="36576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572768"/>
            <a:ext cx="2267712" cy="365760"/>
          </a:xfrm>
          <a:prstGeom prst="rect">
            <a:avLst/>
          </a:prstGeom>
          <a:noFill/>
        </p:spPr>
        <p:txBody>
          <a:bodyPr wrap="square" anchor="ctr" lIns="0" rIns="0" tIns="0" bIns="0">
            <a:spAutoFit/>
          </a:bodyPr>
          <a:lstStyle/>
          <a:p>
            <a:pPr algn="l">
              <a:lnSpc>
                <a:spcPct val="115000"/>
              </a:lnSpc>
            </a:pPr>
            <a:r>
              <a:rPr sz="1100" b="1">
                <a:solidFill>
                  <a:srgbClr val="FFFFFF"/>
                </a:solidFill>
                <a:latin typeface="Montserrat"/>
              </a:rPr>
              <a:t>Transitorio</a:t>
            </a:r>
          </a:p>
        </p:txBody>
      </p:sp>
      <p:sp>
        <p:nvSpPr>
          <p:cNvPr id="9" name="TextBox 8"/>
          <p:cNvSpPr txBox="1"/>
          <p:nvPr/>
        </p:nvSpPr>
        <p:spPr>
          <a:xfrm>
            <a:off x="3035808" y="1572768"/>
            <a:ext cx="8607247" cy="365760"/>
          </a:xfrm>
          <a:prstGeom prst="rect">
            <a:avLst/>
          </a:prstGeom>
          <a:noFill/>
        </p:spPr>
        <p:txBody>
          <a:bodyPr wrap="square" anchor="ctr" lIns="0" rIns="0" tIns="0" bIns="0">
            <a:spAutoFit/>
          </a:bodyPr>
          <a:lstStyle/>
          <a:p>
            <a:pPr algn="l">
              <a:lnSpc>
                <a:spcPct val="115000"/>
              </a:lnSpc>
            </a:pPr>
            <a:r>
              <a:rPr sz="1100" b="1">
                <a:solidFill>
                  <a:srgbClr val="FFFFFF"/>
                </a:solidFill>
                <a:latin typeface="Montserrat"/>
              </a:rPr>
              <a:t>Contenido</a:t>
            </a:r>
          </a:p>
        </p:txBody>
      </p:sp>
      <p:sp>
        <p:nvSpPr>
          <p:cNvPr id="10" name="TextBox 9"/>
          <p:cNvSpPr txBox="1"/>
          <p:nvPr/>
        </p:nvSpPr>
        <p:spPr>
          <a:xfrm>
            <a:off x="658368" y="1938528"/>
            <a:ext cx="2194560" cy="614172"/>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2027 a 2028</a:t>
            </a:r>
          </a:p>
        </p:txBody>
      </p:sp>
      <p:sp>
        <p:nvSpPr>
          <p:cNvPr id="11" name="TextBox 10"/>
          <p:cNvSpPr txBox="1"/>
          <p:nvPr/>
        </p:nvSpPr>
        <p:spPr>
          <a:xfrm>
            <a:off x="3035808" y="1938528"/>
            <a:ext cx="8534095" cy="614172"/>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La 2.a eleccion judicial se mueve a 2028, coincidente; toma de protesta el 1-sep-2028.</a:t>
            </a:r>
          </a:p>
        </p:txBody>
      </p:sp>
      <p:sp>
        <p:nvSpPr>
          <p:cNvPr id="12" name="Rectangle 11"/>
          <p:cNvSpPr/>
          <p:nvPr/>
        </p:nvSpPr>
        <p:spPr>
          <a:xfrm>
            <a:off x="548640" y="2543175"/>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552700"/>
            <a:ext cx="11094415" cy="614172"/>
          </a:xfrm>
          <a:prstGeom prst="rect">
            <a:avLst/>
          </a:prstGeom>
          <a:solidFill>
            <a:srgbClr val="FB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2552700"/>
            <a:ext cx="2194560" cy="614172"/>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Mandatos en curso</a:t>
            </a:r>
          </a:p>
        </p:txBody>
      </p:sp>
      <p:sp>
        <p:nvSpPr>
          <p:cNvPr id="15" name="TextBox 14"/>
          <p:cNvSpPr txBox="1"/>
          <p:nvPr/>
        </p:nvSpPr>
        <p:spPr>
          <a:xfrm>
            <a:off x="3035808" y="2552700"/>
            <a:ext cx="8534095" cy="614172"/>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Quienes concluirian en 2027 permanecen hasta 2028; +4,000 cargos a 2028.</a:t>
            </a:r>
          </a:p>
        </p:txBody>
      </p:sp>
      <p:sp>
        <p:nvSpPr>
          <p:cNvPr id="16" name="Rectangle 15"/>
          <p:cNvSpPr/>
          <p:nvPr/>
        </p:nvSpPr>
        <p:spPr>
          <a:xfrm>
            <a:off x="548640" y="3157347"/>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166872"/>
            <a:ext cx="2194560" cy="614172"/>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Reeleccion TEPJF</a:t>
            </a:r>
          </a:p>
        </p:txBody>
      </p:sp>
      <p:sp>
        <p:nvSpPr>
          <p:cNvPr id="18" name="TextBox 17"/>
          <p:cNvSpPr txBox="1"/>
          <p:nvPr/>
        </p:nvSpPr>
        <p:spPr>
          <a:xfrm>
            <a:off x="3035808" y="3166872"/>
            <a:ext cx="8534095" cy="614172"/>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Magistrados de la Sala Superior en funciones podran reelegirse en 2028.</a:t>
            </a:r>
          </a:p>
        </p:txBody>
      </p:sp>
      <p:sp>
        <p:nvSpPr>
          <p:cNvPr id="19" name="Rectangle 18"/>
          <p:cNvSpPr/>
          <p:nvPr/>
        </p:nvSpPr>
        <p:spPr>
          <a:xfrm>
            <a:off x="548640" y="3771519"/>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781044"/>
            <a:ext cx="11094415" cy="614172"/>
          </a:xfrm>
          <a:prstGeom prst="rect">
            <a:avLst/>
          </a:prstGeom>
          <a:solidFill>
            <a:srgbClr val="FB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781044"/>
            <a:ext cx="2194560" cy="614172"/>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Secciones SCJN</a:t>
            </a:r>
          </a:p>
        </p:txBody>
      </p:sp>
      <p:sp>
        <p:nvSpPr>
          <p:cNvPr id="22" name="TextBox 21"/>
          <p:cNvSpPr txBox="1"/>
          <p:nvPr/>
        </p:nvSpPr>
        <p:spPr>
          <a:xfrm>
            <a:off x="3035808" y="3781044"/>
            <a:ext cx="8534095" cy="614172"/>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La ley secundaria regulara su integracion y funcionamiento.</a:t>
            </a:r>
          </a:p>
        </p:txBody>
      </p:sp>
      <p:sp>
        <p:nvSpPr>
          <p:cNvPr id="23" name="Rectangle 22"/>
          <p:cNvSpPr/>
          <p:nvPr/>
        </p:nvSpPr>
        <p:spPr>
          <a:xfrm>
            <a:off x="548640" y="4385691"/>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395216"/>
            <a:ext cx="2194560" cy="614172"/>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Plazos</a:t>
            </a:r>
          </a:p>
        </p:txBody>
      </p:sp>
      <p:sp>
        <p:nvSpPr>
          <p:cNvPr id="25" name="TextBox 24"/>
          <p:cNvSpPr txBox="1"/>
          <p:nvPr/>
        </p:nvSpPr>
        <p:spPr>
          <a:xfrm>
            <a:off x="3035808" y="4395216"/>
            <a:ext cx="8534095" cy="614172"/>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Congreso 90 dias; estados 60 dias (constituciones) y 90 (leyes).</a:t>
            </a:r>
          </a:p>
        </p:txBody>
      </p:sp>
      <p:sp>
        <p:nvSpPr>
          <p:cNvPr id="26" name="Rectangle 25"/>
          <p:cNvSpPr/>
          <p:nvPr/>
        </p:nvSpPr>
        <p:spPr>
          <a:xfrm>
            <a:off x="548640" y="4999863"/>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009388"/>
            <a:ext cx="11094415" cy="614172"/>
          </a:xfrm>
          <a:prstGeom prst="rect">
            <a:avLst/>
          </a:prstGeom>
          <a:solidFill>
            <a:srgbClr val="FB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009388"/>
            <a:ext cx="2194560" cy="614172"/>
          </a:xfrm>
          <a:prstGeom prst="rect">
            <a:avLst/>
          </a:prstGeom>
          <a:noFill/>
        </p:spPr>
        <p:txBody>
          <a:bodyPr wrap="square" anchor="ctr" lIns="0" rIns="0" tIns="0" bIns="0">
            <a:spAutoFit/>
          </a:bodyPr>
          <a:lstStyle/>
          <a:p>
            <a:pPr algn="l">
              <a:lnSpc>
                <a:spcPct val="115000"/>
              </a:lnSpc>
            </a:pPr>
            <a:r>
              <a:rPr sz="1100" b="1">
                <a:solidFill>
                  <a:srgbClr val="6B1531"/>
                </a:solidFill>
                <a:latin typeface="Montserrat"/>
              </a:rPr>
              <a:t>Periodo 2028</a:t>
            </a:r>
          </a:p>
        </p:txBody>
      </p:sp>
      <p:sp>
        <p:nvSpPr>
          <p:cNvPr id="29" name="TextBox 28"/>
          <p:cNvSpPr txBox="1"/>
          <p:nvPr/>
        </p:nvSpPr>
        <p:spPr>
          <a:xfrm>
            <a:off x="3035808" y="5009388"/>
            <a:ext cx="8534095" cy="614172"/>
          </a:xfrm>
          <a:prstGeom prst="rect">
            <a:avLst/>
          </a:prstGeom>
          <a:noFill/>
        </p:spPr>
        <p:txBody>
          <a:bodyPr wrap="square" anchor="ctr" lIns="0" rIns="0" tIns="0" bIns="0">
            <a:spAutoFit/>
          </a:bodyPr>
          <a:lstStyle/>
          <a:p>
            <a:pPr algn="l">
              <a:lnSpc>
                <a:spcPct val="115000"/>
              </a:lnSpc>
            </a:pPr>
            <a:r>
              <a:rPr sz="1100" b="0">
                <a:solidFill>
                  <a:srgbClr val="4A4A4A"/>
                </a:solidFill>
                <a:latin typeface="Montserrat"/>
              </a:rPr>
              <a:t>Circuito y Distrito electos en 2028: 8 anos (vence 2036).</a:t>
            </a:r>
          </a:p>
        </p:txBody>
      </p:sp>
      <p:sp>
        <p:nvSpPr>
          <p:cNvPr id="30" name="Rectangle 29"/>
          <p:cNvSpPr/>
          <p:nvPr/>
        </p:nvSpPr>
        <p:spPr>
          <a:xfrm>
            <a:off x="548640" y="5614035"/>
            <a:ext cx="11094415" cy="9525"/>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833872"/>
            <a:ext cx="11094415" cy="365760"/>
          </a:xfrm>
          <a:prstGeom prst="rect">
            <a:avLst/>
          </a:prstGeom>
          <a:noFill/>
        </p:spPr>
        <p:txBody>
          <a:bodyPr wrap="square" anchor="t" lIns="0" rIns="0" tIns="0" bIns="0">
            <a:spAutoFit/>
          </a:bodyPr>
          <a:lstStyle/>
          <a:p>
            <a:pPr algn="l">
              <a:lnSpc>
                <a:spcPct val="120000"/>
              </a:lnSpc>
            </a:pPr>
            <a:r>
              <a:rPr sz="1000" b="0">
                <a:solidFill>
                  <a:srgbClr val="98989A"/>
                </a:solidFill>
                <a:latin typeface="Montserrat"/>
              </a:rPr>
              <a:t>La reeleccion del TEPJF se anadio en el pleno de Diputados (madruguete) y provoco abstenciones en Morena.</a:t>
            </a:r>
          </a:p>
        </p:txBody>
      </p:sp>
      <p:sp>
        <p:nvSpPr>
          <p:cNvPr id="32" name="TextBox 31"/>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Secretaria de Gobernacion. (2026, 2 de junio). Decreto... en materia de reforma al Poder Judicial. DOF.</a:t>
            </a:r>
          </a:p>
        </p:txBody>
      </p:sp>
      <p:sp>
        <p:nvSpPr>
          <p:cNvPr id="33" name="Rectangle 32"/>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TRAMITE</a:t>
            </a:r>
          </a:p>
        </p:txBody>
      </p:sp>
      <p:sp>
        <p:nvSpPr>
          <p:cNvPr id="36" name="TextBox 35"/>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15 /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80467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DEBATE</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Implicaciones: dos lecturas</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554480"/>
            <a:ext cx="5364327" cy="406908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554480"/>
            <a:ext cx="5364327" cy="3810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682496"/>
            <a:ext cx="4998567" cy="457200"/>
          </a:xfrm>
          <a:prstGeom prst="rect">
            <a:avLst/>
          </a:prstGeom>
          <a:noFill/>
        </p:spPr>
        <p:txBody>
          <a:bodyPr wrap="square" anchor="t" lIns="0" rIns="0" tIns="0" bIns="0">
            <a:spAutoFit/>
          </a:bodyPr>
          <a:lstStyle/>
          <a:p>
            <a:pPr algn="l">
              <a:lnSpc>
                <a:spcPct val="115000"/>
              </a:lnSpc>
            </a:pPr>
            <a:r>
              <a:rPr sz="1350" b="1">
                <a:solidFill>
                  <a:srgbClr val="1E5B4F"/>
                </a:solidFill>
                <a:latin typeface="Montserrat"/>
              </a:rPr>
              <a:t>A favor (gobierno - Morena/PVEM/PT)</a:t>
            </a:r>
          </a:p>
        </p:txBody>
      </p:sp>
      <p:sp>
        <p:nvSpPr>
          <p:cNvPr id="10" name="Oval 9"/>
          <p:cNvSpPr/>
          <p:nvPr/>
        </p:nvSpPr>
        <p:spPr>
          <a:xfrm>
            <a:off x="749808" y="2231136"/>
            <a:ext cx="91440" cy="91440"/>
          </a:xfrm>
          <a:prstGeom prst="ellipse">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176272"/>
            <a:ext cx="4797399" cy="731520"/>
          </a:xfrm>
          <a:prstGeom prst="rect">
            <a:avLst/>
          </a:prstGeom>
          <a:noFill/>
        </p:spPr>
        <p:txBody>
          <a:bodyPr wrap="square" anchor="t" lIns="0" rIns="0" tIns="0" bIns="0">
            <a:spAutoFit/>
          </a:bodyPr>
          <a:lstStyle/>
          <a:p>
            <a:pPr algn="l">
              <a:lnSpc>
                <a:spcPct val="125000"/>
              </a:lnSpc>
            </a:pPr>
            <a:r>
              <a:rPr sz="1200" b="0">
                <a:solidFill>
                  <a:srgbClr val="4A4A4A"/>
                </a:solidFill>
                <a:latin typeface="Montserrat"/>
              </a:rPr>
              <a:t>Correccion tecnica sin abandonar la eleccion directa.</a:t>
            </a:r>
          </a:p>
        </p:txBody>
      </p:sp>
      <p:sp>
        <p:nvSpPr>
          <p:cNvPr id="12" name="Oval 11"/>
          <p:cNvSpPr/>
          <p:nvPr/>
        </p:nvSpPr>
        <p:spPr>
          <a:xfrm>
            <a:off x="749808" y="2761488"/>
            <a:ext cx="91440" cy="91440"/>
          </a:xfrm>
          <a:prstGeom prst="ellipse">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706624"/>
            <a:ext cx="4797399" cy="731520"/>
          </a:xfrm>
          <a:prstGeom prst="rect">
            <a:avLst/>
          </a:prstGeom>
          <a:noFill/>
        </p:spPr>
        <p:txBody>
          <a:bodyPr wrap="square" anchor="t" lIns="0" rIns="0" tIns="0" bIns="0">
            <a:spAutoFit/>
          </a:bodyPr>
          <a:lstStyle/>
          <a:p>
            <a:pPr algn="l">
              <a:lnSpc>
                <a:spcPct val="125000"/>
              </a:lnSpc>
            </a:pPr>
            <a:r>
              <a:rPr sz="1200" b="0">
                <a:solidFill>
                  <a:srgbClr val="4A4A4A"/>
                </a:solidFill>
                <a:latin typeface="Montserrat"/>
              </a:rPr>
              <a:t>Ahorro: ~6,000 mdp en 2028 vs ~8,000 si concurria en 2027 (INE).</a:t>
            </a:r>
          </a:p>
        </p:txBody>
      </p:sp>
      <p:sp>
        <p:nvSpPr>
          <p:cNvPr id="14" name="Oval 13"/>
          <p:cNvSpPr/>
          <p:nvPr/>
        </p:nvSpPr>
        <p:spPr>
          <a:xfrm>
            <a:off x="749808" y="3291840"/>
            <a:ext cx="91440" cy="91440"/>
          </a:xfrm>
          <a:prstGeom prst="ellipse">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236976"/>
            <a:ext cx="4797399" cy="731520"/>
          </a:xfrm>
          <a:prstGeom prst="rect">
            <a:avLst/>
          </a:prstGeom>
          <a:noFill/>
        </p:spPr>
        <p:txBody>
          <a:bodyPr wrap="square" anchor="t" lIns="0" rIns="0" tIns="0" bIns="0">
            <a:spAutoFit/>
          </a:bodyPr>
          <a:lstStyle/>
          <a:p>
            <a:pPr algn="l">
              <a:lnSpc>
                <a:spcPct val="125000"/>
              </a:lnSpc>
            </a:pPr>
            <a:r>
              <a:rPr sz="1200" b="0">
                <a:solidFill>
                  <a:srgbClr val="4A4A4A"/>
                </a:solidFill>
                <a:latin typeface="Montserrat"/>
              </a:rPr>
              <a:t>Voto mas informado: menos candidaturas y boletas claras.</a:t>
            </a:r>
          </a:p>
        </p:txBody>
      </p:sp>
      <p:sp>
        <p:nvSpPr>
          <p:cNvPr id="16" name="Oval 15"/>
          <p:cNvSpPr/>
          <p:nvPr/>
        </p:nvSpPr>
        <p:spPr>
          <a:xfrm>
            <a:off x="749808" y="3822192"/>
            <a:ext cx="91440" cy="91440"/>
          </a:xfrm>
          <a:prstGeom prst="ellipse">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3767328"/>
            <a:ext cx="4797399" cy="731520"/>
          </a:xfrm>
          <a:prstGeom prst="rect">
            <a:avLst/>
          </a:prstGeom>
          <a:noFill/>
        </p:spPr>
        <p:txBody>
          <a:bodyPr wrap="square" anchor="t" lIns="0" rIns="0" tIns="0" bIns="0">
            <a:spAutoFit/>
          </a:bodyPr>
          <a:lstStyle/>
          <a:p>
            <a:pPr algn="l">
              <a:lnSpc>
                <a:spcPct val="125000"/>
              </a:lnSpc>
            </a:pPr>
            <a:r>
              <a:rPr sz="1200" b="0">
                <a:solidFill>
                  <a:srgbClr val="4A4A4A"/>
                </a:solidFill>
                <a:latin typeface="Montserrat"/>
              </a:rPr>
              <a:t>Paridad estructural garantizada por la insaculacion.</a:t>
            </a:r>
          </a:p>
        </p:txBody>
      </p:sp>
      <p:sp>
        <p:nvSpPr>
          <p:cNvPr id="18" name="Rectangle 17"/>
          <p:cNvSpPr/>
          <p:nvPr/>
        </p:nvSpPr>
        <p:spPr>
          <a:xfrm>
            <a:off x="6278727" y="1554480"/>
            <a:ext cx="5364327" cy="406908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78727" y="1554480"/>
            <a:ext cx="5364327" cy="381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9895" y="1682496"/>
            <a:ext cx="4998567" cy="457200"/>
          </a:xfrm>
          <a:prstGeom prst="rect">
            <a:avLst/>
          </a:prstGeom>
          <a:noFill/>
        </p:spPr>
        <p:txBody>
          <a:bodyPr wrap="square" anchor="t" lIns="0" rIns="0" tIns="0" bIns="0">
            <a:spAutoFit/>
          </a:bodyPr>
          <a:lstStyle/>
          <a:p>
            <a:pPr algn="l">
              <a:lnSpc>
                <a:spcPct val="115000"/>
              </a:lnSpc>
            </a:pPr>
            <a:r>
              <a:rPr sz="1350" b="1">
                <a:solidFill>
                  <a:srgbClr val="6B1531"/>
                </a:solidFill>
                <a:latin typeface="Montserrat"/>
              </a:rPr>
              <a:t>En contra (PAN - PRI - MC - barras - academia)</a:t>
            </a:r>
          </a:p>
        </p:txBody>
      </p:sp>
      <p:sp>
        <p:nvSpPr>
          <p:cNvPr id="21" name="Oval 20"/>
          <p:cNvSpPr/>
          <p:nvPr/>
        </p:nvSpPr>
        <p:spPr>
          <a:xfrm>
            <a:off x="6479895" y="2231136"/>
            <a:ext cx="91440" cy="91440"/>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62775" y="2176272"/>
            <a:ext cx="4797399" cy="731520"/>
          </a:xfrm>
          <a:prstGeom prst="rect">
            <a:avLst/>
          </a:prstGeom>
          <a:noFill/>
        </p:spPr>
        <p:txBody>
          <a:bodyPr wrap="square" anchor="t" lIns="0" rIns="0" tIns="0" bIns="0">
            <a:spAutoFit/>
          </a:bodyPr>
          <a:lstStyle/>
          <a:p>
            <a:pPr algn="l">
              <a:lnSpc>
                <a:spcPct val="125000"/>
              </a:lnSpc>
            </a:pPr>
            <a:r>
              <a:rPr sz="1200" b="0">
                <a:solidFill>
                  <a:srgbClr val="4A4A4A"/>
                </a:solidFill>
                <a:latin typeface="Montserrat"/>
              </a:rPr>
              <a:t>Parches que no corrigen el fondo (Barra Mexicana de Abogados).</a:t>
            </a:r>
          </a:p>
        </p:txBody>
      </p:sp>
      <p:sp>
        <p:nvSpPr>
          <p:cNvPr id="23" name="Oval 22"/>
          <p:cNvSpPr/>
          <p:nvPr/>
        </p:nvSpPr>
        <p:spPr>
          <a:xfrm>
            <a:off x="6479895" y="2761488"/>
            <a:ext cx="91440" cy="91440"/>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62775" y="2706624"/>
            <a:ext cx="4797399" cy="731520"/>
          </a:xfrm>
          <a:prstGeom prst="rect">
            <a:avLst/>
          </a:prstGeom>
          <a:noFill/>
        </p:spPr>
        <p:txBody>
          <a:bodyPr wrap="square" anchor="t" lIns="0" rIns="0" tIns="0" bIns="0">
            <a:spAutoFit/>
          </a:bodyPr>
          <a:lstStyle/>
          <a:p>
            <a:pPr algn="l">
              <a:lnSpc>
                <a:spcPct val="125000"/>
              </a:lnSpc>
            </a:pPr>
            <a:r>
              <a:rPr sz="1200" b="0">
                <a:solidFill>
                  <a:srgbClr val="4A4A4A"/>
                </a:solidFill>
                <a:latin typeface="Montserrat"/>
              </a:rPr>
              <a:t>Riesgo de captura politica; la insaculacion introduce azar.</a:t>
            </a:r>
          </a:p>
        </p:txBody>
      </p:sp>
      <p:sp>
        <p:nvSpPr>
          <p:cNvPr id="25" name="Oval 24"/>
          <p:cNvSpPr/>
          <p:nvPr/>
        </p:nvSpPr>
        <p:spPr>
          <a:xfrm>
            <a:off x="6479895" y="3291840"/>
            <a:ext cx="91440" cy="91440"/>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62775" y="3236976"/>
            <a:ext cx="4797399" cy="731520"/>
          </a:xfrm>
          <a:prstGeom prst="rect">
            <a:avLst/>
          </a:prstGeom>
          <a:noFill/>
        </p:spPr>
        <p:txBody>
          <a:bodyPr wrap="square" anchor="t" lIns="0" rIns="0" tIns="0" bIns="0">
            <a:spAutoFit/>
          </a:bodyPr>
          <a:lstStyle/>
          <a:p>
            <a:pPr algn="l">
              <a:lnSpc>
                <a:spcPct val="125000"/>
              </a:lnSpc>
            </a:pPr>
            <a:r>
              <a:rPr sz="1200" b="0">
                <a:solidFill>
                  <a:srgbClr val="4A4A4A"/>
                </a:solidFill>
                <a:latin typeface="Montserrat"/>
              </a:rPr>
              <a:t>Reeleccion del TEPJF percibida como favor politico.</a:t>
            </a:r>
          </a:p>
        </p:txBody>
      </p:sp>
      <p:sp>
        <p:nvSpPr>
          <p:cNvPr id="27" name="Oval 26"/>
          <p:cNvSpPr/>
          <p:nvPr/>
        </p:nvSpPr>
        <p:spPr>
          <a:xfrm>
            <a:off x="6479895" y="3822192"/>
            <a:ext cx="91440" cy="91440"/>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62775" y="3767328"/>
            <a:ext cx="4797399" cy="731520"/>
          </a:xfrm>
          <a:prstGeom prst="rect">
            <a:avLst/>
          </a:prstGeom>
          <a:noFill/>
        </p:spPr>
        <p:txBody>
          <a:bodyPr wrap="square" anchor="t" lIns="0" rIns="0" tIns="0" bIns="0">
            <a:spAutoFit/>
          </a:bodyPr>
          <a:lstStyle/>
          <a:p>
            <a:pPr algn="l">
              <a:lnSpc>
                <a:spcPct val="125000"/>
              </a:lnSpc>
            </a:pPr>
            <a:r>
              <a:rPr sz="1200" b="0">
                <a:solidFill>
                  <a:srgbClr val="4A4A4A"/>
                </a:solidFill>
                <a:latin typeface="Montserrat"/>
              </a:rPr>
              <a:t>Coincidencia 2028 con la revocacion de mandato; menos autonomia local.</a:t>
            </a:r>
          </a:p>
        </p:txBody>
      </p:sp>
      <p:sp>
        <p:nvSpPr>
          <p:cNvPr id="29" name="Oval 28"/>
          <p:cNvSpPr/>
          <p:nvPr/>
        </p:nvSpPr>
        <p:spPr>
          <a:xfrm>
            <a:off x="6479895" y="4352544"/>
            <a:ext cx="91440" cy="91440"/>
          </a:xfrm>
          <a:prstGeom prst="ellipse">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62775" y="4297680"/>
            <a:ext cx="4797399" cy="731520"/>
          </a:xfrm>
          <a:prstGeom prst="rect">
            <a:avLst/>
          </a:prstGeom>
          <a:noFill/>
        </p:spPr>
        <p:txBody>
          <a:bodyPr wrap="square" anchor="t" lIns="0" rIns="0" tIns="0" bIns="0">
            <a:spAutoFit/>
          </a:bodyPr>
          <a:lstStyle/>
          <a:p>
            <a:pPr algn="l">
              <a:lnSpc>
                <a:spcPct val="125000"/>
              </a:lnSpc>
            </a:pPr>
            <a:r>
              <a:rPr sz="1200" b="0">
                <a:solidFill>
                  <a:srgbClr val="4A4A4A"/>
                </a:solidFill>
                <a:latin typeface="Montserrat"/>
              </a:rPr>
              <a:t>CIDH y Relatoria ONU: alertas sobre independencia judicial.</a:t>
            </a:r>
          </a:p>
        </p:txBody>
      </p:sp>
      <p:sp>
        <p:nvSpPr>
          <p:cNvPr id="31" name="TextBox 30"/>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Mexico Evalua. (2026). Aplazar las elecciones judiciales a 2028 podria dar tiempo a mejorar el proceso de seleccion.</a:t>
            </a:r>
          </a:p>
        </p:txBody>
      </p:sp>
      <p:sp>
        <p:nvSpPr>
          <p:cNvPr id="32" name="Rectangle 31"/>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DEBATE</a:t>
            </a:r>
          </a:p>
        </p:txBody>
      </p:sp>
      <p:sp>
        <p:nvSpPr>
          <p:cNvPr id="35" name="TextBox 34"/>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16 /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203703"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REFERENCIAS - OFICIALES</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Fuentes oficiales del gobierno federal</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81328"/>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8" name="TextBox 7"/>
          <p:cNvSpPr txBox="1"/>
          <p:nvPr/>
        </p:nvSpPr>
        <p:spPr>
          <a:xfrm>
            <a:off x="768096" y="1592718"/>
            <a:ext cx="10874959" cy="274320"/>
          </a:xfrm>
          <a:prstGeom prst="rect">
            <a:avLst/>
          </a:prstGeom>
          <a:noFill/>
        </p:spPr>
        <p:txBody>
          <a:bodyPr wrap="square" lIns="0" rIns="0" tIns="0" bIns="0">
            <a:spAutoFit/>
          </a:bodyPr>
          <a:lstStyle/>
          <a:p>
            <a:r>
              <a:rPr sz="950" u="sng">
                <a:solidFill>
                  <a:srgbClr val="9B2247"/>
                </a:solidFill>
                <a:latin typeface="Montserrat"/>
                <a:hlinkClick r:id="rId2"/>
              </a:rPr>
              <a:t>Secretaria de Gobernacion. (2026, 2 jun). Decreto... en materia de reforma al Poder Judicial. DOF.</a:t>
            </a:r>
          </a:p>
        </p:txBody>
      </p:sp>
      <p:sp>
        <p:nvSpPr>
          <p:cNvPr id="9" name="TextBox 8"/>
          <p:cNvSpPr txBox="1"/>
          <p:nvPr/>
        </p:nvSpPr>
        <p:spPr>
          <a:xfrm>
            <a:off x="548640" y="1886989"/>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0" name="TextBox 9"/>
          <p:cNvSpPr txBox="1"/>
          <p:nvPr/>
        </p:nvSpPr>
        <p:spPr>
          <a:xfrm>
            <a:off x="768096" y="1998379"/>
            <a:ext cx="10874959" cy="274320"/>
          </a:xfrm>
          <a:prstGeom prst="rect">
            <a:avLst/>
          </a:prstGeom>
          <a:noFill/>
        </p:spPr>
        <p:txBody>
          <a:bodyPr wrap="square" lIns="0" rIns="0" tIns="0" bIns="0">
            <a:spAutoFit/>
          </a:bodyPr>
          <a:lstStyle/>
          <a:p>
            <a:r>
              <a:rPr sz="950" u="sng">
                <a:solidFill>
                  <a:srgbClr val="9B2247"/>
                </a:solidFill>
                <a:latin typeface="Montserrat"/>
                <a:hlinkClick r:id="rId3"/>
              </a:rPr>
              <a:t>Camara de Diputados. (2026, 26 may). Dictamen de la Comision de Puntos Constitucionales (Gaceta 7046, anexo III).</a:t>
            </a:r>
          </a:p>
        </p:txBody>
      </p:sp>
      <p:sp>
        <p:nvSpPr>
          <p:cNvPr id="11" name="TextBox 10"/>
          <p:cNvSpPr txBox="1"/>
          <p:nvPr/>
        </p:nvSpPr>
        <p:spPr>
          <a:xfrm>
            <a:off x="548640" y="2292650"/>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2" name="TextBox 11"/>
          <p:cNvSpPr txBox="1"/>
          <p:nvPr/>
        </p:nvSpPr>
        <p:spPr>
          <a:xfrm>
            <a:off x="768096" y="2404040"/>
            <a:ext cx="10874959" cy="274320"/>
          </a:xfrm>
          <a:prstGeom prst="rect">
            <a:avLst/>
          </a:prstGeom>
          <a:noFill/>
        </p:spPr>
        <p:txBody>
          <a:bodyPr wrap="square" lIns="0" rIns="0" tIns="0" bIns="0">
            <a:spAutoFit/>
          </a:bodyPr>
          <a:lstStyle/>
          <a:p>
            <a:r>
              <a:rPr sz="950" u="sng">
                <a:solidFill>
                  <a:srgbClr val="9B2247"/>
                </a:solidFill>
                <a:latin typeface="Montserrat"/>
                <a:hlinkClick r:id="rId4"/>
              </a:rPr>
              <a:t>Camara de Diputados. (2026, 25 may). Proyecto de dictamen (Gaceta Parlamentaria num. 7045).</a:t>
            </a:r>
          </a:p>
        </p:txBody>
      </p:sp>
      <p:sp>
        <p:nvSpPr>
          <p:cNvPr id="13" name="TextBox 12"/>
          <p:cNvSpPr txBox="1"/>
          <p:nvPr/>
        </p:nvSpPr>
        <p:spPr>
          <a:xfrm>
            <a:off x="548640" y="2698311"/>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4" name="TextBox 13"/>
          <p:cNvSpPr txBox="1"/>
          <p:nvPr/>
        </p:nvSpPr>
        <p:spPr>
          <a:xfrm>
            <a:off x="768096" y="2809701"/>
            <a:ext cx="10874959" cy="274320"/>
          </a:xfrm>
          <a:prstGeom prst="rect">
            <a:avLst/>
          </a:prstGeom>
          <a:noFill/>
        </p:spPr>
        <p:txBody>
          <a:bodyPr wrap="square" lIns="0" rIns="0" tIns="0" bIns="0">
            <a:spAutoFit/>
          </a:bodyPr>
          <a:lstStyle/>
          <a:p>
            <a:r>
              <a:rPr sz="950" u="sng">
                <a:solidFill>
                  <a:srgbClr val="9B2247"/>
                </a:solidFill>
                <a:latin typeface="Montserrat"/>
                <a:hlinkClick r:id="rId5"/>
              </a:rPr>
              <a:t>Camara de Diputados. (2026, 2 jun). Publica DOF decreto de la reforma al Poder Judicial (Notilegis).</a:t>
            </a:r>
          </a:p>
        </p:txBody>
      </p:sp>
      <p:sp>
        <p:nvSpPr>
          <p:cNvPr id="15" name="TextBox 14"/>
          <p:cNvSpPr txBox="1"/>
          <p:nvPr/>
        </p:nvSpPr>
        <p:spPr>
          <a:xfrm>
            <a:off x="548640" y="3103972"/>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6" name="TextBox 15"/>
          <p:cNvSpPr txBox="1"/>
          <p:nvPr/>
        </p:nvSpPr>
        <p:spPr>
          <a:xfrm>
            <a:off x="768096" y="3215362"/>
            <a:ext cx="10874959" cy="274320"/>
          </a:xfrm>
          <a:prstGeom prst="rect">
            <a:avLst/>
          </a:prstGeom>
          <a:noFill/>
        </p:spPr>
        <p:txBody>
          <a:bodyPr wrap="square" lIns="0" rIns="0" tIns="0" bIns="0">
            <a:spAutoFit/>
          </a:bodyPr>
          <a:lstStyle/>
          <a:p>
            <a:r>
              <a:rPr sz="950" u="sng">
                <a:solidFill>
                  <a:srgbClr val="9B2247"/>
                </a:solidFill>
                <a:latin typeface="Montserrat"/>
                <a:hlinkClick r:id="rId6"/>
              </a:rPr>
              <a:t>Canal del Congreso. (2026, 26 may). Aprueban en lo general la reforma judicial.</a:t>
            </a:r>
          </a:p>
        </p:txBody>
      </p:sp>
      <p:sp>
        <p:nvSpPr>
          <p:cNvPr id="17" name="TextBox 16"/>
          <p:cNvSpPr txBox="1"/>
          <p:nvPr/>
        </p:nvSpPr>
        <p:spPr>
          <a:xfrm>
            <a:off x="548640" y="3509633"/>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8" name="TextBox 17"/>
          <p:cNvSpPr txBox="1"/>
          <p:nvPr/>
        </p:nvSpPr>
        <p:spPr>
          <a:xfrm>
            <a:off x="768096" y="3621023"/>
            <a:ext cx="10874959" cy="274320"/>
          </a:xfrm>
          <a:prstGeom prst="rect">
            <a:avLst/>
          </a:prstGeom>
          <a:noFill/>
        </p:spPr>
        <p:txBody>
          <a:bodyPr wrap="square" lIns="0" rIns="0" tIns="0" bIns="0">
            <a:spAutoFit/>
          </a:bodyPr>
          <a:lstStyle/>
          <a:p>
            <a:r>
              <a:rPr sz="950" u="sng">
                <a:solidFill>
                  <a:srgbClr val="9B2247"/>
                </a:solidFill>
                <a:latin typeface="Montserrat"/>
                <a:hlinkClick r:id="rId7"/>
              </a:rPr>
              <a:t>Senado de la Republica. (2026, 20 may). Recibe el Congreso la iniciativa (Com. 014).</a:t>
            </a:r>
          </a:p>
        </p:txBody>
      </p:sp>
      <p:sp>
        <p:nvSpPr>
          <p:cNvPr id="19" name="TextBox 18"/>
          <p:cNvSpPr txBox="1"/>
          <p:nvPr/>
        </p:nvSpPr>
        <p:spPr>
          <a:xfrm>
            <a:off x="548640" y="3915294"/>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0" name="TextBox 19"/>
          <p:cNvSpPr txBox="1"/>
          <p:nvPr/>
        </p:nvSpPr>
        <p:spPr>
          <a:xfrm>
            <a:off x="768096" y="4026685"/>
            <a:ext cx="10874959" cy="274320"/>
          </a:xfrm>
          <a:prstGeom prst="rect">
            <a:avLst/>
          </a:prstGeom>
          <a:noFill/>
        </p:spPr>
        <p:txBody>
          <a:bodyPr wrap="square" lIns="0" rIns="0" tIns="0" bIns="0">
            <a:spAutoFit/>
          </a:bodyPr>
          <a:lstStyle/>
          <a:p>
            <a:r>
              <a:rPr sz="950" u="sng">
                <a:solidFill>
                  <a:srgbClr val="9B2247"/>
                </a:solidFill>
                <a:latin typeface="Montserrat"/>
                <a:hlinkClick r:id="rId8"/>
              </a:rPr>
              <a:t>Senado de la Republica. (2026, 28 may). Aprueban comisiones la reforma (Com. 1457).</a:t>
            </a:r>
          </a:p>
        </p:txBody>
      </p:sp>
      <p:sp>
        <p:nvSpPr>
          <p:cNvPr id="21" name="TextBox 20"/>
          <p:cNvSpPr txBox="1"/>
          <p:nvPr/>
        </p:nvSpPr>
        <p:spPr>
          <a:xfrm>
            <a:off x="548640" y="4320955"/>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2" name="TextBox 21"/>
          <p:cNvSpPr txBox="1"/>
          <p:nvPr/>
        </p:nvSpPr>
        <p:spPr>
          <a:xfrm>
            <a:off x="768096" y="4432346"/>
            <a:ext cx="10874959" cy="274320"/>
          </a:xfrm>
          <a:prstGeom prst="rect">
            <a:avLst/>
          </a:prstGeom>
          <a:noFill/>
        </p:spPr>
        <p:txBody>
          <a:bodyPr wrap="square" lIns="0" rIns="0" tIns="0" bIns="0">
            <a:spAutoFit/>
          </a:bodyPr>
          <a:lstStyle/>
          <a:p>
            <a:r>
              <a:rPr sz="950" u="sng">
                <a:solidFill>
                  <a:srgbClr val="9B2247"/>
                </a:solidFill>
                <a:latin typeface="Montserrat"/>
                <a:hlinkClick r:id="rId9"/>
              </a:rPr>
              <a:t>Senado de la Republica. (2026, 29 may). Senado aprueba la reforma (Com. 1466).</a:t>
            </a:r>
          </a:p>
        </p:txBody>
      </p:sp>
      <p:sp>
        <p:nvSpPr>
          <p:cNvPr id="23" name="TextBox 22"/>
          <p:cNvSpPr txBox="1"/>
          <p:nvPr/>
        </p:nvSpPr>
        <p:spPr>
          <a:xfrm>
            <a:off x="548640" y="4726616"/>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4" name="TextBox 23"/>
          <p:cNvSpPr txBox="1"/>
          <p:nvPr/>
        </p:nvSpPr>
        <p:spPr>
          <a:xfrm>
            <a:off x="768096" y="4838007"/>
            <a:ext cx="10874959" cy="274320"/>
          </a:xfrm>
          <a:prstGeom prst="rect">
            <a:avLst/>
          </a:prstGeom>
          <a:noFill/>
        </p:spPr>
        <p:txBody>
          <a:bodyPr wrap="square" lIns="0" rIns="0" tIns="0" bIns="0">
            <a:spAutoFit/>
          </a:bodyPr>
          <a:lstStyle/>
          <a:p>
            <a:r>
              <a:rPr sz="950" u="sng">
                <a:solidFill>
                  <a:srgbClr val="9B2247"/>
                </a:solidFill>
                <a:latin typeface="Montserrat"/>
                <a:hlinkClick r:id="rId10"/>
              </a:rPr>
              <a:t>Instituto Nacional Electoral. (2026, 13 may). Diagnostico tecnico para el aplazamiento (Com. 176).</a:t>
            </a:r>
          </a:p>
        </p:txBody>
      </p:sp>
      <p:sp>
        <p:nvSpPr>
          <p:cNvPr id="25" name="TextBox 24"/>
          <p:cNvSpPr txBox="1"/>
          <p:nvPr/>
        </p:nvSpPr>
        <p:spPr>
          <a:xfrm>
            <a:off x="548640" y="5132277"/>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6" name="TextBox 25"/>
          <p:cNvSpPr txBox="1"/>
          <p:nvPr/>
        </p:nvSpPr>
        <p:spPr>
          <a:xfrm>
            <a:off x="768096" y="5243668"/>
            <a:ext cx="10874959" cy="274320"/>
          </a:xfrm>
          <a:prstGeom prst="rect">
            <a:avLst/>
          </a:prstGeom>
          <a:noFill/>
        </p:spPr>
        <p:txBody>
          <a:bodyPr wrap="square" lIns="0" rIns="0" tIns="0" bIns="0">
            <a:spAutoFit/>
          </a:bodyPr>
          <a:lstStyle/>
          <a:p>
            <a:r>
              <a:rPr sz="950" u="sng">
                <a:solidFill>
                  <a:srgbClr val="9B2247"/>
                </a:solidFill>
                <a:latin typeface="Montserrat"/>
                <a:hlinkClick r:id="rId11"/>
              </a:rPr>
              <a:t>Instituto Nacional Electoral. (2025, 18 dic). Informe final de la evaluacion integral del PEEPJF 2024-2025 (Com. 370).</a:t>
            </a:r>
          </a:p>
        </p:txBody>
      </p:sp>
      <p:sp>
        <p:nvSpPr>
          <p:cNvPr id="27" name="TextBox 26"/>
          <p:cNvSpPr txBox="1"/>
          <p:nvPr/>
        </p:nvSpPr>
        <p:spPr>
          <a:xfrm>
            <a:off x="548640" y="5537938"/>
            <a:ext cx="164592" cy="405661"/>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8" name="TextBox 27"/>
          <p:cNvSpPr txBox="1"/>
          <p:nvPr/>
        </p:nvSpPr>
        <p:spPr>
          <a:xfrm>
            <a:off x="768096" y="5649329"/>
            <a:ext cx="10874959" cy="274320"/>
          </a:xfrm>
          <a:prstGeom prst="rect">
            <a:avLst/>
          </a:prstGeom>
          <a:noFill/>
        </p:spPr>
        <p:txBody>
          <a:bodyPr wrap="square" lIns="0" rIns="0" tIns="0" bIns="0">
            <a:spAutoFit/>
          </a:bodyPr>
          <a:lstStyle/>
          <a:p>
            <a:r>
              <a:rPr sz="950" u="sng">
                <a:solidFill>
                  <a:srgbClr val="9B2247"/>
                </a:solidFill>
                <a:latin typeface="Montserrat"/>
                <a:hlinkClick r:id="rId12"/>
              </a:rPr>
              <a:t>Presidencia de la Republica. (2026, 3 jun). La Mananera del Pueblo. Gobierno de Mexico.</a:t>
            </a:r>
          </a:p>
        </p:txBody>
      </p:sp>
      <p:sp>
        <p:nvSpPr>
          <p:cNvPr id="29" name="Rectangle 28"/>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REFERENCIAS</a:t>
            </a:r>
          </a:p>
        </p:txBody>
      </p:sp>
      <p:sp>
        <p:nvSpPr>
          <p:cNvPr id="32" name="TextBox 31"/>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17 /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286000"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REFERENCIAS - ACADEMICAS</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Fuentes academicas y organismos internacionales</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81328"/>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8" name="TextBox 7"/>
          <p:cNvSpPr txBox="1"/>
          <p:nvPr/>
        </p:nvSpPr>
        <p:spPr>
          <a:xfrm>
            <a:off x="768096" y="1575816"/>
            <a:ext cx="10874959" cy="274320"/>
          </a:xfrm>
          <a:prstGeom prst="rect">
            <a:avLst/>
          </a:prstGeom>
          <a:noFill/>
        </p:spPr>
        <p:txBody>
          <a:bodyPr wrap="square" lIns="0" rIns="0" tIns="0" bIns="0">
            <a:spAutoFit/>
          </a:bodyPr>
          <a:lstStyle/>
          <a:p>
            <a:r>
              <a:rPr sz="950" u="sng">
                <a:solidFill>
                  <a:srgbClr val="9B2247"/>
                </a:solidFill>
                <a:latin typeface="Montserrat"/>
                <a:hlinkClick r:id="rId2"/>
              </a:rPr>
              <a:t>Instituto de Investigaciones Juridicas de la UNAM. (2026). Informe academico sobre la reforma judicial de 2024 (Valades y Lopez Ayllon, Coords.).</a:t>
            </a:r>
          </a:p>
        </p:txBody>
      </p:sp>
      <p:sp>
        <p:nvSpPr>
          <p:cNvPr id="9" name="TextBox 8"/>
          <p:cNvSpPr txBox="1"/>
          <p:nvPr/>
        </p:nvSpPr>
        <p:spPr>
          <a:xfrm>
            <a:off x="548640" y="1853184"/>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0" name="TextBox 9"/>
          <p:cNvSpPr txBox="1"/>
          <p:nvPr/>
        </p:nvSpPr>
        <p:spPr>
          <a:xfrm>
            <a:off x="768096" y="1947672"/>
            <a:ext cx="10874959" cy="274320"/>
          </a:xfrm>
          <a:prstGeom prst="rect">
            <a:avLst/>
          </a:prstGeom>
          <a:noFill/>
        </p:spPr>
        <p:txBody>
          <a:bodyPr wrap="square" lIns="0" rIns="0" tIns="0" bIns="0">
            <a:spAutoFit/>
          </a:bodyPr>
          <a:lstStyle/>
          <a:p>
            <a:r>
              <a:rPr sz="950" u="sng">
                <a:solidFill>
                  <a:srgbClr val="9B2247"/>
                </a:solidFill>
                <a:latin typeface="Montserrat"/>
                <a:hlinkClick r:id="rId3"/>
              </a:rPr>
              <a:t>Romero Mireles, L. L. (2026, 1 jun). Reforma judicial, un modelo improvisado. Gaceta UNAM, 5657.</a:t>
            </a:r>
          </a:p>
        </p:txBody>
      </p:sp>
      <p:sp>
        <p:nvSpPr>
          <p:cNvPr id="11" name="TextBox 10"/>
          <p:cNvSpPr txBox="1"/>
          <p:nvPr/>
        </p:nvSpPr>
        <p:spPr>
          <a:xfrm>
            <a:off x="548640" y="2225040"/>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2" name="TextBox 11"/>
          <p:cNvSpPr txBox="1"/>
          <p:nvPr/>
        </p:nvSpPr>
        <p:spPr>
          <a:xfrm>
            <a:off x="768096" y="2319528"/>
            <a:ext cx="10874959" cy="274320"/>
          </a:xfrm>
          <a:prstGeom prst="rect">
            <a:avLst/>
          </a:prstGeom>
          <a:noFill/>
        </p:spPr>
        <p:txBody>
          <a:bodyPr wrap="square" lIns="0" rIns="0" tIns="0" bIns="0">
            <a:spAutoFit/>
          </a:bodyPr>
          <a:lstStyle/>
          <a:p>
            <a:r>
              <a:rPr sz="950" u="sng">
                <a:solidFill>
                  <a:srgbClr val="9B2247"/>
                </a:solidFill>
                <a:latin typeface="Montserrat"/>
                <a:hlinkClick r:id="rId4"/>
              </a:rPr>
              <a:t>Cortez Salinas, J. (2026). Los factores detras de la reforma del Poder Judicial. Cuestiones Constitucionales, 27(55).</a:t>
            </a:r>
          </a:p>
        </p:txBody>
      </p:sp>
      <p:sp>
        <p:nvSpPr>
          <p:cNvPr id="13" name="TextBox 12"/>
          <p:cNvSpPr txBox="1"/>
          <p:nvPr/>
        </p:nvSpPr>
        <p:spPr>
          <a:xfrm>
            <a:off x="548640" y="2596896"/>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4" name="TextBox 13"/>
          <p:cNvSpPr txBox="1"/>
          <p:nvPr/>
        </p:nvSpPr>
        <p:spPr>
          <a:xfrm>
            <a:off x="768096" y="2691384"/>
            <a:ext cx="10874959" cy="274320"/>
          </a:xfrm>
          <a:prstGeom prst="rect">
            <a:avLst/>
          </a:prstGeom>
          <a:noFill/>
        </p:spPr>
        <p:txBody>
          <a:bodyPr wrap="square" lIns="0" rIns="0" tIns="0" bIns="0">
            <a:spAutoFit/>
          </a:bodyPr>
          <a:lstStyle/>
          <a:p>
            <a:r>
              <a:rPr sz="950" u="sng">
                <a:solidFill>
                  <a:srgbClr val="9B2247"/>
                </a:solidFill>
                <a:latin typeface="Montserrat"/>
                <a:hlinkClick r:id="rId5"/>
              </a:rPr>
              <a:t>Flores, I. B. (2026). La reforma judicial y las no-elecciones judiciales. Cuestiones Constitucionales, 27(55).</a:t>
            </a:r>
          </a:p>
        </p:txBody>
      </p:sp>
      <p:sp>
        <p:nvSpPr>
          <p:cNvPr id="15" name="TextBox 14"/>
          <p:cNvSpPr txBox="1"/>
          <p:nvPr/>
        </p:nvSpPr>
        <p:spPr>
          <a:xfrm>
            <a:off x="548640" y="2968752"/>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6" name="TextBox 15"/>
          <p:cNvSpPr txBox="1"/>
          <p:nvPr/>
        </p:nvSpPr>
        <p:spPr>
          <a:xfrm>
            <a:off x="768096" y="3063240"/>
            <a:ext cx="10874959" cy="274320"/>
          </a:xfrm>
          <a:prstGeom prst="rect">
            <a:avLst/>
          </a:prstGeom>
          <a:noFill/>
        </p:spPr>
        <p:txBody>
          <a:bodyPr wrap="square" lIns="0" rIns="0" tIns="0" bIns="0">
            <a:spAutoFit/>
          </a:bodyPr>
          <a:lstStyle/>
          <a:p>
            <a:r>
              <a:rPr sz="950" u="sng">
                <a:solidFill>
                  <a:srgbClr val="9B2247"/>
                </a:solidFill>
                <a:latin typeface="Montserrat"/>
                <a:hlinkClick r:id="rId6"/>
              </a:rPr>
              <a:t>Cossio Diaz, J. R. (2025). Cronica de la infame reforma judicial mexicana del 2024. REDC, 134.</a:t>
            </a:r>
          </a:p>
        </p:txBody>
      </p:sp>
      <p:sp>
        <p:nvSpPr>
          <p:cNvPr id="17" name="TextBox 16"/>
          <p:cNvSpPr txBox="1"/>
          <p:nvPr/>
        </p:nvSpPr>
        <p:spPr>
          <a:xfrm>
            <a:off x="548640" y="3340608"/>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18" name="TextBox 17"/>
          <p:cNvSpPr txBox="1"/>
          <p:nvPr/>
        </p:nvSpPr>
        <p:spPr>
          <a:xfrm>
            <a:off x="768096" y="3435096"/>
            <a:ext cx="10874959" cy="274320"/>
          </a:xfrm>
          <a:prstGeom prst="rect">
            <a:avLst/>
          </a:prstGeom>
          <a:noFill/>
        </p:spPr>
        <p:txBody>
          <a:bodyPr wrap="square" lIns="0" rIns="0" tIns="0" bIns="0">
            <a:spAutoFit/>
          </a:bodyPr>
          <a:lstStyle/>
          <a:p>
            <a:r>
              <a:rPr sz="950" u="sng">
                <a:solidFill>
                  <a:srgbClr val="9B2247"/>
                </a:solidFill>
                <a:latin typeface="Montserrat"/>
                <a:hlinkClick r:id="rId7"/>
              </a:rPr>
              <a:t>Fernandez Riveira, R. (2026). La reforma judicial en Mexico y la jornada del 1 de junio de 2025. TRC, 57.</a:t>
            </a:r>
          </a:p>
        </p:txBody>
      </p:sp>
      <p:sp>
        <p:nvSpPr>
          <p:cNvPr id="19" name="TextBox 18"/>
          <p:cNvSpPr txBox="1"/>
          <p:nvPr/>
        </p:nvSpPr>
        <p:spPr>
          <a:xfrm>
            <a:off x="548640" y="3712464"/>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0" name="TextBox 19"/>
          <p:cNvSpPr txBox="1"/>
          <p:nvPr/>
        </p:nvSpPr>
        <p:spPr>
          <a:xfrm>
            <a:off x="768096" y="3806952"/>
            <a:ext cx="10874959" cy="274320"/>
          </a:xfrm>
          <a:prstGeom prst="rect">
            <a:avLst/>
          </a:prstGeom>
          <a:noFill/>
        </p:spPr>
        <p:txBody>
          <a:bodyPr wrap="square" lIns="0" rIns="0" tIns="0" bIns="0">
            <a:spAutoFit/>
          </a:bodyPr>
          <a:lstStyle/>
          <a:p>
            <a:r>
              <a:rPr sz="950" u="sng">
                <a:solidFill>
                  <a:srgbClr val="9B2247"/>
                </a:solidFill>
                <a:latin typeface="Montserrat"/>
                <a:hlinkClick r:id="rId8"/>
              </a:rPr>
              <a:t>Gomez Marinero, C. M. (2026). La reforma judicial mexicana de 2024. Reforma Judicial, 18(36).</a:t>
            </a:r>
          </a:p>
        </p:txBody>
      </p:sp>
      <p:sp>
        <p:nvSpPr>
          <p:cNvPr id="21" name="TextBox 20"/>
          <p:cNvSpPr txBox="1"/>
          <p:nvPr/>
        </p:nvSpPr>
        <p:spPr>
          <a:xfrm>
            <a:off x="548640" y="4084320"/>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2" name="TextBox 21"/>
          <p:cNvSpPr txBox="1"/>
          <p:nvPr/>
        </p:nvSpPr>
        <p:spPr>
          <a:xfrm>
            <a:off x="768096" y="4178808"/>
            <a:ext cx="10874959" cy="274320"/>
          </a:xfrm>
          <a:prstGeom prst="rect">
            <a:avLst/>
          </a:prstGeom>
          <a:noFill/>
        </p:spPr>
        <p:txBody>
          <a:bodyPr wrap="square" lIns="0" rIns="0" tIns="0" bIns="0">
            <a:spAutoFit/>
          </a:bodyPr>
          <a:lstStyle/>
          <a:p>
            <a:r>
              <a:rPr sz="950" u="sng">
                <a:solidFill>
                  <a:srgbClr val="9B2247"/>
                </a:solidFill>
                <a:latin typeface="Montserrat"/>
                <a:hlinkClick r:id="rId9"/>
              </a:rPr>
              <a:t>Garduno Ibarra, B. E. (2025). Reforma al Poder Judicial en Mexico... CEC-SCJN.</a:t>
            </a:r>
          </a:p>
        </p:txBody>
      </p:sp>
      <p:sp>
        <p:nvSpPr>
          <p:cNvPr id="23" name="TextBox 22"/>
          <p:cNvSpPr txBox="1"/>
          <p:nvPr/>
        </p:nvSpPr>
        <p:spPr>
          <a:xfrm>
            <a:off x="548640" y="4456176"/>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4" name="TextBox 23"/>
          <p:cNvSpPr txBox="1"/>
          <p:nvPr/>
        </p:nvSpPr>
        <p:spPr>
          <a:xfrm>
            <a:off x="768096" y="4550664"/>
            <a:ext cx="10874959" cy="274320"/>
          </a:xfrm>
          <a:prstGeom prst="rect">
            <a:avLst/>
          </a:prstGeom>
          <a:noFill/>
        </p:spPr>
        <p:txBody>
          <a:bodyPr wrap="square" lIns="0" rIns="0" tIns="0" bIns="0">
            <a:spAutoFit/>
          </a:bodyPr>
          <a:lstStyle/>
          <a:p>
            <a:r>
              <a:rPr sz="950" u="sng">
                <a:solidFill>
                  <a:srgbClr val="9B2247"/>
                </a:solidFill>
                <a:latin typeface="Montserrat"/>
                <a:hlinkClick r:id="rId10"/>
              </a:rPr>
              <a:t>Mexico Evalua. (2026). Aplazar las elecciones judiciales a 2028 podria dar tiempo a mejorar la seleccion.</a:t>
            </a:r>
          </a:p>
        </p:txBody>
      </p:sp>
      <p:sp>
        <p:nvSpPr>
          <p:cNvPr id="25" name="TextBox 24"/>
          <p:cNvSpPr txBox="1"/>
          <p:nvPr/>
        </p:nvSpPr>
        <p:spPr>
          <a:xfrm>
            <a:off x="548640" y="4828032"/>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6" name="TextBox 25"/>
          <p:cNvSpPr txBox="1"/>
          <p:nvPr/>
        </p:nvSpPr>
        <p:spPr>
          <a:xfrm>
            <a:off x="768096" y="4922520"/>
            <a:ext cx="10874959" cy="274320"/>
          </a:xfrm>
          <a:prstGeom prst="rect">
            <a:avLst/>
          </a:prstGeom>
          <a:noFill/>
        </p:spPr>
        <p:txBody>
          <a:bodyPr wrap="square" lIns="0" rIns="0" tIns="0" bIns="0">
            <a:spAutoFit/>
          </a:bodyPr>
          <a:lstStyle/>
          <a:p>
            <a:r>
              <a:rPr sz="950" u="sng">
                <a:solidFill>
                  <a:srgbClr val="9B2247"/>
                </a:solidFill>
                <a:latin typeface="Montserrat"/>
                <a:hlinkClick r:id="rId11"/>
              </a:rPr>
              <a:t>CIDH. (2024, 12 sep). Mexico: posibles afectaciones a la independencia judicial (Com. 213/24). OEA.</a:t>
            </a:r>
          </a:p>
        </p:txBody>
      </p:sp>
      <p:sp>
        <p:nvSpPr>
          <p:cNvPr id="27" name="TextBox 26"/>
          <p:cNvSpPr txBox="1"/>
          <p:nvPr/>
        </p:nvSpPr>
        <p:spPr>
          <a:xfrm>
            <a:off x="548640" y="5199888"/>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28" name="TextBox 27"/>
          <p:cNvSpPr txBox="1"/>
          <p:nvPr/>
        </p:nvSpPr>
        <p:spPr>
          <a:xfrm>
            <a:off x="768096" y="5294376"/>
            <a:ext cx="10874959" cy="274320"/>
          </a:xfrm>
          <a:prstGeom prst="rect">
            <a:avLst/>
          </a:prstGeom>
          <a:noFill/>
        </p:spPr>
        <p:txBody>
          <a:bodyPr wrap="square" lIns="0" rIns="0" tIns="0" bIns="0">
            <a:spAutoFit/>
          </a:bodyPr>
          <a:lstStyle/>
          <a:p>
            <a:r>
              <a:rPr sz="950" u="sng">
                <a:solidFill>
                  <a:srgbClr val="9B2247"/>
                </a:solidFill>
                <a:latin typeface="Montserrat"/>
                <a:hlinkClick r:id="rId12"/>
              </a:rPr>
              <a:t>Satterthwaite, M. (2024, 29 jul). Comunicacion al Gobierno de Mexico (OL MEX 11/2024). OACNUDH.</a:t>
            </a:r>
          </a:p>
        </p:txBody>
      </p:sp>
      <p:sp>
        <p:nvSpPr>
          <p:cNvPr id="29" name="TextBox 28"/>
          <p:cNvSpPr txBox="1"/>
          <p:nvPr/>
        </p:nvSpPr>
        <p:spPr>
          <a:xfrm>
            <a:off x="548640" y="5571744"/>
            <a:ext cx="164592" cy="371856"/>
          </a:xfrm>
          <a:prstGeom prst="rect">
            <a:avLst/>
          </a:prstGeom>
          <a:noFill/>
        </p:spPr>
        <p:txBody>
          <a:bodyPr wrap="square" anchor="ctr" lIns="0" rIns="0" tIns="0" bIns="0">
            <a:spAutoFit/>
          </a:bodyPr>
          <a:lstStyle/>
          <a:p>
            <a:pPr algn="l">
              <a:lnSpc>
                <a:spcPct val="115000"/>
              </a:lnSpc>
            </a:pPr>
            <a:r>
              <a:rPr sz="900" b="1">
                <a:solidFill>
                  <a:srgbClr val="A57F2C"/>
                </a:solidFill>
                <a:latin typeface="Montserrat"/>
              </a:rPr>
              <a:t>◆</a:t>
            </a:r>
          </a:p>
        </p:txBody>
      </p:sp>
      <p:sp>
        <p:nvSpPr>
          <p:cNvPr id="30" name="TextBox 29"/>
          <p:cNvSpPr txBox="1"/>
          <p:nvPr/>
        </p:nvSpPr>
        <p:spPr>
          <a:xfrm>
            <a:off x="768096" y="5666232"/>
            <a:ext cx="10874959" cy="274320"/>
          </a:xfrm>
          <a:prstGeom prst="rect">
            <a:avLst/>
          </a:prstGeom>
          <a:noFill/>
        </p:spPr>
        <p:txBody>
          <a:bodyPr wrap="square" lIns="0" rIns="0" tIns="0" bIns="0">
            <a:spAutoFit/>
          </a:bodyPr>
          <a:lstStyle/>
          <a:p>
            <a:r>
              <a:rPr sz="950" u="sng">
                <a:solidFill>
                  <a:srgbClr val="9B2247"/>
                </a:solidFill>
                <a:latin typeface="Montserrat"/>
                <a:hlinkClick r:id="rId13"/>
              </a:rPr>
              <a:t>OEA - MOE. (2025). Informe preliminar de las elecciones del Poder Judicial en Mexico 2025.</a:t>
            </a:r>
          </a:p>
        </p:txBody>
      </p:sp>
      <p:sp>
        <p:nvSpPr>
          <p:cNvPr id="31" name="Rectangle 30"/>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REFERENCIAS</a:t>
            </a:r>
          </a:p>
        </p:txBody>
      </p:sp>
      <p:sp>
        <p:nvSpPr>
          <p:cNvPr id="34" name="TextBox 33"/>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18 /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1956815"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REFERENCIAS - PRENSA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Prensa y opinion publica por orientacion editorial</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11094415" cy="274320"/>
          </a:xfrm>
          <a:prstGeom prst="rect">
            <a:avLst/>
          </a:prstGeom>
          <a:noFill/>
        </p:spPr>
        <p:txBody>
          <a:bodyPr wrap="square" anchor="t" lIns="0" rIns="0" tIns="0" bIns="0">
            <a:spAutoFit/>
          </a:bodyPr>
          <a:lstStyle/>
          <a:p>
            <a:pPr algn="l">
              <a:lnSpc>
                <a:spcPct val="115000"/>
              </a:lnSpc>
            </a:pPr>
            <a:r>
              <a:rPr sz="1150" b="1">
                <a:solidFill>
                  <a:srgbClr val="1E5B4F"/>
                </a:solidFill>
                <a:latin typeface="Montserrat"/>
              </a:rPr>
              <a:t>Pro-gobierno / afin 4T</a:t>
            </a:r>
          </a:p>
        </p:txBody>
      </p:sp>
      <p:sp>
        <p:nvSpPr>
          <p:cNvPr id="8" name="TextBox 7"/>
          <p:cNvSpPr txBox="1"/>
          <p:nvPr/>
        </p:nvSpPr>
        <p:spPr>
          <a:xfrm>
            <a:off x="640080" y="1764792"/>
            <a:ext cx="164592" cy="256032"/>
          </a:xfrm>
          <a:prstGeom prst="rect">
            <a:avLst/>
          </a:prstGeom>
          <a:noFill/>
        </p:spPr>
        <p:txBody>
          <a:bodyPr wrap="square" anchor="ctr" lIns="0" rIns="0" tIns="0" bIns="0">
            <a:spAutoFit/>
          </a:bodyPr>
          <a:lstStyle/>
          <a:p>
            <a:pPr algn="l">
              <a:lnSpc>
                <a:spcPct val="115000"/>
              </a:lnSpc>
            </a:pPr>
            <a:r>
              <a:rPr sz="850" b="1">
                <a:solidFill>
                  <a:srgbClr val="1E5B4F"/>
                </a:solidFill>
                <a:latin typeface="Montserrat"/>
              </a:rPr>
              <a:t>◆</a:t>
            </a:r>
          </a:p>
        </p:txBody>
      </p:sp>
      <p:sp>
        <p:nvSpPr>
          <p:cNvPr id="9" name="TextBox 8"/>
          <p:cNvSpPr txBox="1"/>
          <p:nvPr/>
        </p:nvSpPr>
        <p:spPr>
          <a:xfrm>
            <a:off x="859536" y="1783080"/>
            <a:ext cx="10783519" cy="256032"/>
          </a:xfrm>
          <a:prstGeom prst="rect">
            <a:avLst/>
          </a:prstGeom>
          <a:noFill/>
        </p:spPr>
        <p:txBody>
          <a:bodyPr wrap="square" lIns="0" rIns="0" tIns="0" bIns="0">
            <a:spAutoFit/>
          </a:bodyPr>
          <a:lstStyle/>
          <a:p>
            <a:r>
              <a:rPr sz="900" u="sng">
                <a:solidFill>
                  <a:srgbClr val="9B2247"/>
                </a:solidFill>
                <a:latin typeface="Montserrat"/>
                <a:hlinkClick r:id="rId2"/>
              </a:rPr>
              <a:t>La Jornada. (2026, 1 jun). Congreso declara constitucional la reforma que pospone la eleccion al 2028.</a:t>
            </a:r>
          </a:p>
        </p:txBody>
      </p:sp>
      <p:sp>
        <p:nvSpPr>
          <p:cNvPr id="10" name="TextBox 9"/>
          <p:cNvSpPr txBox="1"/>
          <p:nvPr/>
        </p:nvSpPr>
        <p:spPr>
          <a:xfrm>
            <a:off x="640080" y="2039112"/>
            <a:ext cx="164592" cy="256032"/>
          </a:xfrm>
          <a:prstGeom prst="rect">
            <a:avLst/>
          </a:prstGeom>
          <a:noFill/>
        </p:spPr>
        <p:txBody>
          <a:bodyPr wrap="square" anchor="ctr" lIns="0" rIns="0" tIns="0" bIns="0">
            <a:spAutoFit/>
          </a:bodyPr>
          <a:lstStyle/>
          <a:p>
            <a:pPr algn="l">
              <a:lnSpc>
                <a:spcPct val="115000"/>
              </a:lnSpc>
            </a:pPr>
            <a:r>
              <a:rPr sz="850" b="1">
                <a:solidFill>
                  <a:srgbClr val="1E5B4F"/>
                </a:solidFill>
                <a:latin typeface="Montserrat"/>
              </a:rPr>
              <a:t>◆</a:t>
            </a:r>
          </a:p>
        </p:txBody>
      </p:sp>
      <p:sp>
        <p:nvSpPr>
          <p:cNvPr id="11" name="TextBox 10"/>
          <p:cNvSpPr txBox="1"/>
          <p:nvPr/>
        </p:nvSpPr>
        <p:spPr>
          <a:xfrm>
            <a:off x="859536" y="2057400"/>
            <a:ext cx="10783519" cy="256032"/>
          </a:xfrm>
          <a:prstGeom prst="rect">
            <a:avLst/>
          </a:prstGeom>
          <a:noFill/>
        </p:spPr>
        <p:txBody>
          <a:bodyPr wrap="square" lIns="0" rIns="0" tIns="0" bIns="0">
            <a:spAutoFit/>
          </a:bodyPr>
          <a:lstStyle/>
          <a:p>
            <a:r>
              <a:rPr sz="900" u="sng">
                <a:solidFill>
                  <a:srgbClr val="9B2247"/>
                </a:solidFill>
                <a:latin typeface="Montserrat"/>
                <a:hlinkClick r:id="rId3"/>
              </a:rPr>
              <a:t>La Jornada. (2026, 29 may). Avala Senado la reforma que pospone de 2027 a 2028 la eleccion judicial.</a:t>
            </a:r>
          </a:p>
        </p:txBody>
      </p:sp>
      <p:sp>
        <p:nvSpPr>
          <p:cNvPr id="12" name="TextBox 11"/>
          <p:cNvSpPr txBox="1"/>
          <p:nvPr/>
        </p:nvSpPr>
        <p:spPr>
          <a:xfrm>
            <a:off x="548640" y="2368296"/>
            <a:ext cx="11094415" cy="274320"/>
          </a:xfrm>
          <a:prstGeom prst="rect">
            <a:avLst/>
          </a:prstGeom>
          <a:noFill/>
        </p:spPr>
        <p:txBody>
          <a:bodyPr wrap="square" anchor="t" lIns="0" rIns="0" tIns="0" bIns="0">
            <a:spAutoFit/>
          </a:bodyPr>
          <a:lstStyle/>
          <a:p>
            <a:pPr algn="l">
              <a:lnSpc>
                <a:spcPct val="115000"/>
              </a:lnSpc>
            </a:pPr>
            <a:r>
              <a:rPr sz="1150" b="1">
                <a:solidFill>
                  <a:srgbClr val="A57F2C"/>
                </a:solidFill>
                <a:latin typeface="Montserrat"/>
              </a:rPr>
              <a:t>Institucional / mixta</a:t>
            </a:r>
          </a:p>
        </p:txBody>
      </p:sp>
      <p:sp>
        <p:nvSpPr>
          <p:cNvPr id="13" name="TextBox 12"/>
          <p:cNvSpPr txBox="1"/>
          <p:nvPr/>
        </p:nvSpPr>
        <p:spPr>
          <a:xfrm>
            <a:off x="640080" y="2670048"/>
            <a:ext cx="164592" cy="256032"/>
          </a:xfrm>
          <a:prstGeom prst="rect">
            <a:avLst/>
          </a:prstGeom>
          <a:noFill/>
        </p:spPr>
        <p:txBody>
          <a:bodyPr wrap="square" anchor="ctr" lIns="0" rIns="0" tIns="0" bIns="0">
            <a:spAutoFit/>
          </a:bodyPr>
          <a:lstStyle/>
          <a:p>
            <a:pPr algn="l">
              <a:lnSpc>
                <a:spcPct val="115000"/>
              </a:lnSpc>
            </a:pPr>
            <a:r>
              <a:rPr sz="850" b="1">
                <a:solidFill>
                  <a:srgbClr val="A57F2C"/>
                </a:solidFill>
                <a:latin typeface="Montserrat"/>
              </a:rPr>
              <a:t>◆</a:t>
            </a:r>
          </a:p>
        </p:txBody>
      </p:sp>
      <p:sp>
        <p:nvSpPr>
          <p:cNvPr id="14" name="TextBox 13"/>
          <p:cNvSpPr txBox="1"/>
          <p:nvPr/>
        </p:nvSpPr>
        <p:spPr>
          <a:xfrm>
            <a:off x="859536" y="2688336"/>
            <a:ext cx="10783519" cy="256032"/>
          </a:xfrm>
          <a:prstGeom prst="rect">
            <a:avLst/>
          </a:prstGeom>
          <a:noFill/>
        </p:spPr>
        <p:txBody>
          <a:bodyPr wrap="square" lIns="0" rIns="0" tIns="0" bIns="0">
            <a:spAutoFit/>
          </a:bodyPr>
          <a:lstStyle/>
          <a:p>
            <a:r>
              <a:rPr sz="900" u="sng">
                <a:solidFill>
                  <a:srgbClr val="9B2247"/>
                </a:solidFill>
                <a:latin typeface="Montserrat"/>
                <a:hlinkClick r:id="rId4"/>
              </a:rPr>
              <a:t>Milenio. (2026, 2 jun). Reforma Judicial: que se modifica con la publicacion en el DOF.</a:t>
            </a:r>
          </a:p>
        </p:txBody>
      </p:sp>
      <p:sp>
        <p:nvSpPr>
          <p:cNvPr id="15" name="TextBox 14"/>
          <p:cNvSpPr txBox="1"/>
          <p:nvPr/>
        </p:nvSpPr>
        <p:spPr>
          <a:xfrm>
            <a:off x="640080" y="2944368"/>
            <a:ext cx="164592" cy="256032"/>
          </a:xfrm>
          <a:prstGeom prst="rect">
            <a:avLst/>
          </a:prstGeom>
          <a:noFill/>
        </p:spPr>
        <p:txBody>
          <a:bodyPr wrap="square" anchor="ctr" lIns="0" rIns="0" tIns="0" bIns="0">
            <a:spAutoFit/>
          </a:bodyPr>
          <a:lstStyle/>
          <a:p>
            <a:pPr algn="l">
              <a:lnSpc>
                <a:spcPct val="115000"/>
              </a:lnSpc>
            </a:pPr>
            <a:r>
              <a:rPr sz="850" b="1">
                <a:solidFill>
                  <a:srgbClr val="A57F2C"/>
                </a:solidFill>
                <a:latin typeface="Montserrat"/>
              </a:rPr>
              <a:t>◆</a:t>
            </a:r>
          </a:p>
        </p:txBody>
      </p:sp>
      <p:sp>
        <p:nvSpPr>
          <p:cNvPr id="16" name="TextBox 15"/>
          <p:cNvSpPr txBox="1"/>
          <p:nvPr/>
        </p:nvSpPr>
        <p:spPr>
          <a:xfrm>
            <a:off x="859536" y="2962656"/>
            <a:ext cx="10783519" cy="256032"/>
          </a:xfrm>
          <a:prstGeom prst="rect">
            <a:avLst/>
          </a:prstGeom>
          <a:noFill/>
        </p:spPr>
        <p:txBody>
          <a:bodyPr wrap="square" lIns="0" rIns="0" tIns="0" bIns="0">
            <a:spAutoFit/>
          </a:bodyPr>
          <a:lstStyle/>
          <a:p>
            <a:r>
              <a:rPr sz="900" u="sng">
                <a:solidFill>
                  <a:srgbClr val="9B2247"/>
                </a:solidFill>
                <a:latin typeface="Montserrat"/>
                <a:hlinkClick r:id="rId5"/>
              </a:rPr>
              <a:t>Infobae. (2026, 3 jun). Reforma judicial entra en vigor: el gobierno explica el ABC de la ley.</a:t>
            </a:r>
          </a:p>
        </p:txBody>
      </p:sp>
      <p:sp>
        <p:nvSpPr>
          <p:cNvPr id="17" name="TextBox 16"/>
          <p:cNvSpPr txBox="1"/>
          <p:nvPr/>
        </p:nvSpPr>
        <p:spPr>
          <a:xfrm>
            <a:off x="640080" y="3218688"/>
            <a:ext cx="164592" cy="256032"/>
          </a:xfrm>
          <a:prstGeom prst="rect">
            <a:avLst/>
          </a:prstGeom>
          <a:noFill/>
        </p:spPr>
        <p:txBody>
          <a:bodyPr wrap="square" anchor="ctr" lIns="0" rIns="0" tIns="0" bIns="0">
            <a:spAutoFit/>
          </a:bodyPr>
          <a:lstStyle/>
          <a:p>
            <a:pPr algn="l">
              <a:lnSpc>
                <a:spcPct val="115000"/>
              </a:lnSpc>
            </a:pPr>
            <a:r>
              <a:rPr sz="850" b="1">
                <a:solidFill>
                  <a:srgbClr val="A57F2C"/>
                </a:solidFill>
                <a:latin typeface="Montserrat"/>
              </a:rPr>
              <a:t>◆</a:t>
            </a:r>
          </a:p>
        </p:txBody>
      </p:sp>
      <p:sp>
        <p:nvSpPr>
          <p:cNvPr id="18" name="TextBox 17"/>
          <p:cNvSpPr txBox="1"/>
          <p:nvPr/>
        </p:nvSpPr>
        <p:spPr>
          <a:xfrm>
            <a:off x="859536" y="3236976"/>
            <a:ext cx="10783519" cy="256032"/>
          </a:xfrm>
          <a:prstGeom prst="rect">
            <a:avLst/>
          </a:prstGeom>
          <a:noFill/>
        </p:spPr>
        <p:txBody>
          <a:bodyPr wrap="square" lIns="0" rIns="0" tIns="0" bIns="0">
            <a:spAutoFit/>
          </a:bodyPr>
          <a:lstStyle/>
          <a:p>
            <a:r>
              <a:rPr sz="900" u="sng">
                <a:solidFill>
                  <a:srgbClr val="9B2247"/>
                </a:solidFill>
                <a:latin typeface="Montserrat"/>
                <a:hlinkClick r:id="rId6"/>
              </a:rPr>
              <a:t>El Universal. (2026, 29 may). Senado turna a congresos estatales la reforma judicial.</a:t>
            </a:r>
          </a:p>
        </p:txBody>
      </p:sp>
      <p:sp>
        <p:nvSpPr>
          <p:cNvPr id="19" name="TextBox 18"/>
          <p:cNvSpPr txBox="1"/>
          <p:nvPr/>
        </p:nvSpPr>
        <p:spPr>
          <a:xfrm>
            <a:off x="548640" y="3547872"/>
            <a:ext cx="11094415" cy="274320"/>
          </a:xfrm>
          <a:prstGeom prst="rect">
            <a:avLst/>
          </a:prstGeom>
          <a:noFill/>
        </p:spPr>
        <p:txBody>
          <a:bodyPr wrap="square" anchor="t" lIns="0" rIns="0" tIns="0" bIns="0">
            <a:spAutoFit/>
          </a:bodyPr>
          <a:lstStyle/>
          <a:p>
            <a:pPr algn="l">
              <a:lnSpc>
                <a:spcPct val="115000"/>
              </a:lnSpc>
            </a:pPr>
            <a:r>
              <a:rPr sz="1150" b="1">
                <a:solidFill>
                  <a:srgbClr val="9B2247"/>
                </a:solidFill>
                <a:latin typeface="Montserrat"/>
              </a:rPr>
              <a:t>Critica / contra-gobierno</a:t>
            </a:r>
          </a:p>
        </p:txBody>
      </p:sp>
      <p:sp>
        <p:nvSpPr>
          <p:cNvPr id="20" name="TextBox 19"/>
          <p:cNvSpPr txBox="1"/>
          <p:nvPr/>
        </p:nvSpPr>
        <p:spPr>
          <a:xfrm>
            <a:off x="640080" y="3849624"/>
            <a:ext cx="164592" cy="256032"/>
          </a:xfrm>
          <a:prstGeom prst="rect">
            <a:avLst/>
          </a:prstGeom>
          <a:noFill/>
        </p:spPr>
        <p:txBody>
          <a:bodyPr wrap="square" anchor="ctr" lIns="0" rIns="0" tIns="0" bIns="0">
            <a:spAutoFit/>
          </a:bodyPr>
          <a:lstStyle/>
          <a:p>
            <a:pPr algn="l">
              <a:lnSpc>
                <a:spcPct val="115000"/>
              </a:lnSpc>
            </a:pPr>
            <a:r>
              <a:rPr sz="850" b="1">
                <a:solidFill>
                  <a:srgbClr val="9B2247"/>
                </a:solidFill>
                <a:latin typeface="Montserrat"/>
              </a:rPr>
              <a:t>◆</a:t>
            </a:r>
          </a:p>
        </p:txBody>
      </p:sp>
      <p:sp>
        <p:nvSpPr>
          <p:cNvPr id="21" name="TextBox 20"/>
          <p:cNvSpPr txBox="1"/>
          <p:nvPr/>
        </p:nvSpPr>
        <p:spPr>
          <a:xfrm>
            <a:off x="859536" y="3867912"/>
            <a:ext cx="10783519" cy="256032"/>
          </a:xfrm>
          <a:prstGeom prst="rect">
            <a:avLst/>
          </a:prstGeom>
          <a:noFill/>
        </p:spPr>
        <p:txBody>
          <a:bodyPr wrap="square" lIns="0" rIns="0" tIns="0" bIns="0">
            <a:spAutoFit/>
          </a:bodyPr>
          <a:lstStyle/>
          <a:p>
            <a:r>
              <a:rPr sz="900" u="sng">
                <a:solidFill>
                  <a:srgbClr val="9B2247"/>
                </a:solidFill>
                <a:latin typeface="Montserrat"/>
                <a:hlinkClick r:id="rId7"/>
              </a:rPr>
              <a:t>Reforma. (2026, 20 may). Segunda reforma judicial [Columna de L. C. Ugalde].</a:t>
            </a:r>
          </a:p>
        </p:txBody>
      </p:sp>
      <p:sp>
        <p:nvSpPr>
          <p:cNvPr id="22" name="TextBox 21"/>
          <p:cNvSpPr txBox="1"/>
          <p:nvPr/>
        </p:nvSpPr>
        <p:spPr>
          <a:xfrm>
            <a:off x="640080" y="4123944"/>
            <a:ext cx="164592" cy="256032"/>
          </a:xfrm>
          <a:prstGeom prst="rect">
            <a:avLst/>
          </a:prstGeom>
          <a:noFill/>
        </p:spPr>
        <p:txBody>
          <a:bodyPr wrap="square" anchor="ctr" lIns="0" rIns="0" tIns="0" bIns="0">
            <a:spAutoFit/>
          </a:bodyPr>
          <a:lstStyle/>
          <a:p>
            <a:pPr algn="l">
              <a:lnSpc>
                <a:spcPct val="115000"/>
              </a:lnSpc>
            </a:pPr>
            <a:r>
              <a:rPr sz="850" b="1">
                <a:solidFill>
                  <a:srgbClr val="9B2247"/>
                </a:solidFill>
                <a:latin typeface="Montserrat"/>
              </a:rPr>
              <a:t>◆</a:t>
            </a:r>
          </a:p>
        </p:txBody>
      </p:sp>
      <p:sp>
        <p:nvSpPr>
          <p:cNvPr id="23" name="TextBox 22"/>
          <p:cNvSpPr txBox="1"/>
          <p:nvPr/>
        </p:nvSpPr>
        <p:spPr>
          <a:xfrm>
            <a:off x="859536" y="4142232"/>
            <a:ext cx="10783519" cy="256032"/>
          </a:xfrm>
          <a:prstGeom prst="rect">
            <a:avLst/>
          </a:prstGeom>
          <a:noFill/>
        </p:spPr>
        <p:txBody>
          <a:bodyPr wrap="square" lIns="0" rIns="0" tIns="0" bIns="0">
            <a:spAutoFit/>
          </a:bodyPr>
          <a:lstStyle/>
          <a:p>
            <a:r>
              <a:rPr sz="900" u="sng">
                <a:solidFill>
                  <a:srgbClr val="9B2247"/>
                </a:solidFill>
                <a:latin typeface="Montserrat"/>
                <a:hlinkClick r:id="rId8"/>
              </a:rPr>
              <a:t>Proceso. (2026, 28 may). Madruguete de la 4T: aprueban la reeleccion de magistrados electorales.</a:t>
            </a:r>
          </a:p>
        </p:txBody>
      </p:sp>
      <p:sp>
        <p:nvSpPr>
          <p:cNvPr id="24" name="TextBox 23"/>
          <p:cNvSpPr txBox="1"/>
          <p:nvPr/>
        </p:nvSpPr>
        <p:spPr>
          <a:xfrm>
            <a:off x="640080" y="4398264"/>
            <a:ext cx="164592" cy="256032"/>
          </a:xfrm>
          <a:prstGeom prst="rect">
            <a:avLst/>
          </a:prstGeom>
          <a:noFill/>
        </p:spPr>
        <p:txBody>
          <a:bodyPr wrap="square" anchor="ctr" lIns="0" rIns="0" tIns="0" bIns="0">
            <a:spAutoFit/>
          </a:bodyPr>
          <a:lstStyle/>
          <a:p>
            <a:pPr algn="l">
              <a:lnSpc>
                <a:spcPct val="115000"/>
              </a:lnSpc>
            </a:pPr>
            <a:r>
              <a:rPr sz="850" b="1">
                <a:solidFill>
                  <a:srgbClr val="9B2247"/>
                </a:solidFill>
                <a:latin typeface="Montserrat"/>
              </a:rPr>
              <a:t>◆</a:t>
            </a:r>
          </a:p>
        </p:txBody>
      </p:sp>
      <p:sp>
        <p:nvSpPr>
          <p:cNvPr id="25" name="TextBox 24"/>
          <p:cNvSpPr txBox="1"/>
          <p:nvPr/>
        </p:nvSpPr>
        <p:spPr>
          <a:xfrm>
            <a:off x="859536" y="4416552"/>
            <a:ext cx="10783519" cy="256032"/>
          </a:xfrm>
          <a:prstGeom prst="rect">
            <a:avLst/>
          </a:prstGeom>
          <a:noFill/>
        </p:spPr>
        <p:txBody>
          <a:bodyPr wrap="square" lIns="0" rIns="0" tIns="0" bIns="0">
            <a:spAutoFit/>
          </a:bodyPr>
          <a:lstStyle/>
          <a:p>
            <a:r>
              <a:rPr sz="900" u="sng">
                <a:solidFill>
                  <a:srgbClr val="9B2247"/>
                </a:solidFill>
                <a:latin typeface="Montserrat"/>
                <a:hlinkClick r:id="rId9"/>
              </a:rPr>
              <a:t>El Financiero. (2026, 25 may). Barra de Abogados critica el aplazamiento a 2028.</a:t>
            </a:r>
          </a:p>
        </p:txBody>
      </p:sp>
      <p:sp>
        <p:nvSpPr>
          <p:cNvPr id="26" name="TextBox 25"/>
          <p:cNvSpPr txBox="1"/>
          <p:nvPr/>
        </p:nvSpPr>
        <p:spPr>
          <a:xfrm>
            <a:off x="640080" y="4672584"/>
            <a:ext cx="164592" cy="256032"/>
          </a:xfrm>
          <a:prstGeom prst="rect">
            <a:avLst/>
          </a:prstGeom>
          <a:noFill/>
        </p:spPr>
        <p:txBody>
          <a:bodyPr wrap="square" anchor="ctr" lIns="0" rIns="0" tIns="0" bIns="0">
            <a:spAutoFit/>
          </a:bodyPr>
          <a:lstStyle/>
          <a:p>
            <a:pPr algn="l">
              <a:lnSpc>
                <a:spcPct val="115000"/>
              </a:lnSpc>
            </a:pPr>
            <a:r>
              <a:rPr sz="850" b="1">
                <a:solidFill>
                  <a:srgbClr val="9B2247"/>
                </a:solidFill>
                <a:latin typeface="Montserrat"/>
              </a:rPr>
              <a:t>◆</a:t>
            </a:r>
          </a:p>
        </p:txBody>
      </p:sp>
      <p:sp>
        <p:nvSpPr>
          <p:cNvPr id="27" name="TextBox 26"/>
          <p:cNvSpPr txBox="1"/>
          <p:nvPr/>
        </p:nvSpPr>
        <p:spPr>
          <a:xfrm>
            <a:off x="859536" y="4690872"/>
            <a:ext cx="10783519" cy="256032"/>
          </a:xfrm>
          <a:prstGeom prst="rect">
            <a:avLst/>
          </a:prstGeom>
          <a:noFill/>
        </p:spPr>
        <p:txBody>
          <a:bodyPr wrap="square" lIns="0" rIns="0" tIns="0" bIns="0">
            <a:spAutoFit/>
          </a:bodyPr>
          <a:lstStyle/>
          <a:p>
            <a:r>
              <a:rPr sz="900" u="sng">
                <a:solidFill>
                  <a:srgbClr val="9B2247"/>
                </a:solidFill>
                <a:latin typeface="Montserrat"/>
                <a:hlinkClick r:id="rId10"/>
              </a:rPr>
              <a:t>Expansion Politica. (2026, 29 may). Morena logra reformas 'a modo' para blindarse.</a:t>
            </a:r>
          </a:p>
        </p:txBody>
      </p:sp>
      <p:sp>
        <p:nvSpPr>
          <p:cNvPr id="28" name="TextBox 27"/>
          <p:cNvSpPr txBox="1"/>
          <p:nvPr/>
        </p:nvSpPr>
        <p:spPr>
          <a:xfrm>
            <a:off x="548640" y="5943600"/>
            <a:ext cx="11094415" cy="365760"/>
          </a:xfrm>
          <a:prstGeom prst="rect">
            <a:avLst/>
          </a:prstGeom>
          <a:noFill/>
        </p:spPr>
        <p:txBody>
          <a:bodyPr wrap="square" anchor="t" lIns="0" rIns="0" tIns="0" bIns="0">
            <a:spAutoFit/>
          </a:bodyPr>
          <a:lstStyle/>
          <a:p>
            <a:pPr algn="l">
              <a:lnSpc>
                <a:spcPct val="120000"/>
              </a:lnSpc>
            </a:pPr>
            <a:r>
              <a:rPr sz="950" b="0">
                <a:solidFill>
                  <a:srgbClr val="98989A"/>
                </a:solidFill>
                <a:latin typeface="Montserrat"/>
              </a:rPr>
              <a:t>Orientacion editorial predominante frente al gobierno federal (4T). Valoracion interpretativa, no etiqueta absoluta.</a:t>
            </a:r>
          </a:p>
        </p:txBody>
      </p:sp>
      <p:sp>
        <p:nvSpPr>
          <p:cNvPr id="29" name="Rectangle 28"/>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REFERENCIAS</a:t>
            </a:r>
          </a:p>
        </p:txBody>
      </p:sp>
      <p:sp>
        <p:nvSpPr>
          <p:cNvPr id="32" name="TextBox 31"/>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19 /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gradFill rotWithShape="1">
            <a:gsLst>
              <a:gs pos="0">
                <a:srgbClr val="3D0A1C"/>
              </a:gs>
              <a:gs pos="100000">
                <a:srgbClr val="1A1A1A"/>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08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20240"/>
            <a:ext cx="10362895" cy="365760"/>
          </a:xfrm>
          <a:prstGeom prst="rect">
            <a:avLst/>
          </a:prstGeom>
          <a:noFill/>
        </p:spPr>
        <p:txBody>
          <a:bodyPr wrap="square" anchor="t" lIns="0" rIns="0" tIns="0" bIns="0">
            <a:spAutoFit/>
          </a:bodyPr>
          <a:lstStyle/>
          <a:p>
            <a:pPr algn="ctr">
              <a:lnSpc>
                <a:spcPct val="115000"/>
              </a:lnSpc>
            </a:pPr>
            <a:r>
              <a:rPr sz="1300" b="1">
                <a:solidFill>
                  <a:srgbClr val="98989A"/>
                </a:solidFill>
                <a:latin typeface="Montserrat"/>
              </a:rPr>
              <a:t>CONSULTA OPCIONAL</a:t>
            </a:r>
          </a:p>
        </p:txBody>
      </p:sp>
      <p:sp>
        <p:nvSpPr>
          <p:cNvPr id="6" name="Rectangle 5"/>
          <p:cNvSpPr/>
          <p:nvPr/>
        </p:nvSpPr>
        <p:spPr>
          <a:xfrm>
            <a:off x="5455767" y="2377440"/>
            <a:ext cx="128016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560320"/>
            <a:ext cx="11094415" cy="1005840"/>
          </a:xfrm>
          <a:prstGeom prst="rect">
            <a:avLst/>
          </a:prstGeom>
          <a:noFill/>
        </p:spPr>
        <p:txBody>
          <a:bodyPr wrap="square" anchor="t" lIns="0" rIns="0" tIns="0" bIns="0">
            <a:spAutoFit/>
          </a:bodyPr>
          <a:lstStyle/>
          <a:p>
            <a:pPr algn="ctr">
              <a:lnSpc>
                <a:spcPct val="115000"/>
              </a:lnSpc>
            </a:pPr>
            <a:r>
              <a:rPr sz="5400" b="1">
                <a:solidFill>
                  <a:srgbClr val="E6D194"/>
                </a:solidFill>
                <a:latin typeface="Montserrat"/>
              </a:rPr>
              <a:t>ANEXO</a:t>
            </a:r>
          </a:p>
        </p:txBody>
      </p:sp>
      <p:sp>
        <p:nvSpPr>
          <p:cNvPr id="8" name="TextBox 7"/>
          <p:cNvSpPr txBox="1"/>
          <p:nvPr/>
        </p:nvSpPr>
        <p:spPr>
          <a:xfrm>
            <a:off x="548640" y="3657600"/>
            <a:ext cx="11094415" cy="457200"/>
          </a:xfrm>
          <a:prstGeom prst="rect">
            <a:avLst/>
          </a:prstGeom>
          <a:noFill/>
        </p:spPr>
        <p:txBody>
          <a:bodyPr wrap="square" anchor="t" lIns="0" rIns="0" tIns="0" bIns="0">
            <a:spAutoFit/>
          </a:bodyPr>
          <a:lstStyle/>
          <a:p>
            <a:pPr algn="ctr">
              <a:lnSpc>
                <a:spcPct val="115000"/>
              </a:lnSpc>
            </a:pPr>
            <a:r>
              <a:rPr sz="1900" b="0">
                <a:solidFill>
                  <a:srgbClr val="F5F0EB"/>
                </a:solidFill>
                <a:latin typeface="Montserrat"/>
              </a:rPr>
              <a:t>Articulos completos - texto integro (CPEUM y decreto DOF)</a:t>
            </a:r>
          </a:p>
        </p:txBody>
      </p:sp>
      <p:sp>
        <p:nvSpPr>
          <p:cNvPr id="9" name="TextBox 8"/>
          <p:cNvSpPr txBox="1"/>
          <p:nvPr/>
        </p:nvSpPr>
        <p:spPr>
          <a:xfrm>
            <a:off x="1463040" y="4434840"/>
            <a:ext cx="9265615" cy="822960"/>
          </a:xfrm>
          <a:prstGeom prst="rect">
            <a:avLst/>
          </a:prstGeom>
          <a:noFill/>
        </p:spPr>
        <p:txBody>
          <a:bodyPr wrap="square" anchor="t" lIns="0" rIns="0" tIns="0" bIns="0">
            <a:spAutoFit/>
          </a:bodyPr>
          <a:lstStyle/>
          <a:p>
            <a:pPr algn="ctr">
              <a:lnSpc>
                <a:spcPct val="140000"/>
              </a:lnSpc>
            </a:pPr>
            <a:r>
              <a:rPr sz="1200" b="0">
                <a:solidFill>
                  <a:srgbClr val="98989A"/>
                </a:solidFill>
                <a:latin typeface="Montserrat"/>
              </a:rPr>
              <a:t>Cada articulo reformado, integro y paginado, con lo modificado subrayado. Navega o regresa al indice cuando desees.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191256"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35 - FRACCION IX (integra)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Revocacion de mandato: fecha de la jornada  (1/3)</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IX. Participar en los procesos de revocacion de mandato.</a:t>
            </a:r>
          </a:p>
          <a:p>
            <a:pPr>
              <a:lnSpc>
                <a:spcPct val="118000"/>
              </a:lnSpc>
              <a:spcAft>
                <a:spcPts val="300"/>
              </a:spcAft>
            </a:pPr>
            <a:r>
              <a:rPr sz="1150" b="0" u="none">
                <a:solidFill>
                  <a:srgbClr val="1A1A1A"/>
                </a:solidFill>
                <a:latin typeface="Montserrat"/>
              </a:rPr>
              <a:t>El que se refiere a la revocacion de mandato del Presidente de la Republica electo popularmente se llevara a cabo conforme a lo siguiente:</a:t>
            </a:r>
          </a:p>
          <a:p>
            <a:pPr>
              <a:lnSpc>
                <a:spcPct val="118000"/>
              </a:lnSpc>
              <a:spcAft>
                <a:spcPts val="300"/>
              </a:spcAft>
            </a:pPr>
            <a:r>
              <a:rPr sz="1150" b="0" u="none">
                <a:solidFill>
                  <a:srgbClr val="1A1A1A"/>
                </a:solidFill>
                <a:latin typeface="Montserrat"/>
              </a:rPr>
              <a:t>1o. Sera convocado por el Instituto Nacional Electoral a peticion de los ciudadanos y ciudadanas, en un numero equivalente, al menos, al tres por ciento de los inscritos en la lista nominal de electores, siempre y cuando en la solicitud correspondan a por lo menos diecisiete entidades federativas y que representen, como minimo, el tres por ciento de la lista nominal de electores de cada una de ellas.</a:t>
            </a:r>
          </a:p>
          <a:p>
            <a:pPr>
              <a:lnSpc>
                <a:spcPct val="118000"/>
              </a:lnSpc>
              <a:spcAft>
                <a:spcPts val="300"/>
              </a:spcAft>
            </a:pPr>
            <a:r>
              <a:rPr sz="1150" b="0" u="none">
                <a:solidFill>
                  <a:srgbClr val="1A1A1A"/>
                </a:solidFill>
                <a:latin typeface="Montserrat"/>
              </a:rPr>
              <a:t>El Instituto, dentro de los siguientes treinta dias a que se reciba la solicitud, verificara el requisito establecido en el parrafo anterior y emitira inmediatamente la convocatoria al proceso para la revocacion de mandato.</a:t>
            </a:r>
          </a:p>
          <a:p>
            <a:pPr>
              <a:lnSpc>
                <a:spcPct val="118000"/>
              </a:lnSpc>
              <a:spcAft>
                <a:spcPts val="300"/>
              </a:spcAft>
            </a:pPr>
            <a:r>
              <a:rPr sz="1150" b="0" u="none">
                <a:solidFill>
                  <a:srgbClr val="1A1A1A"/>
                </a:solidFill>
                <a:latin typeface="Montserrat"/>
              </a:rPr>
              <a:t>2o. Se podra solicitar en una sola ocasion y durante los tres meses posteriores a la conclusion del tercer ano del periodo constitucional.</a:t>
            </a:r>
          </a:p>
          <a:p>
            <a:pPr>
              <a:lnSpc>
                <a:spcPct val="118000"/>
              </a:lnSpc>
              <a:spcAft>
                <a:spcPts val="300"/>
              </a:spcAft>
            </a:pPr>
            <a:r>
              <a:rPr sz="1150" b="0" u="none">
                <a:solidFill>
                  <a:srgbClr val="1A1A1A"/>
                </a:solidFill>
                <a:latin typeface="Montserrat"/>
              </a:rPr>
              <a:t>Los ciudadanos y ciudadanas podran recabar firmas para la solicitud de revocacion de mandato durante el mes previo a la fecha prevista en el parrafo anterior. El Instituto emitira, a partir de esta fecha, los formatos y medios para la recopilacion de firmas, asi como los lineamientos para las actividades relacionadas.</a:t>
            </a:r>
          </a:p>
        </p:txBody>
      </p:sp>
      <p:sp>
        <p:nvSpPr>
          <p:cNvPr id="12" name="Rectangle 11"/>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IX. Participar en los procesos de revocacion de mandato.</a:t>
            </a:r>
          </a:p>
          <a:p>
            <a:pPr>
              <a:lnSpc>
                <a:spcPct val="118000"/>
              </a:lnSpc>
              <a:spcAft>
                <a:spcPts val="300"/>
              </a:spcAft>
            </a:pPr>
            <a:r>
              <a:rPr sz="1150" b="0" u="none">
                <a:solidFill>
                  <a:srgbClr val="1A1A1A"/>
                </a:solidFill>
                <a:latin typeface="Montserrat"/>
              </a:rPr>
              <a:t>El que se refiere a la revocacion de mandato del Presidente de la Republica electo popularmente se llevara a cabo conforme a lo siguiente:</a:t>
            </a:r>
          </a:p>
          <a:p>
            <a:pPr>
              <a:lnSpc>
                <a:spcPct val="118000"/>
              </a:lnSpc>
              <a:spcAft>
                <a:spcPts val="300"/>
              </a:spcAft>
            </a:pPr>
            <a:r>
              <a:rPr sz="1150" b="0" u="none">
                <a:solidFill>
                  <a:srgbClr val="1A1A1A"/>
                </a:solidFill>
                <a:latin typeface="Montserrat"/>
              </a:rPr>
              <a:t>1o. Sera convocado por el Instituto Nacional Electoral a peticion de los ciudadanos y ciudadanas, en un numero equivalente, al menos, al tres por ciento de los inscritos en la lista nominal de electores, siempre y cuando en la solicitud correspondan a por lo menos diecisiete entidades federativas y que representen, como minimo, el tres por ciento de la lista nominal de electores de cada una de ellas.</a:t>
            </a:r>
          </a:p>
          <a:p>
            <a:pPr>
              <a:lnSpc>
                <a:spcPct val="118000"/>
              </a:lnSpc>
              <a:spcAft>
                <a:spcPts val="300"/>
              </a:spcAft>
            </a:pPr>
            <a:r>
              <a:rPr sz="1150" b="0" u="none">
                <a:solidFill>
                  <a:srgbClr val="1A1A1A"/>
                </a:solidFill>
                <a:latin typeface="Montserrat"/>
              </a:rPr>
              <a:t>El Instituto, dentro de los siguientes treinta dias a que se reciba la solicitud, verificara el requisito establecido en el parrafo anterior y emitira inmediatamente la convocatoria al proceso para la revocacion de mandato.</a:t>
            </a:r>
          </a:p>
          <a:p>
            <a:pPr>
              <a:lnSpc>
                <a:spcPct val="118000"/>
              </a:lnSpc>
              <a:spcAft>
                <a:spcPts val="300"/>
              </a:spcAft>
            </a:pPr>
            <a:r>
              <a:rPr sz="1150" b="0" u="none">
                <a:solidFill>
                  <a:srgbClr val="1A1A1A"/>
                </a:solidFill>
                <a:latin typeface="Montserrat"/>
              </a:rPr>
              <a:t>2o. Se podra solicitar en una sola ocasion y durante los tres meses posteriores a la conclusion del tercer ano del periodo constitucional.</a:t>
            </a:r>
          </a:p>
          <a:p>
            <a:pPr>
              <a:lnSpc>
                <a:spcPct val="118000"/>
              </a:lnSpc>
              <a:spcAft>
                <a:spcPts val="300"/>
              </a:spcAft>
            </a:pPr>
            <a:r>
              <a:rPr sz="1150" b="0" u="none">
                <a:solidFill>
                  <a:srgbClr val="1A1A1A"/>
                </a:solidFill>
                <a:latin typeface="Montserrat"/>
              </a:rPr>
              <a:t>Los ciudadanos y ciudadanas podran recabar firmas para la solicitud de revocacion de mandato durante el mes previo a la fecha prevista en el parrafo anterior. El Instituto emitira, a partir de esta fecha, los formatos y medios para la recopilacion de firmas, asi como los lineamientos para las actividades relacionadas.</a:t>
            </a:r>
          </a:p>
        </p:txBody>
      </p:sp>
      <p:sp>
        <p:nvSpPr>
          <p:cNvPr id="16" name="TextBox 15"/>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7" name="Rectangle 16"/>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0" name="TextBox 19"/>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21 /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191256"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35 - FRACCION IX (integra)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Revocacion de mandato: fecha de la jornada  (2/3)</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3o. Se realizara mediante votacion libre, directa y secreta de ciudadanos y ciudadanas inscritos en la lista nominal, </a:t>
            </a:r>
            <a:r>
              <a:rPr sz="1150" b="1" u="sng">
                <a:solidFill>
                  <a:srgbClr val="6B1531"/>
                </a:solidFill>
                <a:latin typeface="Montserrat"/>
              </a:rPr>
              <a:t>el domingo siguiente a los noventa dias posteriores a la convocatoria y en fecha no coincidente</a:t>
            </a:r>
            <a:r>
              <a:rPr sz="1150" b="0" u="none">
                <a:solidFill>
                  <a:srgbClr val="1A1A1A"/>
                </a:solidFill>
                <a:latin typeface="Montserrat"/>
              </a:rPr>
              <a:t> con las jornadas electorales, federal o locales.</a:t>
            </a:r>
          </a:p>
          <a:p>
            <a:pPr>
              <a:lnSpc>
                <a:spcPct val="118000"/>
              </a:lnSpc>
              <a:spcAft>
                <a:spcPts val="300"/>
              </a:spcAft>
            </a:pPr>
            <a:r>
              <a:rPr sz="1150" b="0" u="none">
                <a:solidFill>
                  <a:srgbClr val="1A1A1A"/>
                </a:solidFill>
                <a:latin typeface="Montserrat"/>
              </a:rPr>
              <a:t>4o. Para que el proceso de revocacion de mandato sea valido debera haber una participacion de, por lo menos, el cuarenta por ciento de las personas inscritas en la lista nominal de electores. La revocacion de mandato solo procedera por mayoria absoluta.</a:t>
            </a:r>
          </a:p>
          <a:p>
            <a:pPr>
              <a:lnSpc>
                <a:spcPct val="118000"/>
              </a:lnSpc>
              <a:spcAft>
                <a:spcPts val="300"/>
              </a:spcAft>
            </a:pPr>
            <a:r>
              <a:rPr sz="1150" b="0" u="none">
                <a:solidFill>
                  <a:srgbClr val="1A1A1A"/>
                </a:solidFill>
                <a:latin typeface="Montserrat"/>
              </a:rPr>
              <a:t>5o. El Instituto Nacional Electoral tendra a su cargo, en forma directa, la organizacion, desarrollo y computo de la votacion. Emitira los resultados de los procesos de revocacion de mandato del titular del Poder Ejecutivo Federal, los cuales podran ser impugnados ante la Sala Superior del Tribunal Electoral del Poder Judicial de la Federacion, en los terminos de lo dispuesto en la fraccion VI del articulo 41, asi como en la fraccion III del articulo 99.</a:t>
            </a:r>
          </a:p>
          <a:p>
            <a:pPr>
              <a:lnSpc>
                <a:spcPct val="118000"/>
              </a:lnSpc>
              <a:spcAft>
                <a:spcPts val="300"/>
              </a:spcAft>
            </a:pPr>
            <a:r>
              <a:rPr sz="1150" b="0" u="none">
                <a:solidFill>
                  <a:srgbClr val="1A1A1A"/>
                </a:solidFill>
                <a:latin typeface="Montserrat"/>
              </a:rPr>
              <a:t>6o. La Sala Superior del Tribunal Electoral del Poder Judicial de la Federacion realizara el computo final del proceso de revocacion de mandato, una vez resueltas las impugnaciones que se hubieren interpuesto. En su caso, emitira la declaratoria de revocacion y se estara a lo dispuesto en el articulo 84.</a:t>
            </a:r>
          </a:p>
          <a:p>
            <a:pPr>
              <a:lnSpc>
                <a:spcPct val="118000"/>
              </a:lnSpc>
              <a:spcAft>
                <a:spcPts val="300"/>
              </a:spcAft>
            </a:pPr>
            <a:r>
              <a:rPr sz="1150" b="0" u="none">
                <a:solidFill>
                  <a:srgbClr val="1A1A1A"/>
                </a:solidFill>
                <a:latin typeface="Montserrat"/>
              </a:rPr>
              <a:t>7o. Queda prohibido el uso de recursos publicos para la recoleccion de firmas, asi como con fines de promocion y propaganda relacionados con los procesos de revocacion de mandato.</a:t>
            </a:r>
          </a:p>
        </p:txBody>
      </p:sp>
      <p:sp>
        <p:nvSpPr>
          <p:cNvPr id="12" name="Rectangle 11"/>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3o. Se realizara mediante votacion libre, directa y secreta de ciudadanos y ciudadanas inscritos en la lista nominal, </a:t>
            </a:r>
            <a:r>
              <a:rPr sz="1150" b="1" u="sng">
                <a:solidFill>
                  <a:srgbClr val="1E5B4F"/>
                </a:solidFill>
                <a:latin typeface="Montserrat"/>
              </a:rPr>
              <a:t>el primer domingo de junio del cuarto ano del periodo constitucional de forma coincidente</a:t>
            </a:r>
            <a:r>
              <a:rPr sz="1150" b="0" u="none">
                <a:solidFill>
                  <a:srgbClr val="1A1A1A"/>
                </a:solidFill>
                <a:latin typeface="Montserrat"/>
              </a:rPr>
              <a:t> con las jornadas electorales, federal o locales.</a:t>
            </a:r>
          </a:p>
          <a:p>
            <a:pPr>
              <a:lnSpc>
                <a:spcPct val="118000"/>
              </a:lnSpc>
              <a:spcAft>
                <a:spcPts val="300"/>
              </a:spcAft>
            </a:pPr>
            <a:r>
              <a:rPr sz="1150" b="0" u="none">
                <a:solidFill>
                  <a:srgbClr val="1A1A1A"/>
                </a:solidFill>
                <a:latin typeface="Montserrat"/>
              </a:rPr>
              <a:t>4o. Para que el proceso de revocacion de mandato sea valido debera haber una participacion de, por lo menos, el cuarenta por ciento de las personas inscritas en la lista nominal de electores. La revocacion de mandato solo procedera por mayoria absoluta.</a:t>
            </a:r>
          </a:p>
          <a:p>
            <a:pPr>
              <a:lnSpc>
                <a:spcPct val="118000"/>
              </a:lnSpc>
              <a:spcAft>
                <a:spcPts val="300"/>
              </a:spcAft>
            </a:pPr>
            <a:r>
              <a:rPr sz="1150" b="0" u="none">
                <a:solidFill>
                  <a:srgbClr val="1A1A1A"/>
                </a:solidFill>
                <a:latin typeface="Montserrat"/>
              </a:rPr>
              <a:t>5o. El Instituto Nacional Electoral tendra a su cargo, en forma directa, la organizacion, desarrollo y computo de la votacion. Emitira los resultados de los procesos de revocacion de mandato del titular del Poder Ejecutivo Federal, los cuales podran ser impugnados ante la Sala Superior del Tribunal Electoral del Poder Judicial de la Federacion, en los terminos de lo dispuesto en la fraccion VI del articulo 41, asi como en la fraccion III del articulo 99.</a:t>
            </a:r>
          </a:p>
          <a:p>
            <a:pPr>
              <a:lnSpc>
                <a:spcPct val="118000"/>
              </a:lnSpc>
              <a:spcAft>
                <a:spcPts val="300"/>
              </a:spcAft>
            </a:pPr>
            <a:r>
              <a:rPr sz="1150" b="0" u="none">
                <a:solidFill>
                  <a:srgbClr val="1A1A1A"/>
                </a:solidFill>
                <a:latin typeface="Montserrat"/>
              </a:rPr>
              <a:t>6o. La Sala Superior del Tribunal Electoral del Poder Judicial de la Federacion realizara el computo final del proceso de revocacion de mandato, una vez resueltas las impugnaciones que se hubieren interpuesto. En su caso, emitira la declaratoria de revocacion y se estara a lo dispuesto en el articulo 84.</a:t>
            </a:r>
          </a:p>
          <a:p>
            <a:pPr>
              <a:lnSpc>
                <a:spcPct val="118000"/>
              </a:lnSpc>
              <a:spcAft>
                <a:spcPts val="300"/>
              </a:spcAft>
            </a:pPr>
            <a:r>
              <a:rPr sz="1150" b="0" u="none">
                <a:solidFill>
                  <a:srgbClr val="1A1A1A"/>
                </a:solidFill>
                <a:latin typeface="Montserrat"/>
              </a:rPr>
              <a:t>7o. Queda prohibido el uso de recursos publicos para la recoleccion de firmas, asi como con fines de promocion y propaganda relacionados con los procesos de revocacion de mandato.</a:t>
            </a:r>
          </a:p>
        </p:txBody>
      </p:sp>
      <p:sp>
        <p:nvSpPr>
          <p:cNvPr id="16" name="TextBox 15"/>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7" name="Rectangle 16"/>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0" name="TextBox 19"/>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22 /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191256"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35 - FRACCION IX (integra)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Revocacion de mandato: fecha de la jornada  (3/3)</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Instituto y los organismos publicos locales, segun corresponda, promoveran la participacion ciudadana y seran la unica instancia a cargo de la difusion de los mismos. La promocion sera objetiva, imparcial y con fines informativos.</a:t>
            </a:r>
          </a:p>
          <a:p>
            <a:pPr>
              <a:lnSpc>
                <a:spcPct val="118000"/>
              </a:lnSpc>
              <a:spcAft>
                <a:spcPts val="300"/>
              </a:spcAft>
            </a:pPr>
            <a:r>
              <a:rPr sz="1150" b="0" u="none">
                <a:solidFill>
                  <a:srgbClr val="1A1A1A"/>
                </a:solidFill>
                <a:latin typeface="Montserrat"/>
              </a:rPr>
              <a:t>Ninguna otra persona fisica o moral, sea a titulo propio o por cuenta de terceros, podra contratar propaganda en radio y television dirigida a influir en la opinion de los ciudadanos y ciudadanas.</a:t>
            </a:r>
          </a:p>
          <a:p>
            <a:pPr>
              <a:lnSpc>
                <a:spcPct val="118000"/>
              </a:lnSpc>
              <a:spcAft>
                <a:spcPts val="300"/>
              </a:spcAft>
            </a:pPr>
            <a:r>
              <a:rPr sz="1150" b="0" u="none">
                <a:solidFill>
                  <a:srgbClr val="1A1A1A"/>
                </a:solidFill>
                <a:latin typeface="Montserrat"/>
              </a:rPr>
              <a:t>Durante el tiempo que comprende el proceso de revocacion de mandato, desde la convocatoria y hasta la conclusion de la jornada, debera suspenderse la difusion en los medios de comunicacion de toda propaganda gubernamental de cualquier orden de gobierno, salvo las campanas de informacion de los servicios educativos y de salud o las necesarias para la proteccion civil.</a:t>
            </a:r>
          </a:p>
          <a:p>
            <a:pPr>
              <a:lnSpc>
                <a:spcPct val="118000"/>
              </a:lnSpc>
              <a:spcAft>
                <a:spcPts val="300"/>
              </a:spcAft>
            </a:pPr>
            <a:r>
              <a:rPr sz="1150" b="0" u="none">
                <a:solidFill>
                  <a:srgbClr val="1A1A1A"/>
                </a:solidFill>
                <a:latin typeface="Montserrat"/>
              </a:rPr>
              <a:t>8o. El Congreso de la Union emitira la ley reglamentaria.</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Instituto y los organismos publicos locales, segun corresponda, promoveran la participacion ciudadana y seran la unica instancia a cargo de la difusion de los mismos. La promocion sera objetiva, imparcial y con fines informativos.</a:t>
            </a:r>
          </a:p>
          <a:p>
            <a:pPr>
              <a:lnSpc>
                <a:spcPct val="118000"/>
              </a:lnSpc>
              <a:spcAft>
                <a:spcPts val="300"/>
              </a:spcAft>
            </a:pPr>
            <a:r>
              <a:rPr sz="1150" b="0" u="none">
                <a:solidFill>
                  <a:srgbClr val="1A1A1A"/>
                </a:solidFill>
                <a:latin typeface="Montserrat"/>
              </a:rPr>
              <a:t>Ninguna otra persona fisica o moral, sea a titulo propio o por cuenta de terceros, podra contratar propaganda en radio y television dirigida a influir en la opinion de los ciudadanos y ciudadanas.</a:t>
            </a:r>
          </a:p>
          <a:p>
            <a:pPr>
              <a:lnSpc>
                <a:spcPct val="118000"/>
              </a:lnSpc>
              <a:spcAft>
                <a:spcPts val="300"/>
              </a:spcAft>
            </a:pPr>
            <a:r>
              <a:rPr sz="1150" b="0" u="none">
                <a:solidFill>
                  <a:srgbClr val="1A1A1A"/>
                </a:solidFill>
                <a:latin typeface="Montserrat"/>
              </a:rPr>
              <a:t>Durante el tiempo que comprende el proceso de revocacion de mandato, desde la convocatoria y hasta la conclusion de la jornada, debera suspenderse la difusion en los medios de comunicacion de toda propaganda gubernamental de cualquier orden de gobierno, salvo las campanas de informacion de los servicios educativos y de salud o las necesarias para la proteccion civil.</a:t>
            </a:r>
          </a:p>
          <a:p>
            <a:pPr>
              <a:lnSpc>
                <a:spcPct val="118000"/>
              </a:lnSpc>
              <a:spcAft>
                <a:spcPts val="300"/>
              </a:spcAft>
            </a:pPr>
            <a:r>
              <a:rPr sz="1150" b="0" u="none">
                <a:solidFill>
                  <a:srgbClr val="1A1A1A"/>
                </a:solidFill>
                <a:latin typeface="Montserrat"/>
              </a:rPr>
              <a:t>8o. El Congreso de la Union emitira la ley reglamentaria.</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La revocacion de mandato se fija al 1er domingo de junio del 4o ano y coincide con las jornadas electorales (en este sexenio, 2028).</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I: 'dotar de mayor racionalidad, eficiencia y funcionalidad al sistema electoral... evitando la duplicidad de estructuras y recursos'.</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23 /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94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La SCJN podra funcionar en dos secciones  (1/3)</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 administracion del Poder Judicial de la Federacion estara a cargo de un organo de administracion judicial, mientras que la disciplina de su personal estara a cargo del Tribunal de Disciplina Judicial, en los terminos que, conforme a las bases que senala esta Constitucion, establezcan las leyes.</a:t>
            </a:r>
          </a:p>
          <a:p>
            <a:pPr>
              <a:lnSpc>
                <a:spcPct val="118000"/>
              </a:lnSpc>
              <a:spcAft>
                <a:spcPts val="300"/>
              </a:spcAft>
            </a:pPr>
            <a:r>
              <a:rPr sz="1150" b="0" u="none">
                <a:solidFill>
                  <a:srgbClr val="1A1A1A"/>
                </a:solidFill>
                <a:latin typeface="Montserrat"/>
              </a:rPr>
              <a:t>La Suprema Corte de Justicia de la Nacion se compondra de nueve integrantes, Ministras y Ministros, y </a:t>
            </a:r>
            <a:r>
              <a:rPr sz="1150" b="1" u="sng">
                <a:solidFill>
                  <a:srgbClr val="6B1531"/>
                </a:solidFill>
                <a:latin typeface="Montserrat"/>
              </a:rPr>
              <a:t>funcionara en Pleno</a:t>
            </a:r>
            <a:r>
              <a:rPr sz="1150" b="0" u="none">
                <a:solidFill>
                  <a:srgbClr val="1A1A1A"/>
                </a:solidFill>
                <a:latin typeface="Montserrat"/>
              </a:rPr>
              <a:t>. Su presidencia se renovara cada dos anos de manera rotatoria en funcion del numero de votos que obtenga cada candidatura en la eleccion respectiva, correspondiendo la presidencia a quienes alcancen mayor votacion.</a:t>
            </a:r>
          </a:p>
          <a:p>
            <a:pPr>
              <a:lnSpc>
                <a:spcPct val="118000"/>
              </a:lnSpc>
              <a:spcAft>
                <a:spcPts val="300"/>
              </a:spcAft>
            </a:pPr>
            <a:r>
              <a:rPr sz="1150" b="0" u="none">
                <a:solidFill>
                  <a:srgbClr val="1A1A1A"/>
                </a:solidFill>
                <a:latin typeface="Montserrat"/>
              </a:rPr>
              <a:t>En los terminos que la ley disponga las </a:t>
            </a:r>
            <a:r>
              <a:rPr sz="1150" b="1" u="sng">
                <a:solidFill>
                  <a:srgbClr val="6B1531"/>
                </a:solidFill>
                <a:latin typeface="Montserrat"/>
              </a:rPr>
              <a:t>sesiones del Pleno seran publicas</a:t>
            </a:r>
            <a:r>
              <a:rPr sz="1150" b="0" u="none">
                <a:solidFill>
                  <a:srgbClr val="1A1A1A"/>
                </a:solidFill>
                <a:latin typeface="Montserrat"/>
              </a:rPr>
              <a:t>.</a:t>
            </a:r>
          </a:p>
          <a:p>
            <a:pPr>
              <a:lnSpc>
                <a:spcPct val="118000"/>
              </a:lnSpc>
              <a:spcAft>
                <a:spcPts val="300"/>
              </a:spcAft>
            </a:pPr>
            <a:r>
              <a:rPr sz="1150" b="0" u="none">
                <a:solidFill>
                  <a:srgbClr val="1A1A1A"/>
                </a:solidFill>
                <a:latin typeface="Montserrat"/>
              </a:rPr>
              <a:t>La competencia de la Suprema Corte, su </a:t>
            </a:r>
            <a:r>
              <a:rPr sz="1150" b="1" u="sng">
                <a:solidFill>
                  <a:srgbClr val="6B1531"/>
                </a:solidFill>
                <a:latin typeface="Montserrat"/>
              </a:rPr>
              <a:t>funcionamiento en Pleno</a:t>
            </a:r>
            <a:r>
              <a:rPr sz="1150" b="0" u="none">
                <a:solidFill>
                  <a:srgbClr val="1A1A1A"/>
                </a:solidFill>
                <a:latin typeface="Montserrat"/>
              </a:rPr>
              <a:t>, la competencia de los Plenos Regionales, de los Tribunales de Circuito, de los Juzgados de Distrito y del Tribunal Electoral, asi como las responsabilidades en que incurran las servidoras y los servidores publicos del Poder Judicial de la Federacion, se regiran por lo que dispongan las leyes y los acuerdos generales correspondientes, de conformidad con las bases que esta Constitucion establece.</a:t>
            </a:r>
          </a:p>
        </p:txBody>
      </p:sp>
      <p:sp>
        <p:nvSpPr>
          <p:cNvPr id="12" name="Rectangle 11"/>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 administracion del Poder Judicial de la Federacion estara a cargo de un organo de administracion judicial, mientras que la disciplina de su personal estara a cargo del Tribunal de Disciplina Judicial, en los terminos que, conforme a las bases que senala esta Constitucion, establezcan las leyes.</a:t>
            </a:r>
          </a:p>
          <a:p>
            <a:pPr>
              <a:lnSpc>
                <a:spcPct val="118000"/>
              </a:lnSpc>
              <a:spcAft>
                <a:spcPts val="300"/>
              </a:spcAft>
            </a:pPr>
            <a:r>
              <a:rPr sz="1150" b="0" u="none">
                <a:solidFill>
                  <a:srgbClr val="1A1A1A"/>
                </a:solidFill>
                <a:latin typeface="Montserrat"/>
              </a:rPr>
              <a:t>La Suprema Corte de Justicia de la Nacion se compondra de nueve integrantes, Ministras y Ministros, y funcionara en Pleno; </a:t>
            </a:r>
            <a:r>
              <a:rPr sz="1150" b="1" u="sng">
                <a:solidFill>
                  <a:srgbClr val="1E5B4F"/>
                </a:solidFill>
                <a:latin typeface="Montserrat"/>
              </a:rPr>
              <a:t>tambien, con aprobacion del Pleno, podra funcionar en dos secciones</a:t>
            </a:r>
            <a:r>
              <a:rPr sz="1150" b="0" u="none">
                <a:solidFill>
                  <a:srgbClr val="1A1A1A"/>
                </a:solidFill>
                <a:latin typeface="Montserrat"/>
              </a:rPr>
              <a:t>. La presidencia de la Corte se renovara cada dos anos de manera rotatoria en funcion del numero de votos que obtenga cada candidatura en la eleccion respectiva, correspondiendo la presidencia a quienes alcancen mayor votacion.</a:t>
            </a:r>
          </a:p>
          <a:p>
            <a:pPr>
              <a:lnSpc>
                <a:spcPct val="118000"/>
              </a:lnSpc>
              <a:spcAft>
                <a:spcPts val="300"/>
              </a:spcAft>
            </a:pPr>
            <a:r>
              <a:rPr sz="1150" b="0" u="none">
                <a:solidFill>
                  <a:srgbClr val="1A1A1A"/>
                </a:solidFill>
                <a:latin typeface="Montserrat"/>
              </a:rPr>
              <a:t>En los terminos que la ley disponga las </a:t>
            </a:r>
            <a:r>
              <a:rPr sz="1150" b="1" u="sng">
                <a:solidFill>
                  <a:srgbClr val="1E5B4F"/>
                </a:solidFill>
                <a:latin typeface="Montserrat"/>
              </a:rPr>
              <a:t>sesiones del Pleno y de las secciones seran publicas</a:t>
            </a:r>
            <a:r>
              <a:rPr sz="1150" b="0" u="none">
                <a:solidFill>
                  <a:srgbClr val="1A1A1A"/>
                </a:solidFill>
                <a:latin typeface="Montserrat"/>
              </a:rPr>
              <a:t>.</a:t>
            </a:r>
          </a:p>
          <a:p>
            <a:pPr>
              <a:lnSpc>
                <a:spcPct val="118000"/>
              </a:lnSpc>
              <a:spcAft>
                <a:spcPts val="300"/>
              </a:spcAft>
            </a:pPr>
            <a:r>
              <a:rPr sz="1150" b="0" u="none">
                <a:solidFill>
                  <a:srgbClr val="1A1A1A"/>
                </a:solidFill>
                <a:latin typeface="Montserrat"/>
              </a:rPr>
              <a:t>La competencia de la Suprema Corte, su </a:t>
            </a:r>
            <a:r>
              <a:rPr sz="1150" b="1" u="sng">
                <a:solidFill>
                  <a:srgbClr val="1E5B4F"/>
                </a:solidFill>
                <a:latin typeface="Montserrat"/>
              </a:rPr>
              <a:t>funcionamiento en Pleno y en secciones</a:t>
            </a:r>
            <a:r>
              <a:rPr sz="1150" b="0" u="none">
                <a:solidFill>
                  <a:srgbClr val="1A1A1A"/>
                </a:solidFill>
                <a:latin typeface="Montserrat"/>
              </a:rPr>
              <a:t>, la competencia de los Plenos Regionales, de los Tribunales de Circuito, de los Juzgados de Distrito y del Tribunal Electoral, asi como las responsabilidades en que incurran las servidoras y los servidores publicos del Poder Judicial de la Federacion, se regiran por lo que dispongan las leyes y los acuerdos generales correspondientes, de conformidad con las bases que esta Constitucion establece.</a:t>
            </a:r>
          </a:p>
        </p:txBody>
      </p:sp>
      <p:sp>
        <p:nvSpPr>
          <p:cNvPr id="16" name="TextBox 15"/>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7" name="Rectangle 16"/>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0" name="TextBox 19"/>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24 / 44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94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La SCJN podra funcionar en dos secciones  (2/3)</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organo de administracion judicial determinara el numero, division en circuitos, competencia territorial y especializacion por materias, entre las que se incluira la de radiodifusion, telecomunicaciones y competencia economica, de los Tribunales Colegiados de Circuito, de los Tribunales Colegiados de Apelacion y de los Juzgados de Distrito.</a:t>
            </a:r>
          </a:p>
          <a:p>
            <a:pPr>
              <a:lnSpc>
                <a:spcPct val="118000"/>
              </a:lnSpc>
              <a:spcAft>
                <a:spcPts val="300"/>
              </a:spcAft>
            </a:pPr>
            <a:r>
              <a:rPr sz="1150" b="0" u="none">
                <a:solidFill>
                  <a:srgbClr val="1A1A1A"/>
                </a:solidFill>
                <a:latin typeface="Montserrat"/>
              </a:rPr>
              <a:t>Asimismo, mediante acuerdos generales estableceran Plenos Regionales, los cuales ejerceran jurisdiccion sobre los circuitos que los propios acuerdos determinen. Las leyes estableceran su integracion y funcionamiento.</a:t>
            </a:r>
          </a:p>
          <a:p>
            <a:pPr>
              <a:lnSpc>
                <a:spcPct val="118000"/>
              </a:lnSpc>
              <a:spcAft>
                <a:spcPts val="300"/>
              </a:spcAft>
            </a:pPr>
            <a:r>
              <a:rPr sz="1150" b="0" u="none">
                <a:solidFill>
                  <a:srgbClr val="1A1A1A"/>
                </a:solidFill>
                <a:latin typeface="Montserrat"/>
              </a:rPr>
              <a:t>La ley establecera la forma y procedimientos mediante concursos abiertos para la integracion de los organos jurisdiccionales, observando el principio de paridad de genero. La eleccion de las Magistradas y los Magistrados de Circuito, asi como las Juezas y los Jueces de Distrito, se regira por las bases previstas en el articulo 96 de esta Constitucion.</a:t>
            </a:r>
          </a:p>
          <a:p>
            <a:pPr>
              <a:lnSpc>
                <a:spcPct val="118000"/>
              </a:lnSpc>
              <a:spcAft>
                <a:spcPts val="300"/>
              </a:spcAft>
            </a:pPr>
            <a:r>
              <a:rPr sz="1150" b="0" u="none">
                <a:solidFill>
                  <a:srgbClr val="1A1A1A"/>
                </a:solidFill>
                <a:latin typeface="Montserrat"/>
              </a:rPr>
              <a:t>El Pleno de la Suprema Corte de Justicia estara facultado para expedir acuerdos generales, a fin de lograr una adecuada distribucion de los asuntos que competa conocer a la Corte, asi como remitir asuntos a los Plenos Regionales y a los Tribunales Colegiados de Circuito, para mayor prontitud en el despacho de los mismos. Dichos acuerdos surtiran efectos despues de publicados.</a:t>
            </a:r>
          </a:p>
        </p:txBody>
      </p:sp>
      <p:sp>
        <p:nvSpPr>
          <p:cNvPr id="12" name="Rectangle 11"/>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organo de administracion judicial determinara el numero, division en circuitos, competencia territorial y especializacion por materias, entre las que se incluira la de radiodifusion, telecomunicaciones y competencia economica, de los Tribunales Colegiados de Circuito, de los Tribunales Colegiados de Apelacion y de los Juzgados de Distrito.</a:t>
            </a:r>
          </a:p>
          <a:p>
            <a:pPr>
              <a:lnSpc>
                <a:spcPct val="118000"/>
              </a:lnSpc>
              <a:spcAft>
                <a:spcPts val="300"/>
              </a:spcAft>
            </a:pPr>
            <a:r>
              <a:rPr sz="1150" b="0" u="none">
                <a:solidFill>
                  <a:srgbClr val="1A1A1A"/>
                </a:solidFill>
                <a:latin typeface="Montserrat"/>
              </a:rPr>
              <a:t>Asimismo, mediante acuerdos generales estableceran Plenos Regionales, los cuales ejerceran jurisdiccion sobre los circuitos que los propios acuerdos determinen. Las leyes estableceran su integracion y funcionamiento.</a:t>
            </a:r>
          </a:p>
          <a:p>
            <a:pPr>
              <a:lnSpc>
                <a:spcPct val="118000"/>
              </a:lnSpc>
              <a:spcAft>
                <a:spcPts val="300"/>
              </a:spcAft>
            </a:pPr>
            <a:r>
              <a:rPr sz="1150" b="0" u="none">
                <a:solidFill>
                  <a:srgbClr val="1A1A1A"/>
                </a:solidFill>
                <a:latin typeface="Montserrat"/>
              </a:rPr>
              <a:t>La ley establecera la forma y procedimientos mediante concursos abiertos para la integracion de los organos jurisdiccionales, observando el principio de paridad de genero. La eleccion de las Magistradas y los Magistrados de Circuito, asi como las Juezas y los Jueces de Distrito, se regira por las bases previstas en el articulo 96 de esta Constitucion.</a:t>
            </a:r>
          </a:p>
          <a:p>
            <a:pPr>
              <a:lnSpc>
                <a:spcPct val="118000"/>
              </a:lnSpc>
              <a:spcAft>
                <a:spcPts val="300"/>
              </a:spcAft>
            </a:pPr>
            <a:r>
              <a:rPr sz="1150" b="0" u="none">
                <a:solidFill>
                  <a:srgbClr val="1A1A1A"/>
                </a:solidFill>
                <a:latin typeface="Montserrat"/>
              </a:rPr>
              <a:t>El Pleno de la Suprema Corte de Justicia estara facultado para expedir acuerdos generales, a fin de lograr una adecuada distribucion de los asuntos que competa conocer a la Corte, asi como remitir asuntos a los Plenos Regionales y a los Tribunales Colegiados de Circuito, para mayor prontitud en el despacho de los mismos. Dichos acuerdos surtiran efectos despues de publicados.</a:t>
            </a:r>
          </a:p>
        </p:txBody>
      </p:sp>
      <p:sp>
        <p:nvSpPr>
          <p:cNvPr id="16" name="TextBox 15"/>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7" name="Rectangle 16"/>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0" name="TextBox 19"/>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25 / 44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94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La SCJN podra funcionar en dos secciones  (3/3)</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Los juicios de amparo, las controversias constitucionales y las acciones de inconstitucionalidad se substanciaran y resolveran de manera prioritaria cuando alguna de las Camaras del Congreso, a traves de su presidente, o el Ejecutivo Federal, por conducto del consejero juridico del gobierno, justifique la urgencia atendiendo al interes social o al orden publico, en los terminos de lo dispuesto por las leyes reglamentarias.</a:t>
            </a:r>
          </a:p>
          <a:p>
            <a:pPr>
              <a:lnSpc>
                <a:spcPct val="118000"/>
              </a:lnSpc>
              <a:spcAft>
                <a:spcPts val="300"/>
              </a:spcAft>
            </a:pPr>
            <a:r>
              <a:rPr sz="1150" b="0" u="none">
                <a:solidFill>
                  <a:srgbClr val="1A1A1A"/>
                </a:solidFill>
                <a:latin typeface="Montserrat"/>
              </a:rPr>
              <a:t>La ley fijara los terminos en que sea obligatoria la jurisprudencia que establezcan los Tribunales del Poder Judicial de la Federacion sobre la interpretacion de la Constitucion y normas generales, asi como los requisitos para su interrupcion.</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Los juicios de amparo, las controversias constitucionales y las acciones de inconstitucionalidad se substanciaran y resolveran de manera prioritaria cuando alguna de las Camaras del Congreso, a traves de su presidente, o el Ejecutivo Federal, por conducto del consejero juridico del gobierno, justifique la urgencia atendiendo al interes social o al orden publico, en los terminos de lo dispuesto por las leyes reglamentarias.</a:t>
            </a:r>
          </a:p>
          <a:p>
            <a:pPr>
              <a:lnSpc>
                <a:spcPct val="118000"/>
              </a:lnSpc>
              <a:spcAft>
                <a:spcPts val="300"/>
              </a:spcAft>
            </a:pPr>
            <a:r>
              <a:rPr sz="1150" b="0" u="none">
                <a:solidFill>
                  <a:srgbClr val="1A1A1A"/>
                </a:solidFill>
                <a:latin typeface="Montserrat"/>
              </a:rPr>
              <a:t>La ley fijara los terminos en que sea obligatoria la jurisprudencia que establezcan los Tribunales del Poder Judicial de la Federacion sobre la interpretacion de la Constitucion y normas generales, asi como los requisitos para su interrupcion.</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La SCJN podra funcionar en dos secciones (con aprobacion del Pleno) y sus sesiones seran publicas.</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VI: que el Pleno conozca los asuntos de fondo y gestione 'de manera mas eficiente' los de tramite (la SCJN procesa ~20% menos asuntos).</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26 / 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96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Procedimiento de eleccion judicial: postulacion, insaculacion y boletas  (1/6)</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Articulo 96. Las Ministras y Ministros de la Suprema Corte de Justicia de la Nacion, Magistradas y Magistrados de la Sala Superior y las salas regionales del Tribunal Electoral del Poder Judicial de la Federacion, Magistradas y Magistrados del Tribunal de Disciplina Judicial, Magistradas y Magistrados de Circuito y Juezas y Jueces de Distrito, seran elegidos de manera libre, directa y secreta por la ciudadania el dia que se realicen las elecciones federales ordinarias del ano que corresponda conforme al siguiente procedimiento:</a:t>
            </a:r>
          </a:p>
          <a:p>
            <a:pPr>
              <a:lnSpc>
                <a:spcPct val="118000"/>
              </a:lnSpc>
              <a:spcAft>
                <a:spcPts val="300"/>
              </a:spcAft>
            </a:pPr>
            <a:r>
              <a:rPr sz="1150" b="0" u="none">
                <a:solidFill>
                  <a:srgbClr val="1A1A1A"/>
                </a:solidFill>
                <a:latin typeface="Montserrat"/>
              </a:rPr>
              <a:t>I. El Senado de la Republica publicara la convocatoria para la integracion del listado de candidaturas </a:t>
            </a:r>
            <a:r>
              <a:rPr sz="1150" b="1" u="sng">
                <a:solidFill>
                  <a:srgbClr val="6B1531"/>
                </a:solidFill>
                <a:latin typeface="Montserrat"/>
              </a:rPr>
              <a:t>dentro de los treinta dias naturales siguientes a la instalacion del primer periodo ordinario de sesiones del ano anterior</a:t>
            </a:r>
            <a:r>
              <a:rPr sz="1150" b="0" u="none">
                <a:solidFill>
                  <a:srgbClr val="1A1A1A"/>
                </a:solidFill>
                <a:latin typeface="Montserrat"/>
              </a:rPr>
              <a:t> al de la eleccion que corresponda, que contendra las etapas completas del procedimiento, sus fechas y plazos improrrogables y los cargos a elegir. El organo de administracion judicial hara del conocimiento del Senado los cargos sujetos a eleccion, la especializacion por materia, el circuito judicial respectivo y demas informacion que requiera;</a:t>
            </a:r>
          </a:p>
          <a:p>
            <a:pPr>
              <a:lnSpc>
                <a:spcPct val="118000"/>
              </a:lnSpc>
              <a:spcAft>
                <a:spcPts val="300"/>
              </a:spcAft>
            </a:pPr>
            <a:r>
              <a:rPr sz="1150" b="0" u="none">
                <a:solidFill>
                  <a:srgbClr val="1A1A1A"/>
                </a:solidFill>
                <a:latin typeface="Montserrat"/>
              </a:rPr>
              <a:t>II. Los Poderes de la Union postularan el numero de candidaturas que corresponda a cada cargo conforme a los parrafos segundo y tercero del presente articulo. Para la evaluacion y seleccion de sus postulaciones, observaran lo siguiente:</a:t>
            </a:r>
          </a:p>
        </p:txBody>
      </p:sp>
      <p:sp>
        <p:nvSpPr>
          <p:cNvPr id="12" name="Rectangle 11"/>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Articulo 96. Las Ministras y Ministros de la Suprema Corte de Justicia de la Nacion, Magistradas y Magistrados de la Sala Superior y las salas regionales del Tribunal Electoral del Poder Judicial de la Federacion, Magistradas y Magistrados del Tribunal de Disciplina Judicial, Magistradas y Magistrados de Circuito y Juezas y Jueces de Distrito, seran elegidos de manera libre, directa y secreta por la ciudadania el dia que se realicen las elecciones federales ordinarias del ano que corresponda conforme al siguiente procedimiento:</a:t>
            </a:r>
          </a:p>
          <a:p>
            <a:pPr>
              <a:lnSpc>
                <a:spcPct val="118000"/>
              </a:lnSpc>
              <a:spcAft>
                <a:spcPts val="300"/>
              </a:spcAft>
            </a:pPr>
            <a:r>
              <a:rPr sz="1150" b="0" u="none">
                <a:solidFill>
                  <a:srgbClr val="1A1A1A"/>
                </a:solidFill>
                <a:latin typeface="Montserrat"/>
              </a:rPr>
              <a:t>I. El Senado de la Republica publicara la convocatoria para la integracion del listado de candidaturas </a:t>
            </a:r>
            <a:r>
              <a:rPr sz="1150" b="1" u="sng">
                <a:solidFill>
                  <a:srgbClr val="1E5B4F"/>
                </a:solidFill>
                <a:latin typeface="Montserrat"/>
              </a:rPr>
              <a:t>a mas tardar el treinta de abril del ano anterior</a:t>
            </a:r>
            <a:r>
              <a:rPr sz="1150" b="0" u="none">
                <a:solidFill>
                  <a:srgbClr val="1A1A1A"/>
                </a:solidFill>
                <a:latin typeface="Montserrat"/>
              </a:rPr>
              <a:t> al de la eleccion judicial que corresponda, que contendra las etapas completas del procedimiento, sus fechas y plazos improrrogables y los cargos a elegir. El organo de administracion judicial hara del conocimiento del Senado los cargos sujetos a eleccion, la especializacion por materia, el circuito judicial respectivo y demas informacion que requiera;</a:t>
            </a:r>
          </a:p>
          <a:p>
            <a:pPr>
              <a:lnSpc>
                <a:spcPct val="118000"/>
              </a:lnSpc>
              <a:spcAft>
                <a:spcPts val="300"/>
              </a:spcAft>
            </a:pPr>
            <a:r>
              <a:rPr sz="1150" b="0" u="none">
                <a:solidFill>
                  <a:srgbClr val="1A1A1A"/>
                </a:solidFill>
                <a:latin typeface="Montserrat"/>
              </a:rPr>
              <a:t>II. Los Poderes de la Union postularan el numero de candidaturas que corresponda a cada cargo conforme a los parrafos segundo y tercero del presente articulo. Para la evaluacion y seleccion de sus postulaciones, observaran lo siguiente:</a:t>
            </a:r>
          </a:p>
        </p:txBody>
      </p:sp>
      <p:sp>
        <p:nvSpPr>
          <p:cNvPr id="16" name="TextBox 15"/>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7" name="Rectangle 16"/>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0" name="TextBox 19"/>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27 /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96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Procedimiento de eleccion judicial: postulacion, insaculacion y boletas  (2/6)</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a) Los Poderes estableceran mecanismos publicos, abiertos, transparentes, inclusivos y accesibles que permitan la participacion de todas las personas interesadas que acrediten los requisitos establecidos en esta Constitucion y en las leyes, presenten un ensayo de tres cuartillas donde justifiquen los motivos de su postulacion y remitan cinco cartas de referencia de sus vecinos, colegas o personas que respalden su idoneidad para desempenar el cargo;</a:t>
            </a:r>
          </a:p>
          <a:p>
            <a:pPr>
              <a:lnSpc>
                <a:spcPct val="118000"/>
              </a:lnSpc>
              <a:spcAft>
                <a:spcPts val="300"/>
              </a:spcAft>
            </a:pPr>
            <a:r>
              <a:rPr sz="1150" b="0" u="none">
                <a:solidFill>
                  <a:srgbClr val="1A1A1A"/>
                </a:solidFill>
                <a:latin typeface="Montserrat"/>
              </a:rPr>
              <a:t>b) Cada Poder integrara un Comite de Evaluacion conformado por cinco personas reconocidas en la actividad juridica, que recibira los expedientes de las personas aspirantes, evaluara el cumplimiento de los requisitos constitucionales y legales e identificara a las personas mejor evaluadas que cuenten con los conocimientos tecnicos necesarios para el desempeno del cargo y se hayan distinguido por su honestidad, buena fama publica, competencia y antecedentes academicos y profesionales en el ejercicio de la actividad juridica, y</a:t>
            </a:r>
          </a:p>
        </p:txBody>
      </p:sp>
      <p:sp>
        <p:nvSpPr>
          <p:cNvPr id="12" name="Rectangle 11"/>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a) Los Poderes estableceran mecanismos publicos, abiertos, transparentes, inclusivos y accesibles que permitan la participacion de todas las personas interesadas que acrediten los requisitos establecidos en esta Constitucion y en las leyes, presenten un ensayo de tres cuartillas donde justifiquen los motivos de su postulacion y remitan cinco cartas de referencia de sus vecinos, colegas o personas que respalden su idoneidad para desempenar el cargo;</a:t>
            </a:r>
          </a:p>
          <a:p>
            <a:pPr>
              <a:lnSpc>
                <a:spcPct val="118000"/>
              </a:lnSpc>
              <a:spcAft>
                <a:spcPts val="300"/>
              </a:spcAft>
            </a:pPr>
            <a:r>
              <a:rPr sz="1150" b="0" u="none">
                <a:solidFill>
                  <a:srgbClr val="1A1A1A"/>
                </a:solidFill>
                <a:latin typeface="Montserrat"/>
              </a:rPr>
              <a:t>b) Cada Poder integrara un Comite de Evaluacion conformado por cinco personas reconocidas en la actividad juridica, quienes elegiran de entre sus integrantes a la persona que coordine sus trabajos. </a:t>
            </a:r>
            <a:r>
              <a:rPr sz="1150" b="1" u="sng">
                <a:solidFill>
                  <a:srgbClr val="1E5B4F"/>
                </a:solidFill>
                <a:latin typeface="Montserrat"/>
              </a:rPr>
              <a:t>Las personas coordinadoras de los tres Comites integraran una Comision Coordinadora, responsable de verificar el cumplimiento de los requisitos constitucionales y legales de las personas participantes, establecer criterios y metodologias homologadas de evaluacion, seleccion y examenes de conocimientos, y emitir acuerdos que regulen los trabajos de los tres Comites.</a:t>
            </a:r>
            <a:r>
              <a:rPr sz="1150" b="0" u="none">
                <a:solidFill>
                  <a:srgbClr val="1A1A1A"/>
                </a:solidFill>
                <a:latin typeface="Montserrat"/>
              </a:rPr>
              <a:t> Cada Comite seleccionara, conforme a los criterios definidos por la Comision Coordinadora, a las personas mejor evaluadas que cuenten con los conocimientos tecnicos necesarios y se hayan distinguido por su honestidad, buena fama publica, competencia y antecedentes academicos y profesionales, y</a:t>
            </a:r>
          </a:p>
        </p:txBody>
      </p:sp>
      <p:sp>
        <p:nvSpPr>
          <p:cNvPr id="16" name="TextBox 15"/>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7" name="Rectangle 16"/>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0" name="TextBox 19"/>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28 /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96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Procedimiento de eleccion judicial: postulacion, insaculacion y boletas  (3/6)</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c) Los Comites de Evaluacion integraran un listado de las </a:t>
            </a:r>
            <a:r>
              <a:rPr sz="1150" b="1" u="sng">
                <a:solidFill>
                  <a:srgbClr val="6B1531"/>
                </a:solidFill>
                <a:latin typeface="Montserrat"/>
              </a:rPr>
              <a:t>diez</a:t>
            </a:r>
            <a:r>
              <a:rPr sz="1150" b="0" u="none">
                <a:solidFill>
                  <a:srgbClr val="1A1A1A"/>
                </a:solidFill>
                <a:latin typeface="Montserrat"/>
              </a:rPr>
              <a:t> personas mejor evaluadas para cada cargo en los casos de Ministras y Ministros, Magistradas y Magistrados de la Sala Superior y salas regionales del Tribunal Electoral e integrantes del Tribunal de Disciplina Judicial, y de las </a:t>
            </a:r>
            <a:r>
              <a:rPr sz="1150" b="1" u="sng">
                <a:solidFill>
                  <a:srgbClr val="6B1531"/>
                </a:solidFill>
                <a:latin typeface="Montserrat"/>
              </a:rPr>
              <a:t>seis</a:t>
            </a:r>
            <a:r>
              <a:rPr sz="1150" b="0" u="none">
                <a:solidFill>
                  <a:srgbClr val="1A1A1A"/>
                </a:solidFill>
                <a:latin typeface="Montserrat"/>
              </a:rPr>
              <a:t> personas mejor evaluadas para cada cargo en los casos de Magistraturas de Circuito y Juzgados de Distrito. Posteriormente, depuraran dicho listado mediante </a:t>
            </a:r>
            <a:r>
              <a:rPr sz="1150" b="1" u="sng">
                <a:solidFill>
                  <a:srgbClr val="6B1531"/>
                </a:solidFill>
                <a:latin typeface="Montserrat"/>
              </a:rPr>
              <a:t>insaculacion publica para ajustarlo al numero de postulaciones</a:t>
            </a:r>
            <a:r>
              <a:rPr sz="1150" b="0" u="none">
                <a:solidFill>
                  <a:srgbClr val="1A1A1A"/>
                </a:solidFill>
                <a:latin typeface="Montserrat"/>
              </a:rPr>
              <a:t> para cada cargo, observando la paridad de genero. Ajustados los listados, los Comites los remitiran a la autoridad que represente a cada Poder de la Union para su aprobacion y envio al Senado.</a:t>
            </a:r>
          </a:p>
          <a:p>
            <a:pPr>
              <a:lnSpc>
                <a:spcPct val="118000"/>
              </a:lnSpc>
              <a:spcAft>
                <a:spcPts val="300"/>
              </a:spcAft>
            </a:pPr>
            <a:r>
              <a:rPr sz="1150" b="0" u="none">
                <a:solidFill>
                  <a:srgbClr val="1A1A1A"/>
                </a:solidFill>
                <a:latin typeface="Montserrat"/>
              </a:rPr>
              <a:t>III. El Senado de la Republica recibira las postulaciones y remitira los listados al Instituto Nacional Electoral </a:t>
            </a:r>
            <a:r>
              <a:rPr sz="1150" b="1" u="sng">
                <a:solidFill>
                  <a:srgbClr val="6B1531"/>
                </a:solidFill>
                <a:latin typeface="Montserrat"/>
              </a:rPr>
              <a:t>a mas tardar el 12 de febrero del ano de la eleccion</a:t>
            </a:r>
            <a:r>
              <a:rPr sz="1150" b="0" u="none">
                <a:solidFill>
                  <a:srgbClr val="1A1A1A"/>
                </a:solidFill>
                <a:latin typeface="Montserrat"/>
              </a:rPr>
              <a:t> que corresponda, a efecto de que organice el proceso electivo. Las personas candidatas podran ser postuladas simultaneamente por uno o varios Poderes de la Union, siempre que aspiren al mismo cargo, y</a:t>
            </a:r>
          </a:p>
        </p:txBody>
      </p:sp>
      <p:sp>
        <p:nvSpPr>
          <p:cNvPr id="12" name="Rectangle 11"/>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c) Los Comites de Evaluacion integraran un listado de las </a:t>
            </a:r>
            <a:r>
              <a:rPr sz="1150" b="1" u="sng">
                <a:solidFill>
                  <a:srgbClr val="1E5B4F"/>
                </a:solidFill>
                <a:latin typeface="Montserrat"/>
              </a:rPr>
              <a:t>cuatro</a:t>
            </a:r>
            <a:r>
              <a:rPr sz="1150" b="0" u="none">
                <a:solidFill>
                  <a:srgbClr val="1A1A1A"/>
                </a:solidFill>
                <a:latin typeface="Montserrat"/>
              </a:rPr>
              <a:t> personas mejor evaluadas para cada cargo. Posteriormente, depuraran dicho listado mediante </a:t>
            </a:r>
            <a:r>
              <a:rPr sz="1150" b="1" u="sng">
                <a:solidFill>
                  <a:srgbClr val="1E5B4F"/>
                </a:solidFill>
                <a:latin typeface="Montserrat"/>
              </a:rPr>
              <a:t>insaculacion publica para ajustarlo a dos personas para cada cargo</a:t>
            </a:r>
            <a:r>
              <a:rPr sz="1150" b="0" u="none">
                <a:solidFill>
                  <a:srgbClr val="1A1A1A"/>
                </a:solidFill>
                <a:latin typeface="Montserrat"/>
              </a:rPr>
              <a:t>. Los Comites garantizaran la paridad de genero en el listado de personas a insacular por especialidad y circuito judicial, de ser aplicable. Asimismo, observaran la paridad de genero en el listado de propuestas posterior a la insaculacion. Ajustados los listados, los Comites los remitiran a la autoridad que represente a cada Poder de la Union para su aprobacion y envio al Senado. </a:t>
            </a:r>
            <a:r>
              <a:rPr sz="1150" b="1" u="sng">
                <a:solidFill>
                  <a:srgbClr val="1E5B4F"/>
                </a:solidFill>
                <a:latin typeface="Montserrat"/>
              </a:rPr>
              <a:t>Para los efectos del parrafo anterior, cada uno de los Poderes de la Union postulara dos personas para cada cargo: el Poder Ejecutivo por conducto de la Presidencia; el Poder Legislativo una persona por cada Camara mediante votacion calificada de dos tercios; y el Poder Judicial por conducto del Pleno de la SCJN, por mayoria de seis votos.</a:t>
            </a:r>
          </a:p>
          <a:p>
            <a:pPr>
              <a:lnSpc>
                <a:spcPct val="118000"/>
              </a:lnSpc>
              <a:spcAft>
                <a:spcPts val="300"/>
              </a:spcAft>
            </a:pPr>
            <a:r>
              <a:rPr sz="1150" b="0" u="none">
                <a:solidFill>
                  <a:srgbClr val="1A1A1A"/>
                </a:solidFill>
                <a:latin typeface="Montserrat"/>
              </a:rPr>
              <a:t>III. El Senado de la Republica recibira las postulaciones y remitira los listados al Instituto Nacional Electoral </a:t>
            </a:r>
            <a:r>
              <a:rPr sz="1150" b="1" u="sng">
                <a:solidFill>
                  <a:srgbClr val="1E5B4F"/>
                </a:solidFill>
                <a:latin typeface="Montserrat"/>
              </a:rPr>
              <a:t>en los plazos que refiera la convocatoria</a:t>
            </a:r>
            <a:r>
              <a:rPr sz="1150" b="0" u="none">
                <a:solidFill>
                  <a:srgbClr val="1A1A1A"/>
                </a:solidFill>
                <a:latin typeface="Montserrat"/>
              </a:rPr>
              <a:t>, a efecto de que organice el proceso electivo;</a:t>
            </a:r>
          </a:p>
        </p:txBody>
      </p:sp>
      <p:sp>
        <p:nvSpPr>
          <p:cNvPr id="16" name="TextBox 15"/>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7" name="Rectangle 16"/>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0" name="TextBox 19"/>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29 /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96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Procedimiento de eleccion judicial: postulacion, insaculacion y boletas  (4/6)</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IV. El Instituto Nacional Electoral efectuara los computos de la eleccion, publicara los resultados y entregara las constancias de mayoria a las candidaturas que obtengan el mayor numero de votos, </a:t>
            </a:r>
            <a:r>
              <a:rPr sz="1150" b="1" u="sng">
                <a:solidFill>
                  <a:srgbClr val="6B1531"/>
                </a:solidFill>
                <a:latin typeface="Montserrat"/>
              </a:rPr>
              <a:t>asignando los cargos alternadamente entre mujeres y hombres</a:t>
            </a:r>
            <a:r>
              <a:rPr sz="1150" b="0" u="none">
                <a:solidFill>
                  <a:srgbClr val="1A1A1A"/>
                </a:solidFill>
                <a:latin typeface="Montserrat"/>
              </a:rPr>
              <a:t>. Tambien declarara la validez de la eleccion y enviara sus resultados a la Sala Superior del TEPJF o al Pleno de la SCJN para el caso de magistraturas electorales, quienes resolveran las impugnaciones antes de que el Senado instale el primer periodo ordinario de sesiones del ano de la eleccion, fecha en que las personas aspirantes electas tomaran protesta de su encargo ante dicho organo legislativo.</a:t>
            </a:r>
          </a:p>
          <a:p>
            <a:pPr>
              <a:lnSpc>
                <a:spcPct val="118000"/>
              </a:lnSpc>
              <a:spcAft>
                <a:spcPts val="300"/>
              </a:spcAft>
            </a:pPr>
            <a:r>
              <a:rPr sz="1150" b="0" u="none">
                <a:solidFill>
                  <a:srgbClr val="1A1A1A"/>
                </a:solidFill>
                <a:latin typeface="Montserrat"/>
              </a:rPr>
              <a:t>Para el caso de Ministras y Ministros de la SCJN, Magistradas y Magistrados de la Sala Superior del TEPJF e integrantes del Tribunal de Disciplina Judicial, la eleccion se realizara a nivel nacional conforme al procedimiento anterior. El Poder Ejecutivo postulara </a:t>
            </a:r>
            <a:r>
              <a:rPr sz="1150" b="1" u="sng">
                <a:solidFill>
                  <a:srgbClr val="6B1531"/>
                </a:solidFill>
                <a:latin typeface="Montserrat"/>
              </a:rPr>
              <a:t>hasta tres</a:t>
            </a:r>
            <a:r>
              <a:rPr sz="1150" b="0" u="none">
                <a:solidFill>
                  <a:srgbClr val="1A1A1A"/>
                </a:solidFill>
                <a:latin typeface="Montserrat"/>
              </a:rPr>
              <a:t> personas; el Poder Legislativo </a:t>
            </a:r>
            <a:r>
              <a:rPr sz="1150" b="1" u="sng">
                <a:solidFill>
                  <a:srgbClr val="6B1531"/>
                </a:solidFill>
                <a:latin typeface="Montserrat"/>
              </a:rPr>
              <a:t>hasta tres</a:t>
            </a:r>
            <a:r>
              <a:rPr sz="1150" b="0" u="none">
                <a:solidFill>
                  <a:srgbClr val="1A1A1A"/>
                </a:solidFill>
                <a:latin typeface="Montserrat"/>
              </a:rPr>
              <a:t> personas (una por la Camara de Diputados y dos por el Senado) mediante votacion calificada de dos tercios; y el Poder Judicial, por conducto del Pleno de la SCJN, postulara </a:t>
            </a:r>
            <a:r>
              <a:rPr sz="1150" b="1" u="sng">
                <a:solidFill>
                  <a:srgbClr val="6B1531"/>
                </a:solidFill>
                <a:latin typeface="Montserrat"/>
              </a:rPr>
              <a:t>hasta tres</a:t>
            </a:r>
            <a:r>
              <a:rPr sz="1150" b="0" u="none">
                <a:solidFill>
                  <a:srgbClr val="1A1A1A"/>
                </a:solidFill>
                <a:latin typeface="Montserrat"/>
              </a:rPr>
              <a:t> personas por mayoria de seis votos.</a:t>
            </a:r>
          </a:p>
        </p:txBody>
      </p:sp>
      <p:sp>
        <p:nvSpPr>
          <p:cNvPr id="12" name="Rectangle 11"/>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IV. El Instituto Nacional Electoral efectuara los computos de la eleccion, publicara los resultados y entregara las constancias de mayoria a las candidaturas que obtengan el mayor numero de votos. Tambien declarara la validez de la eleccion y enviara sus resultados a la Sala Superior del TEPJF o al Pleno de la SCJN para el caso de magistraturas electorales, quienes resolveran las impugnaciones antes de que el Senado instale el primer periodo ordinario de sesiones, fecha en que las personas aspirantes electas tomaran protesta. </a:t>
            </a:r>
            <a:r>
              <a:rPr sz="1150" b="1" u="sng">
                <a:solidFill>
                  <a:srgbClr val="1E5B4F"/>
                </a:solidFill>
                <a:latin typeface="Montserrat"/>
              </a:rPr>
              <a:t>Las autoridades electorales no podran modificar los resultados de la eleccion ni la asignacion de cargos despues de esa fecha.</a:t>
            </a:r>
          </a:p>
          <a:p>
            <a:pPr>
              <a:lnSpc>
                <a:spcPct val="118000"/>
              </a:lnSpc>
              <a:spcAft>
                <a:spcPts val="300"/>
              </a:spcAft>
            </a:pPr>
            <a:r>
              <a:rPr sz="1150" b="0" u="none">
                <a:solidFill>
                  <a:srgbClr val="1A1A1A"/>
                </a:solidFill>
                <a:latin typeface="Montserrat"/>
              </a:rPr>
              <a:t>Para el caso de Ministras y Ministros de la SCJN, Magistradas y Magistrados de la Sala Superior del TEPJF e integrantes del Tribunal de Disciplina Judicial, la eleccion se realizara a nivel nacional conforme al procedimiento anterior. </a:t>
            </a:r>
            <a:r>
              <a:rPr sz="1150" b="1" u="sng">
                <a:solidFill>
                  <a:srgbClr val="1E5B4F"/>
                </a:solidFill>
                <a:latin typeface="Montserrat"/>
              </a:rPr>
              <a:t>Cada Poder postulara dos candidaturas por cargo a renovar en la eleccion de que se trate. La asignacion de los cargos electos se realizara entre las candidaturas que obtengan mayor numero de votos, observando la integracion paritaria del organo correspondiente.</a:t>
            </a:r>
          </a:p>
        </p:txBody>
      </p:sp>
      <p:sp>
        <p:nvSpPr>
          <p:cNvPr id="16" name="TextBox 15"/>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7" name="Rectangle 16"/>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0" name="TextBox 19"/>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30 /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96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Procedimiento de eleccion judicial: postulacion, insaculacion y boletas  (5/6)</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Para el caso de Magistraturas de Circuito y Juzgados de Distrito, la eleccion se realizara </a:t>
            </a:r>
            <a:r>
              <a:rPr sz="1150" b="1" u="sng">
                <a:solidFill>
                  <a:srgbClr val="6B1531"/>
                </a:solidFill>
                <a:latin typeface="Montserrat"/>
              </a:rPr>
              <a:t>por circuito judicial</a:t>
            </a:r>
            <a:r>
              <a:rPr sz="1150" b="0" u="none">
                <a:solidFill>
                  <a:srgbClr val="1A1A1A"/>
                </a:solidFill>
                <a:latin typeface="Montserrat"/>
              </a:rPr>
              <a:t> conforme al procedimiento establecido en este articulo. Cada uno de los Poderes de la Union postulara hasta dos personas para cada cargo: el Ejecutivo por conducto de su titular; el Legislativo una por cada Camara por votacion de dos tercios; y el Judicial por mayoria de seis votos.</a:t>
            </a:r>
          </a:p>
          <a:p>
            <a:pPr>
              <a:lnSpc>
                <a:spcPct val="118000"/>
              </a:lnSpc>
              <a:spcAft>
                <a:spcPts val="300"/>
              </a:spcAft>
            </a:pPr>
            <a:r>
              <a:rPr sz="1150" b="0" u="none">
                <a:solidFill>
                  <a:srgbClr val="1A1A1A"/>
                </a:solidFill>
                <a:latin typeface="Montserrat"/>
              </a:rPr>
              <a:t>(No existian disposiciones constitucionales sobre el contenido de las boletas, la sede de la jornada judicial ni el escrutinio en casilla.)</a:t>
            </a:r>
          </a:p>
        </p:txBody>
      </p:sp>
      <p:sp>
        <p:nvSpPr>
          <p:cNvPr id="12" name="Rectangle 11"/>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Para el caso de Magistraturas de Circuito y Juzgados de Distrito, la eleccion se realizara </a:t>
            </a:r>
            <a:r>
              <a:rPr sz="1150" b="1" u="sng">
                <a:solidFill>
                  <a:srgbClr val="1E5B4F"/>
                </a:solidFill>
                <a:latin typeface="Montserrat"/>
              </a:rPr>
              <a:t>por circuito y distrito judicial</a:t>
            </a:r>
            <a:r>
              <a:rPr sz="1150" b="0" u="none">
                <a:solidFill>
                  <a:srgbClr val="1A1A1A"/>
                </a:solidFill>
                <a:latin typeface="Montserrat"/>
              </a:rPr>
              <a:t> conforme a las siguientes bases: </a:t>
            </a:r>
            <a:r>
              <a:rPr sz="1150" b="1" u="sng">
                <a:solidFill>
                  <a:srgbClr val="1E5B4F"/>
                </a:solidFill>
                <a:latin typeface="Montserrat"/>
              </a:rPr>
              <a:t>I. el INE dividira cada circuito en los distritos judiciales necesarios para que la ciudadania pueda elegir una candidatura por especialidad; II. generara una lista por especialidad distinguiendo Poder postulante y genero, y en acto publico asignara aleatoriamente las candidaturas a cada distrito (dos personas del mismo genero por especialidad); III. cuando los cargos por especialidad sean inferiores a los distritos, asignara los restantes de manera aleatoria; IV. realizara las modificaciones necesarias al marco geografico electoral.</a:t>
            </a:r>
          </a:p>
          <a:p>
            <a:pPr>
              <a:lnSpc>
                <a:spcPct val="118000"/>
              </a:lnSpc>
              <a:spcAft>
                <a:spcPts val="300"/>
              </a:spcAft>
            </a:pPr>
            <a:r>
              <a:rPr sz="1150" b="1" u="sng">
                <a:solidFill>
                  <a:srgbClr val="1E5B4F"/>
                </a:solidFill>
                <a:latin typeface="Montserrat"/>
              </a:rPr>
              <a:t>Las boletas electorales de la eleccion judicial distinguiran al Poder postulante y, cuando corresponda, a las personas juzgadoras en funciones; distinguiran las especialidades de cada ambito territorial y contendran los nombres completos en recuadros, debiendo elegir una sola candidatura por especialidad. La jornada electoral judicial se celebrara en la misma ubicacion donde se realicen las elecciones ordinarias y se desarrollara sin la intervencion de personas representantes de partidos politicos. El escrutinio y computo de los votos se realizara en la casilla donde fueron sufragados.</a:t>
            </a:r>
          </a:p>
        </p:txBody>
      </p:sp>
      <p:sp>
        <p:nvSpPr>
          <p:cNvPr id="16" name="TextBox 15"/>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7" name="Rectangle 16"/>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0" name="TextBox 19"/>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31 / 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96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Procedimiento de eleccion judicial: postulacion, insaculacion y boletas  (6/6)</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Senado incorporara a los listados que remita al INE a las personas que se encuentren en funciones en los cargos senalados al cierre de la convocatoria, salvo que declinen o sean postuladas para un cargo o circuito diverso. La etapa de preparacion iniciara con la primera sesion del Consejo General del INE en los primeros siete dias de septiembre del ano anterior.</a:t>
            </a:r>
          </a:p>
          <a:p>
            <a:pPr>
              <a:lnSpc>
                <a:spcPct val="118000"/>
              </a:lnSpc>
              <a:spcAft>
                <a:spcPts val="300"/>
              </a:spcAft>
            </a:pPr>
            <a:r>
              <a:rPr sz="1150" b="0" u="none">
                <a:solidFill>
                  <a:srgbClr val="1A1A1A"/>
                </a:solidFill>
                <a:latin typeface="Montserrat"/>
              </a:rPr>
              <a:t>Las personas candidatas tendran derecho de acceso a radio y television de manera igualitaria y podran participar en foros de debate. Para todos los cargos de eleccion del Poder Judicial de la Federacion estara prohibido el financiamiento publico o privado de las campanas, asi como la contratacion de espacios en medios. Los partidos politicos y las personas servidoras publicas no podran realizar actos de proselitismo ni posicionarse a favor o en contra de candidatura alguna.</a:t>
            </a:r>
          </a:p>
          <a:p>
            <a:pPr>
              <a:lnSpc>
                <a:spcPct val="118000"/>
              </a:lnSpc>
              <a:spcAft>
                <a:spcPts val="300"/>
              </a:spcAft>
            </a:pPr>
            <a:r>
              <a:rPr sz="1150" b="0" u="none">
                <a:solidFill>
                  <a:srgbClr val="1A1A1A"/>
                </a:solidFill>
                <a:latin typeface="Montserrat"/>
              </a:rPr>
              <a:t>La duracion de las campanas sera de sesenta dias y en ningun caso habra etapa de precampana. La ley establecera la forma de las campanas, asi como las restricciones y sanciones aplicables a las personas candidatas o servidoras publicas cuyas manifestaciones o propuestas excedan o contravengan los parametros constitucionales y legales.</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Senado incorporara a los listados que remita al INE a las personas que se encuentren en funciones en los cargos senalados al cierre de la convocatoria, salvo que declinen o sean postuladas para un cargo o circuito diverso. La etapa de preparacion iniciara con la primera sesion del Consejo General del INE en los primeros siete dias de septiembre del ano anterior.</a:t>
            </a:r>
          </a:p>
          <a:p>
            <a:pPr>
              <a:lnSpc>
                <a:spcPct val="118000"/>
              </a:lnSpc>
              <a:spcAft>
                <a:spcPts val="300"/>
              </a:spcAft>
            </a:pPr>
            <a:r>
              <a:rPr sz="1150" b="0" u="none">
                <a:solidFill>
                  <a:srgbClr val="1A1A1A"/>
                </a:solidFill>
                <a:latin typeface="Montserrat"/>
              </a:rPr>
              <a:t>Las personas candidatas tendran derecho de acceso a radio y television de manera igualitaria y podran participar en foros de debate. Para todos los cargos de eleccion del Poder Judicial de la Federacion estara prohibido el financiamiento publico o privado de las campanas, asi como la contratacion de espacios en medios. Los partidos politicos y las personas servidoras publicas no podran realizar actos de proselitismo ni posicionarse a favor o en contra de candidatura alguna.</a:t>
            </a:r>
          </a:p>
          <a:p>
            <a:pPr>
              <a:lnSpc>
                <a:spcPct val="118000"/>
              </a:lnSpc>
              <a:spcAft>
                <a:spcPts val="300"/>
              </a:spcAft>
            </a:pPr>
            <a:r>
              <a:rPr sz="1150" b="0" u="none">
                <a:solidFill>
                  <a:srgbClr val="1A1A1A"/>
                </a:solidFill>
                <a:latin typeface="Montserrat"/>
              </a:rPr>
              <a:t>La duracion de las campanas sera de sesenta dias y en ningun caso habra etapa de precampana. La ley establecera la forma de las campanas, asi como las restricciones y sanciones aplicables a las personas candidatas o servidoras publicas cuyas manifestaciones o propuestas excedan o contravengan los parametros constitucionales y legales.</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Convocatoria adelantada (30 abr); Comision Coordinadora con examenes; listado 10/6 a 4 e insaculacion a 2; cada Poder postula 2; eleccion por circuito y distrito; boletas y jornada judicial propias.</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Ejes II-III: homologar criterios dispares de 2025 e incorporar examenes; reducir 'de diez a cuatro' porque un numero muy alto de candidaturas dificulta la deliberacion ciudadana.</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32 / 44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98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Vacantes, licencias y separacion del cargo  (1/2)</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Articulo 98. Cuando la falta de una Ministra o Ministro de la Suprema Corte de Justicia de la Nacion, Magistrada o Magistrado del Tribunal de Disciplina Judicial, Magistrada o Magistrado del Tribunal Electoral, </a:t>
            </a:r>
            <a:r>
              <a:rPr sz="1150" b="1" u="sng">
                <a:solidFill>
                  <a:srgbClr val="6B1531"/>
                </a:solidFill>
                <a:latin typeface="Montserrat"/>
              </a:rPr>
              <a:t>Magistrada o Magistrado de Circuito y Jueza o Juez de Distrito</a:t>
            </a:r>
            <a:r>
              <a:rPr sz="1150" b="0" u="none">
                <a:solidFill>
                  <a:srgbClr val="1A1A1A"/>
                </a:solidFill>
                <a:latin typeface="Montserrat"/>
              </a:rPr>
              <a:t> excediere de un mes sin licencia o dicha falta se deba a su defuncion, renuncia o cualquier causa de separacion definitiva, ocupara la vacante la persona del mismo genero que haya obtenido el segundo lugar en numero de votos en la eleccion para ese cargo; en caso de declinacion o imposibilidad, seguira en orden de prelacion la persona que haya obtenido mayor votacion. El Senado de la Republica tomara protesta a la persona sustituta para desempenarse por el periodo que reste al encargo.</a:t>
            </a:r>
          </a:p>
          <a:p>
            <a:pPr>
              <a:lnSpc>
                <a:spcPct val="118000"/>
              </a:lnSpc>
              <a:spcAft>
                <a:spcPts val="300"/>
              </a:spcAft>
            </a:pPr>
            <a:r>
              <a:rPr sz="1150" b="0" u="none">
                <a:solidFill>
                  <a:srgbClr val="1A1A1A"/>
                </a:solidFill>
                <a:latin typeface="Montserrat"/>
              </a:rPr>
              <a:t>Las renuncias de las Ministras y los Ministros de la Suprema Corte de Justicia, Magistradas y Magistrados del Tribunal de Disciplina Judicial y Magistradas y Magistrados del Tribunal Electoral solamente procederan por causas graves; seran aprobadas por mayoria de los miembros presentes del Senado de la Republica o, en sus recesos, por la Comision Permanente.</a:t>
            </a:r>
          </a:p>
        </p:txBody>
      </p:sp>
      <p:sp>
        <p:nvSpPr>
          <p:cNvPr id="12" name="Rectangle 11"/>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Articulo 98. Cuando la falta de una Ministra o Ministro de la Suprema Corte de Justicia de la Nacion, Magistrada o Magistrado del Tribunal de Disciplina Judicial </a:t>
            </a:r>
            <a:r>
              <a:rPr sz="1150" b="1" u="sng">
                <a:solidFill>
                  <a:srgbClr val="1E5B4F"/>
                </a:solidFill>
                <a:latin typeface="Montserrat"/>
              </a:rPr>
              <a:t>y</a:t>
            </a:r>
            <a:r>
              <a:rPr sz="1150" b="0" u="none">
                <a:solidFill>
                  <a:srgbClr val="1A1A1A"/>
                </a:solidFill>
                <a:latin typeface="Montserrat"/>
              </a:rPr>
              <a:t> Magistrada o Magistrado del Tribunal Electoral excediere de un mes sin licencia o dicha falta se deba a su defuncion, renuncia o cualquier causa de separacion definitiva, ocupara la vacante la persona del mismo genero que haya obtenido el segundo lugar en numero de votos en la eleccion para ese cargo; en caso de declinacion o imposibilidad, seguira en orden de prelacion la persona que haya obtenido mayor votacion. El Senado de la Republica tomara protesta a la persona sustituta para desempenarse por el periodo que reste al encargo. </a:t>
            </a:r>
            <a:r>
              <a:rPr sz="1150" b="1" u="sng">
                <a:solidFill>
                  <a:srgbClr val="1E5B4F"/>
                </a:solidFill>
                <a:latin typeface="Montserrat"/>
              </a:rPr>
              <a:t>En caso de defuncion, renuncia, destitucion o ausencia definitiva de Magistradas o Magistrados de Circuito y Juezas o Jueces de Distrito, el organo de administracion judicial declarara vacante el cargo y debera renovarse para un nuevo periodo en la eleccion inmediata posterior que corresponda.</a:t>
            </a:r>
          </a:p>
          <a:p>
            <a:pPr>
              <a:lnSpc>
                <a:spcPct val="118000"/>
              </a:lnSpc>
              <a:spcAft>
                <a:spcPts val="300"/>
              </a:spcAft>
            </a:pPr>
            <a:r>
              <a:rPr sz="1150" b="0" u="none">
                <a:solidFill>
                  <a:srgbClr val="1A1A1A"/>
                </a:solidFill>
                <a:latin typeface="Montserrat"/>
              </a:rPr>
              <a:t>Las renuncias de las Ministras y los Ministros de la Suprema Corte de Justicia, Magistradas y Magistrados del Tribunal de Disciplina Judicial y Magistradas y Magistrados del Tribunal Electoral solamente procederan por causas graves; seran aprobadas por mayoria de los miembros presentes del Senado de la Republica o, en sus recesos, por la Comision Permanente.</a:t>
            </a:r>
          </a:p>
        </p:txBody>
      </p:sp>
      <p:sp>
        <p:nvSpPr>
          <p:cNvPr id="16" name="TextBox 15"/>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7" name="Rectangle 16"/>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0" name="TextBox 19"/>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33 /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039112"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98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Vacantes, licencias y separacion del cargo  (2/2)</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licencias de las personas servidoras publicas senaladas en el parrafo primero de este articulo, cuando no excedan de un mes, podran ser concedidas por el Pleno de la SCJN para Ministras y Ministros, por el Pleno del Tribunal de Disciplina Judicial para sus integrantes, por el Pleno de la Sala Superior del Tribunal Electoral para Magistradas y Magistrados Electorales y por el organo de administracion judicial para Magistraturas de Circuito o Juzgados de Distrito. Las licencias que excedan de este tiempo deberan justificarse y podran concederse sin goce de sueldo por la mayoria de los miembros presentes del Senado o, en sus recesos, por la Comision Permanente. Ninguna licencia podra exceder del termino de un ano.</a:t>
            </a:r>
          </a:p>
          <a:p>
            <a:pPr>
              <a:lnSpc>
                <a:spcPct val="118000"/>
              </a:lnSpc>
              <a:spcAft>
                <a:spcPts val="300"/>
              </a:spcAft>
            </a:pPr>
            <a:r>
              <a:rPr sz="1150" b="0" u="none">
                <a:solidFill>
                  <a:srgbClr val="1A1A1A"/>
                </a:solidFill>
                <a:latin typeface="Montserrat"/>
              </a:rPr>
              <a:t>(No existia este parrafo.)</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licencias de las personas servidoras publicas senaladas en el parrafo primero de este articulo, cuando no excedan de un mes, podran ser concedidas por el Pleno de la SCJN para Ministras y Ministros, por el Pleno del Tribunal de Disciplina Judicial para sus integrantes, por el Pleno de la Sala Superior del Tribunal Electoral para Magistradas y Magistrados Electorales y por el organo de administracion judicial para Magistraturas de Circuito o Juzgados de Distrito. Las licencias que excedan de este tiempo deberan justificarse y podran concederse sin goce de sueldo por la mayoria de los miembros presentes del Senado o, en sus recesos, por la Comision Permanente, </a:t>
            </a:r>
            <a:r>
              <a:rPr sz="1150" b="1" u="sng">
                <a:solidFill>
                  <a:srgbClr val="1E5B4F"/>
                </a:solidFill>
                <a:latin typeface="Montserrat"/>
              </a:rPr>
              <a:t>salvo en el caso de Magistradas y Magistrados de Circuito o Juezas y Jueces de Distrito, que podran concederse sin goce de sueldo por el organo de administracion judicial</a:t>
            </a:r>
            <a:r>
              <a:rPr sz="1150" b="0" u="none">
                <a:solidFill>
                  <a:srgbClr val="1A1A1A"/>
                </a:solidFill>
                <a:latin typeface="Montserrat"/>
              </a:rPr>
              <a:t>. Ninguna licencia podra exceder del termino de un ano.</a:t>
            </a:r>
          </a:p>
          <a:p>
            <a:pPr>
              <a:lnSpc>
                <a:spcPct val="118000"/>
              </a:lnSpc>
              <a:spcAft>
                <a:spcPts val="300"/>
              </a:spcAft>
            </a:pPr>
            <a:r>
              <a:rPr sz="1150" b="1" u="sng">
                <a:solidFill>
                  <a:srgbClr val="1E5B4F"/>
                </a:solidFill>
                <a:latin typeface="Montserrat"/>
              </a:rPr>
              <a:t>Las personas juzgadoras que aspiren a un cargo de eleccion distinto al que ostenten deberan separarse del cargo mediante renuncia expresa e irrevocable, la cual informaran al organo de administracion judicial antes de su registro en el proceso correspondiente. El organo de administracion judicial comunicara de inmediato la vacante a la autoridad competente para que el cargo sea sujeto a eleccion.</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Dos regimenes de vacante (SCJN/TDJ/TE vs Circuito/Distrito) y renuncia irrevocable para contender por otro cargo.</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 garantizar 'la continuidad y calidad de la funcion jurisdiccional' y evitar la paralisis de la labor en curso.</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34 / 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12140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100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Tribunal de Disciplina Judicial: evaluacion y capacitacion  (1/4)</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Articulo 100. El Tribunal de Disciplina Judicial sera un organo del Poder Judicial de la Federacion con independencia tecnica, de gestion y para emitir sus resoluciones.</a:t>
            </a:r>
          </a:p>
          <a:p>
            <a:pPr>
              <a:lnSpc>
                <a:spcPct val="118000"/>
              </a:lnSpc>
              <a:spcAft>
                <a:spcPts val="300"/>
              </a:spcAft>
            </a:pPr>
            <a:r>
              <a:rPr sz="1150" b="0" u="none">
                <a:solidFill>
                  <a:srgbClr val="1A1A1A"/>
                </a:solidFill>
                <a:latin typeface="Montserrat"/>
              </a:rPr>
              <a:t>El Tribunal de Disciplina se integrara por cinco personas electas por la ciudadania a nivel nacional conforme al procedimiento establecido en el articulo 96 de esta Constitucion.</a:t>
            </a:r>
          </a:p>
          <a:p>
            <a:pPr>
              <a:lnSpc>
                <a:spcPct val="118000"/>
              </a:lnSpc>
              <a:spcAft>
                <a:spcPts val="300"/>
              </a:spcAft>
            </a:pPr>
            <a:r>
              <a:rPr sz="1150" b="0" u="none">
                <a:solidFill>
                  <a:srgbClr val="1A1A1A"/>
                </a:solidFill>
                <a:latin typeface="Montserrat"/>
              </a:rPr>
              <a:t>Para ser elegibles, las Magistradas y Magistrados del Tribunal de Disciplina Judicial deberan reunir los requisitos del articulo 95 y haberse distinguido por su capacidad profesional, honestidad y honorabilidad. Duraran seis anos en su encargo, seran sustituidos de manera escalonada y no podran ser electos para un nuevo periodo. Cada dos anos se renovara la presidencia de manera rotatoria en funcion del numero de votos.</a:t>
            </a:r>
          </a:p>
          <a:p>
            <a:pPr>
              <a:lnSpc>
                <a:spcPct val="118000"/>
              </a:lnSpc>
              <a:spcAft>
                <a:spcPts val="300"/>
              </a:spcAft>
            </a:pPr>
            <a:r>
              <a:rPr sz="1150" b="0" u="none">
                <a:solidFill>
                  <a:srgbClr val="1A1A1A"/>
                </a:solidFill>
                <a:latin typeface="Montserrat"/>
              </a:rPr>
              <a:t>El Tribunal de Disciplina Judicial funcionara en Pleno y en comisiones. El Pleno sera la autoridad substanciadora y resolvera en segunda instancia; podra ordenar investigaciones, atraer procedimientos relacionados con faltas graves o delitos, ordenar medidas cautelares y sancionar a las personas servidoras publicas que incurran en actos u omisiones contrarias a la ley, a la administracion de justicia o a los principios de objetividad, imparcialidad, independencia, profesionalismo o excelencia.</a:t>
            </a:r>
          </a:p>
        </p:txBody>
      </p:sp>
      <p:sp>
        <p:nvSpPr>
          <p:cNvPr id="12" name="Rectangle 11"/>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Articulo 100. El Tribunal de Disciplina Judicial sera un organo del Poder Judicial de la Federacion con independencia tecnica, de gestion y para emitir sus resoluciones.</a:t>
            </a:r>
          </a:p>
          <a:p>
            <a:pPr>
              <a:lnSpc>
                <a:spcPct val="118000"/>
              </a:lnSpc>
              <a:spcAft>
                <a:spcPts val="300"/>
              </a:spcAft>
            </a:pPr>
            <a:r>
              <a:rPr sz="1150" b="0" u="none">
                <a:solidFill>
                  <a:srgbClr val="1A1A1A"/>
                </a:solidFill>
                <a:latin typeface="Montserrat"/>
              </a:rPr>
              <a:t>El Tribunal de Disciplina se integrara por cinco personas electas por la ciudadania a nivel nacional conforme al procedimiento establecido en el articulo 96 de esta Constitucion.</a:t>
            </a:r>
          </a:p>
          <a:p>
            <a:pPr>
              <a:lnSpc>
                <a:spcPct val="118000"/>
              </a:lnSpc>
              <a:spcAft>
                <a:spcPts val="300"/>
              </a:spcAft>
            </a:pPr>
            <a:r>
              <a:rPr sz="1150" b="0" u="none">
                <a:solidFill>
                  <a:srgbClr val="1A1A1A"/>
                </a:solidFill>
                <a:latin typeface="Montserrat"/>
              </a:rPr>
              <a:t>Para ser elegibles, las Magistradas y Magistrados del Tribunal de Disciplina Judicial deberan reunir los requisitos del articulo 95 y haberse distinguido por su capacidad profesional, honestidad y honorabilidad. Duraran seis anos en su encargo, seran sustituidos de manera escalonada y no podran ser electos para un nuevo periodo. Cada dos anos se renovara la presidencia de manera rotatoria en funcion del numero de votos.</a:t>
            </a:r>
          </a:p>
          <a:p>
            <a:pPr>
              <a:lnSpc>
                <a:spcPct val="118000"/>
              </a:lnSpc>
              <a:spcAft>
                <a:spcPts val="300"/>
              </a:spcAft>
            </a:pPr>
            <a:r>
              <a:rPr sz="1150" b="0" u="none">
                <a:solidFill>
                  <a:srgbClr val="1A1A1A"/>
                </a:solidFill>
                <a:latin typeface="Montserrat"/>
              </a:rPr>
              <a:t>El Tribunal de Disciplina Judicial funcionara en Pleno y en comisiones. El Pleno sera la autoridad substanciadora y resolvera en segunda instancia; podra ordenar investigaciones, atraer procedimientos relacionados con faltas graves o delitos, ordenar medidas cautelares y sancionar a las personas servidoras publicas que incurran en actos u omisiones contrarias a la ley, a la administracion de justicia o a los principios de objetividad, imparcialidad, independencia, profesionalismo o excelencia.</a:t>
            </a:r>
          </a:p>
        </p:txBody>
      </p:sp>
      <p:sp>
        <p:nvSpPr>
          <p:cNvPr id="16" name="TextBox 15"/>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7" name="Rectangle 16"/>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0" name="TextBox 19"/>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35 / 44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12140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100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Tribunal de Disciplina Judicial: evaluacion y capacitacion  (2/4)</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Tribunal desahogara el procedimiento de responsabilidades administrativas en primera instancia a traves de comisiones de tres integrantes. Sus resoluciones podran impugnarse ante el Pleno, que resolvera por mayoria de cuatro votos. Las decisiones del Tribunal seran definitivas e inatacables.</a:t>
            </a:r>
          </a:p>
          <a:p>
            <a:pPr>
              <a:lnSpc>
                <a:spcPct val="118000"/>
              </a:lnSpc>
              <a:spcAft>
                <a:spcPts val="300"/>
              </a:spcAft>
            </a:pPr>
            <a:r>
              <a:rPr sz="1150" b="0" u="none">
                <a:solidFill>
                  <a:srgbClr val="1A1A1A"/>
                </a:solidFill>
                <a:latin typeface="Montserrat"/>
              </a:rPr>
              <a:t>El Tribunal conducira sus investigaciones a traves de una unidad responsable de integrar y presentar los informes de probable responsabilidad, pudiendo recolectar indicios, requerir informacion, realizar inspecciones, llamar a comparecer y solicitar medidas cautelares.</a:t>
            </a:r>
          </a:p>
          <a:p>
            <a:pPr>
              <a:lnSpc>
                <a:spcPct val="118000"/>
              </a:lnSpc>
              <a:spcAft>
                <a:spcPts val="300"/>
              </a:spcAft>
            </a:pPr>
            <a:r>
              <a:rPr sz="1150" b="0" u="none">
                <a:solidFill>
                  <a:srgbClr val="1A1A1A"/>
                </a:solidFill>
                <a:latin typeface="Montserrat"/>
              </a:rPr>
              <a:t>El Tribunal podra dar vista al Ministerio Publico ante la posible comision de delitos y, sin perjuicio de sus atribuciones sancionadoras, solicitar el juicio politico de las personas juzgadoras electas por voto popular ante la Camara de Diputados.</a:t>
            </a:r>
          </a:p>
          <a:p>
            <a:pPr>
              <a:lnSpc>
                <a:spcPct val="118000"/>
              </a:lnSpc>
              <a:spcAft>
                <a:spcPts val="300"/>
              </a:spcAft>
            </a:pPr>
            <a:r>
              <a:rPr sz="1150" b="0" u="none">
                <a:solidFill>
                  <a:srgbClr val="1A1A1A"/>
                </a:solidFill>
                <a:latin typeface="Montserrat"/>
              </a:rPr>
              <a:t>Las sanciones podran incluir amonestacion, suspension, sancion economica, destitucion e inhabilitacion, con excepcion de Ministras y Ministros de la SCJN y Magistradas y Magistrados electorales, que solo podran ser removidos en los terminos del Titulo Cuarto de esta Constitucion.</a:t>
            </a:r>
          </a:p>
        </p:txBody>
      </p:sp>
      <p:sp>
        <p:nvSpPr>
          <p:cNvPr id="12" name="Rectangle 11"/>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Tribunal desahogara el procedimiento de responsabilidades administrativas en primera instancia a traves de comisiones de tres integrantes. Sus resoluciones podran impugnarse ante el Pleno, que resolvera por mayoria de cuatro votos. Las decisiones del Tribunal seran definitivas e inatacables.</a:t>
            </a:r>
          </a:p>
          <a:p>
            <a:pPr>
              <a:lnSpc>
                <a:spcPct val="118000"/>
              </a:lnSpc>
              <a:spcAft>
                <a:spcPts val="300"/>
              </a:spcAft>
            </a:pPr>
            <a:r>
              <a:rPr sz="1150" b="0" u="none">
                <a:solidFill>
                  <a:srgbClr val="1A1A1A"/>
                </a:solidFill>
                <a:latin typeface="Montserrat"/>
              </a:rPr>
              <a:t>El Tribunal conducira sus investigaciones a traves de una unidad responsable de integrar y presentar los informes de probable responsabilidad, pudiendo recolectar indicios, requerir informacion, realizar inspecciones, llamar a comparecer y solicitar medidas cautelares.</a:t>
            </a:r>
          </a:p>
          <a:p>
            <a:pPr>
              <a:lnSpc>
                <a:spcPct val="118000"/>
              </a:lnSpc>
              <a:spcAft>
                <a:spcPts val="300"/>
              </a:spcAft>
            </a:pPr>
            <a:r>
              <a:rPr sz="1150" b="0" u="none">
                <a:solidFill>
                  <a:srgbClr val="1A1A1A"/>
                </a:solidFill>
                <a:latin typeface="Montserrat"/>
              </a:rPr>
              <a:t>El Tribunal podra dar vista al Ministerio Publico ante la posible comision de delitos y, sin perjuicio de sus atribuciones sancionadoras, solicitar el juicio politico de las personas juzgadoras electas por voto popular ante la Camara de Diputados.</a:t>
            </a:r>
          </a:p>
          <a:p>
            <a:pPr>
              <a:lnSpc>
                <a:spcPct val="118000"/>
              </a:lnSpc>
              <a:spcAft>
                <a:spcPts val="300"/>
              </a:spcAft>
            </a:pPr>
            <a:r>
              <a:rPr sz="1150" b="0" u="none">
                <a:solidFill>
                  <a:srgbClr val="1A1A1A"/>
                </a:solidFill>
                <a:latin typeface="Montserrat"/>
              </a:rPr>
              <a:t>Las sanciones podran incluir amonestacion, suspension, sancion economica, destitucion e inhabilitacion, con excepcion de Ministras y Ministros de la SCJN y Magistradas y Magistrados electorales, que solo podran ser removidos en los terminos del Titulo Cuarto de esta Constitucion.</a:t>
            </a:r>
          </a:p>
        </p:txBody>
      </p:sp>
      <p:sp>
        <p:nvSpPr>
          <p:cNvPr id="16" name="TextBox 15"/>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7" name="Rectangle 16"/>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0" name="TextBox 19"/>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36 / 44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12140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100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Tribunal de Disciplina Judicial: evaluacion y capacitacion  (3/4)</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Tribunal evaluara el desempeno de las Magistradas y Magistrados de Circuito y las Juezas y Jueces de Distrito que resulten electas </a:t>
            </a:r>
            <a:r>
              <a:rPr sz="1150" b="1" u="sng">
                <a:solidFill>
                  <a:srgbClr val="6B1531"/>
                </a:solidFill>
                <a:latin typeface="Montserrat"/>
              </a:rPr>
              <a:t>en la eleccion federal que corresponda</a:t>
            </a:r>
            <a:r>
              <a:rPr sz="1150" b="0" u="none">
                <a:solidFill>
                  <a:srgbClr val="1A1A1A"/>
                </a:solidFill>
                <a:latin typeface="Montserrat"/>
              </a:rPr>
              <a:t> durante su primer ano de ejercicio. La ley establecera los metodos, criterios e indicadores aplicables a dicha evaluacion.</a:t>
            </a:r>
          </a:p>
          <a:p>
            <a:pPr>
              <a:lnSpc>
                <a:spcPct val="118000"/>
              </a:lnSpc>
              <a:spcAft>
                <a:spcPts val="300"/>
              </a:spcAft>
            </a:pPr>
            <a:r>
              <a:rPr sz="1150" b="0" u="none">
                <a:solidFill>
                  <a:srgbClr val="1A1A1A"/>
                </a:solidFill>
                <a:latin typeface="Montserrat"/>
              </a:rPr>
              <a:t>La ley senalara las </a:t>
            </a:r>
            <a:r>
              <a:rPr sz="1150" b="1" u="sng">
                <a:solidFill>
                  <a:srgbClr val="6B1531"/>
                </a:solidFill>
                <a:latin typeface="Montserrat"/>
              </a:rPr>
              <a:t>areas intervinientes</a:t>
            </a:r>
            <a:r>
              <a:rPr sz="1150" b="0" u="none">
                <a:solidFill>
                  <a:srgbClr val="1A1A1A"/>
                </a:solidFill>
                <a:latin typeface="Montserrat"/>
              </a:rPr>
              <a:t> en los procesos de evaluacion y seguimiento de resultados, garantizando la imparcialidad y objetividad de las personas evaluadoras, asi como los procedimientos para ordenar las siguientes medidas correctivas o sancionadoras cuando la evaluacion resulte insatisfactoria:</a:t>
            </a:r>
          </a:p>
          <a:p>
            <a:pPr>
              <a:lnSpc>
                <a:spcPct val="118000"/>
              </a:lnSpc>
              <a:spcAft>
                <a:spcPts val="300"/>
              </a:spcAft>
            </a:pPr>
            <a:r>
              <a:rPr sz="1150" b="0" u="none">
                <a:solidFill>
                  <a:srgbClr val="1A1A1A"/>
                </a:solidFill>
                <a:latin typeface="Montserrat"/>
              </a:rPr>
              <a:t>a) Medidas de fortalecimiento, consistentes en actividades de capacitacion y otras tendientes a reforzar los conocimientos o competencias de la persona evaluada, a cuyo termino se aplicara una nueva evaluacion, y</a:t>
            </a:r>
          </a:p>
          <a:p>
            <a:pPr>
              <a:lnSpc>
                <a:spcPct val="118000"/>
              </a:lnSpc>
              <a:spcAft>
                <a:spcPts val="300"/>
              </a:spcAft>
            </a:pPr>
            <a:r>
              <a:rPr sz="1150" b="0" u="none">
                <a:solidFill>
                  <a:srgbClr val="1A1A1A"/>
                </a:solidFill>
                <a:latin typeface="Montserrat"/>
              </a:rPr>
              <a:t>b) Cuando la persona servidora publica no acredite favorablemente la evaluacion o se niegue a acatar las medidas correctivas, el Tribunal podra ordenar su suspension de hasta un ano y, transcurrido ese plazo sin acreditarla, resolver de manera fundada y motivada su destitucion, sin responsabilidad para el Poder Judicial.</a:t>
            </a:r>
          </a:p>
        </p:txBody>
      </p:sp>
      <p:sp>
        <p:nvSpPr>
          <p:cNvPr id="12" name="Rectangle 11"/>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El Tribunal evaluara el desempeno de las Magistradas y Magistrados de Circuito y las Juezas y Jueces de Distrito que resulten electas durante su primer ano de ejercicio </a:t>
            </a:r>
            <a:r>
              <a:rPr sz="1150" b="1" u="sng">
                <a:solidFill>
                  <a:srgbClr val="1E5B4F"/>
                </a:solidFill>
                <a:latin typeface="Montserrat"/>
              </a:rPr>
              <a:t>y aplicara programas de capacitacion y actualizacion permanente, para lo cual podra coordinarse con la Escuela Nacional de Formacion Judicial</a:t>
            </a:r>
            <a:r>
              <a:rPr sz="1150" b="0" u="none">
                <a:solidFill>
                  <a:srgbClr val="1A1A1A"/>
                </a:solidFill>
                <a:latin typeface="Montserrat"/>
              </a:rPr>
              <a:t>. La ley establecera los metodos, criterios e indicadores aplicables a los procesos de evaluacion que correspondan.</a:t>
            </a:r>
          </a:p>
          <a:p>
            <a:pPr>
              <a:lnSpc>
                <a:spcPct val="118000"/>
              </a:lnSpc>
              <a:spcAft>
                <a:spcPts val="300"/>
              </a:spcAft>
            </a:pPr>
            <a:r>
              <a:rPr sz="1150" b="0" u="none">
                <a:solidFill>
                  <a:srgbClr val="1A1A1A"/>
                </a:solidFill>
                <a:latin typeface="Montserrat"/>
              </a:rPr>
              <a:t>La ley senalara los </a:t>
            </a:r>
            <a:r>
              <a:rPr sz="1150" b="1" u="sng">
                <a:solidFill>
                  <a:srgbClr val="1E5B4F"/>
                </a:solidFill>
                <a:latin typeface="Montserrat"/>
              </a:rPr>
              <a:t>criterios, metodologias, etapas</a:t>
            </a:r>
            <a:r>
              <a:rPr sz="1150" b="0" u="none">
                <a:solidFill>
                  <a:srgbClr val="1A1A1A"/>
                </a:solidFill>
                <a:latin typeface="Montserrat"/>
              </a:rPr>
              <a:t>, areas intervinientes en los procesos de evaluacion y seguimiento de resultados, garantizando la </a:t>
            </a:r>
            <a:r>
              <a:rPr sz="1150" b="1" u="sng">
                <a:solidFill>
                  <a:srgbClr val="1E5B4F"/>
                </a:solidFill>
                <a:latin typeface="Montserrat"/>
              </a:rPr>
              <a:t>transparencia</a:t>
            </a:r>
            <a:r>
              <a:rPr sz="1150" b="0" u="none">
                <a:solidFill>
                  <a:srgbClr val="1A1A1A"/>
                </a:solidFill>
                <a:latin typeface="Montserrat"/>
              </a:rPr>
              <a:t>, imparcialidad y objetividad de los procesos de evaluacion y de las personas evaluadoras, asi como los procedimientos para ordenar las siguientes medidas correctivas o sancionadoras cuando la evaluacion correspondiente resulte insatisfactoria:</a:t>
            </a:r>
          </a:p>
          <a:p>
            <a:pPr>
              <a:lnSpc>
                <a:spcPct val="118000"/>
              </a:lnSpc>
              <a:spcAft>
                <a:spcPts val="300"/>
              </a:spcAft>
            </a:pPr>
            <a:r>
              <a:rPr sz="1150" b="0" u="none">
                <a:solidFill>
                  <a:srgbClr val="1A1A1A"/>
                </a:solidFill>
                <a:latin typeface="Montserrat"/>
              </a:rPr>
              <a:t>a) Medidas de fortalecimiento, consistentes en actividades de capacitacion y otras tendientes a reforzar los conocimientos o competencias de la persona evaluada, a cuyo termino se aplicara una nueva evaluacion, y</a:t>
            </a:r>
          </a:p>
          <a:p>
            <a:pPr>
              <a:lnSpc>
                <a:spcPct val="118000"/>
              </a:lnSpc>
              <a:spcAft>
                <a:spcPts val="300"/>
              </a:spcAft>
            </a:pPr>
            <a:r>
              <a:rPr sz="1150" b="0" u="none">
                <a:solidFill>
                  <a:srgbClr val="1A1A1A"/>
                </a:solidFill>
                <a:latin typeface="Montserrat"/>
              </a:rPr>
              <a:t>b) Cuando la persona servidora publica no acredite favorablemente la evaluacion o se niegue a acatar las medidas correctivas, el Tribunal podra ordenar su suspension de hasta un ano y, transcurrido ese plazo sin acreditarla, resolver de manera fundada y motivada su destitucion, sin responsabilidad para el Poder Judicial.</a:t>
            </a:r>
          </a:p>
        </p:txBody>
      </p:sp>
      <p:sp>
        <p:nvSpPr>
          <p:cNvPr id="16" name="TextBox 15"/>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7" name="Rectangle 16"/>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0" name="TextBox 19"/>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37 / 44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212140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100 (integro)</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Tribunal de Disciplina Judicial: evaluacion y capacitacion  (4/4)</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Magistradas y los Magistrados del Tribunal de Disciplina ejerceran su funcion con independencia e imparcialidad. Durante su encargo, solo podran ser removidos en los terminos del Titulo Cuarto de esta Constitucion.</a:t>
            </a:r>
          </a:p>
          <a:p>
            <a:pPr>
              <a:lnSpc>
                <a:spcPct val="118000"/>
              </a:lnSpc>
              <a:spcAft>
                <a:spcPts val="300"/>
              </a:spcAft>
            </a:pPr>
            <a:r>
              <a:rPr sz="1150" b="0" u="none">
                <a:solidFill>
                  <a:srgbClr val="1A1A1A"/>
                </a:solidFill>
                <a:latin typeface="Montserrat"/>
              </a:rPr>
              <a:t>El organo de administracion judicial contara con independencia tecnica y de gestion, y sera responsable de la administracion y carrera judicial del Poder Judicial, conforme a las leyes.</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Magistradas y los Magistrados del Tribunal de Disciplina ejerceran su funcion con independencia e imparcialidad. Durante su encargo, solo podran ser removidos en los terminos del Titulo Cuarto de esta Constitucion.</a:t>
            </a:r>
          </a:p>
          <a:p>
            <a:pPr>
              <a:lnSpc>
                <a:spcPct val="118000"/>
              </a:lnSpc>
              <a:spcAft>
                <a:spcPts val="300"/>
              </a:spcAft>
            </a:pPr>
            <a:r>
              <a:rPr sz="1150" b="0" u="none">
                <a:solidFill>
                  <a:srgbClr val="1A1A1A"/>
                </a:solidFill>
                <a:latin typeface="Montserrat"/>
              </a:rPr>
              <a:t>El organo de administracion judicial contara con independencia tecnica y de gestion, y sera responsable de la administracion y carrera judicial del Poder Judicial, conforme a las leyes.</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Se anade capacitacion y actualizacion permanente (Escuela Nac. de Formacion Judicial) y se detalla el proceso con transparencia.</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 'elevar a rango constitucional la capacitacion y actualizacion permanente para todas las personas juzgadoras'.</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38 / 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35584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116 - FRACCION III (integra)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Poderes Judiciales de los Estados  (1/3)</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III. El Poder Judicial de los Estados se ejercera por los tribunales que establezcan las Constituciones respectivas.</a:t>
            </a:r>
          </a:p>
          <a:p>
            <a:pPr>
              <a:lnSpc>
                <a:spcPct val="118000"/>
              </a:lnSpc>
              <a:spcAft>
                <a:spcPts val="300"/>
              </a:spcAft>
            </a:pPr>
            <a:r>
              <a:rPr sz="1150" b="0" u="none">
                <a:solidFill>
                  <a:srgbClr val="1A1A1A"/>
                </a:solidFill>
                <a:latin typeface="Montserrat"/>
              </a:rPr>
              <a:t>La independencia de las magistradas y los magistrados y juezas y jueces en el ejercicio de sus funciones debera estar garantizada por las Constituciones y las Leyes Organicas de los Estados, las cuales estableceran las condiciones para su eleccion por voto directo y secreto de la ciudadania; la creacion de un Tribunal de Disciplina Judicial y de un organo de administracion judicial, conforme a las bases establecidas en esta Constitucion para el Poder Judicial de la Federacion; asi como del ingreso, formacion y permanencia de quienes sirvan a los Poderes Judiciales de los Estados.</a:t>
            </a:r>
          </a:p>
          <a:p>
            <a:pPr>
              <a:lnSpc>
                <a:spcPct val="118000"/>
              </a:lnSpc>
              <a:spcAft>
                <a:spcPts val="300"/>
              </a:spcAft>
            </a:pPr>
            <a:r>
              <a:rPr sz="1150" b="0" u="none">
                <a:solidFill>
                  <a:srgbClr val="1A1A1A"/>
                </a:solidFill>
                <a:latin typeface="Montserrat"/>
              </a:rPr>
              <a:t>Las Magistradas y los Magistrados y las juezas y los jueces integrantes de los Poderes Judiciales Locales deberan reunir los requisitos senalados por las fracciones I a IV del parrafo segundo del articulo 97 de esta Constitucion. No podran ser Magistradas o Magistrados las personas que hayan ocupado el cargo de titular de Secretaria o su equivalente, Fiscal o Diputada o Diputado Local, durante el ano previo a la convocatoria respectiva por el Congreso local.</a:t>
            </a:r>
          </a:p>
        </p:txBody>
      </p:sp>
      <p:sp>
        <p:nvSpPr>
          <p:cNvPr id="12" name="Rectangle 11"/>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III. El Poder Judicial de los Estados se ejercera por los tribunales que establezcan las Constituciones respectivas.</a:t>
            </a:r>
          </a:p>
          <a:p>
            <a:pPr>
              <a:lnSpc>
                <a:spcPct val="118000"/>
              </a:lnSpc>
              <a:spcAft>
                <a:spcPts val="300"/>
              </a:spcAft>
            </a:pPr>
            <a:r>
              <a:rPr sz="1150" b="0" u="none">
                <a:solidFill>
                  <a:srgbClr val="1A1A1A"/>
                </a:solidFill>
                <a:latin typeface="Montserrat"/>
              </a:rPr>
              <a:t>La independencia de las magistradas y los magistrados y juezas y jueces en el ejercicio de sus funciones debera estar garantizada por las Constituciones y las Leyes Organicas de los Estados, las cuales estableceran las condiciones para su eleccion por voto directo y secreto de la ciudadania; la creacion de un Tribunal de Disciplina Judicial y de un organo de administracion judicial, conforme a las bases establecidas en esta Constitucion para el Poder Judicial de la Federacion; asi como del ingreso, formacion y permanencia de quienes sirvan a los Poderes Judiciales de los Estados.</a:t>
            </a:r>
          </a:p>
          <a:p>
            <a:pPr>
              <a:lnSpc>
                <a:spcPct val="118000"/>
              </a:lnSpc>
              <a:spcAft>
                <a:spcPts val="300"/>
              </a:spcAft>
            </a:pPr>
            <a:r>
              <a:rPr sz="1150" b="0" u="none">
                <a:solidFill>
                  <a:srgbClr val="1A1A1A"/>
                </a:solidFill>
                <a:latin typeface="Montserrat"/>
              </a:rPr>
              <a:t>Las Magistradas y los Magistrados y las juezas y los jueces integrantes de los Poderes Judiciales Locales deberan reunir los requisitos senalados por las fracciones I a IV del parrafo segundo del articulo 97 de esta Constitucion. No podran ser Magistradas o Magistrados las personas que hayan ocupado el cargo de titular de Secretaria o su equivalente, Fiscal o Diputada o Diputado Local, durante el ano previo a la convocatoria respectiva por el Congreso local.</a:t>
            </a:r>
          </a:p>
        </p:txBody>
      </p:sp>
      <p:sp>
        <p:nvSpPr>
          <p:cNvPr id="16" name="TextBox 15"/>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7" name="Rectangle 16"/>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0" name="TextBox 19"/>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39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35584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116 - FRACCION III (integra)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Poderes Judiciales de los Estados  (2/3)</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propuestas de candidaturas y la eleccion de los magistrados y jueces integrantes de los Poderes Judiciales Locales se realizaran conforme a las bases, procedimientos, terminos, modalidades y requisitos que senala esta Constitucion para el Poder Judicial de la Federacion </a:t>
            </a:r>
            <a:r>
              <a:rPr sz="1150" b="1" u="sng">
                <a:solidFill>
                  <a:srgbClr val="6B1531"/>
                </a:solidFill>
                <a:latin typeface="Montserrat"/>
              </a:rPr>
              <a:t>en lo que resulte aplicable</a:t>
            </a:r>
            <a:r>
              <a:rPr sz="1150" b="0" u="none">
                <a:solidFill>
                  <a:srgbClr val="1A1A1A"/>
                </a:solidFill>
                <a:latin typeface="Montserrat"/>
              </a:rPr>
              <a:t>, estableciendo mecanismos publicos, abiertos, transparentes, inclusivos, accesibles y paritarios de evaluacion y seleccion que garanticen la participacion de personas que cuenten con los conocimientos tecnicos necesarios para el desempeno del cargo y se hayan distinguido por su honestidad, buena fama publica, competencia y antecedentes profesionales y academicos en el ejercicio de la actividad juridica.</a:t>
            </a:r>
          </a:p>
          <a:p>
            <a:pPr>
              <a:lnSpc>
                <a:spcPct val="118000"/>
              </a:lnSpc>
              <a:spcAft>
                <a:spcPts val="300"/>
              </a:spcAft>
            </a:pPr>
            <a:r>
              <a:rPr sz="1150" b="0" u="none">
                <a:solidFill>
                  <a:srgbClr val="1A1A1A"/>
                </a:solidFill>
                <a:latin typeface="Montserrat"/>
              </a:rPr>
              <a:t>Las y los magistrados y las y los jueces duraran en el ejercicio de su encargo nueve anos, podran ser reelectos y, si lo fueren, solo podran ser privados de sus puestos en los terminos que determinen las Constituciones y las Leyes de Responsabilidades de los Servidores Publicos de los Estados.</a:t>
            </a:r>
          </a:p>
        </p:txBody>
      </p:sp>
      <p:sp>
        <p:nvSpPr>
          <p:cNvPr id="12" name="Rectangle 11"/>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propuestas de candidaturas y la eleccion de los magistrados, magistradas, juezas y jueces integrantes de los Poderes Judiciales Locales </a:t>
            </a:r>
            <a:r>
              <a:rPr sz="1150" b="1" u="sng">
                <a:solidFill>
                  <a:srgbClr val="1E5B4F"/>
                </a:solidFill>
                <a:latin typeface="Montserrat"/>
              </a:rPr>
              <a:t>se sujetaran a las mismas bases, etapas, procedimientos, terminos, plazos, modalidades, requisitos, duracion de los cargos y demas disposiciones que esta Constitucion establece para el Poder Judicial de la Federacion en todo lo que resulte aplicable, incluyendo de manera enunciativa: a) el establecimiento de mecanismos publicos, abiertos, transparentes, inclusivos, accesibles y paritarios de evaluacion y seleccion; b) la integracion por cada poder local de Comites de Evaluacion que, a traves de criterios y metodologias homologadas, seleccionen a las cuatro personas mejor evaluadas para cada cargo; c) la depuracion del listado mediante insaculacion publica, asi como la postulacion por cada poder estatal de dos candidaturas por especialidad, observando la paridad de genero, y d) la evaluacion del desempeno de las personas juzgadoras que resulten electas durante su primer ano de ejercicio, asi como de su capacitacion y actualizacion permanente por parte del Tribunal de Disciplina Judicial local.</a:t>
            </a:r>
          </a:p>
          <a:p>
            <a:pPr>
              <a:lnSpc>
                <a:spcPct val="118000"/>
              </a:lnSpc>
              <a:spcAft>
                <a:spcPts val="300"/>
              </a:spcAft>
            </a:pPr>
            <a:r>
              <a:rPr sz="1150" b="0" u="none">
                <a:solidFill>
                  <a:srgbClr val="1A1A1A"/>
                </a:solidFill>
                <a:latin typeface="Montserrat"/>
              </a:rPr>
              <a:t>Las y los magistrados y las y los jueces duraran en el ejercicio de su encargo nueve anos, podran ser reelectos y, si lo fueren, solo podran ser privados de sus puestos en los terminos que determinen las Constituciones y las Leyes de Responsabilidades de los Servidores Publicos de los Estados.</a:t>
            </a:r>
          </a:p>
        </p:txBody>
      </p:sp>
      <p:sp>
        <p:nvSpPr>
          <p:cNvPr id="16" name="TextBox 15"/>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7" name="Rectangle 16"/>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0" name="TextBox 19"/>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40 / 44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3355848"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116 - FRACCION III (integra)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Poderes Judiciales de los Estados  (3/3)</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magistradas y los magistrados y las juezas y los jueces percibiran una remuneracion adecuada e irrenunciable, la cual no podra ser mayor a la establecida para la persona titular de la Presidencia de la Republica y no sera disminuida durante su encargo.</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magistradas y los magistrados y las juezas y los jueces percibiran una remuneracion adecuada e irrenunciable, la cual no podra ser mayor a la establecida para la persona titular de la Presidencia de la Republica y no sera disminuida durante su encargo.</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La replica local pasa de 'en lo que resulte aplicable' a 'sujetarse estrictamente', con catalogo enunciativo (a-d).</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VII: hubo 'casos en que diversos Estados no se ajustaron al diseno constitucional' (AI 92/2025, 97/2025, 98/2025).</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41 / 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4261104"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122 - APARTADO A, FRACCION IV (integra)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Poder Judicial de la Ciudad de Mexico  (1/2)</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41605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41605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IV. El ejercicio del Poder Judicial se deposita en el Tribunal Superior de Justicia, el Tribunal de Disciplina Judicial local, el organo de administracion judicial y los juzgados y tribunales que establezca la Constitucion Politica de la Ciudad de Mexico, la que garantizara la independencia de los magistrados y jueces en el ejercicio de sus funciones. Las leyes locales estableceran las condiciones para su eleccion por voto libre, directo y secreto de la ciudadania conforme a las bases, procedimientos, terminos, modalidades y requisitos que senala esta Constitucion para el Poder Judicial de la Federacion </a:t>
            </a:r>
            <a:r>
              <a:rPr sz="1150" b="1" u="sng">
                <a:solidFill>
                  <a:srgbClr val="6B1531"/>
                </a:solidFill>
                <a:latin typeface="Montserrat"/>
              </a:rPr>
              <a:t>en lo que resulte aplicable</a:t>
            </a:r>
            <a:r>
              <a:rPr sz="1150" b="0" u="none">
                <a:solidFill>
                  <a:srgbClr val="1A1A1A"/>
                </a:solidFill>
                <a:latin typeface="Montserrat"/>
              </a:rPr>
              <a:t> y los demas que establezca la Constitucion Politica de la Ciudad de Mexico y las leyes correspondientes, estableciendo mecanismos publicos, abiertos, transparentes, inclusivos, accesibles y paritarios de evaluacion y seleccion que garanticen la participacion de personas que cuenten con los conocimientos tecnicos necesarios para el desempeno del cargo y se hayan distinguido por su honestidad, buena fama publica, competencia y antecedentes profesionales y academicos en el ejercicio de la actividad juridica.</a:t>
            </a:r>
          </a:p>
        </p:txBody>
      </p:sp>
      <p:sp>
        <p:nvSpPr>
          <p:cNvPr id="12" name="Rectangle 11"/>
          <p:cNvSpPr/>
          <p:nvPr/>
        </p:nvSpPr>
        <p:spPr>
          <a:xfrm>
            <a:off x="6233007" y="1371600"/>
            <a:ext cx="5410047" cy="41605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41605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36667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IV. El ejercicio del Poder Judicial se deposita en el Tribunal Superior de Justicia, el Tribunal de Disciplina Judicial local, el organo de administracion judicial y los juzgados y tribunales que establezca la Constitucion Politica de la Ciudad de Mexico, la que garantizara la independencia de los magistrados, magistradas, juezas y jueces en el ejercicio de sus funciones. Las leyes locales estableceran las condiciones para su eleccion por voto libre, directo y secreto de la ciudadania </a:t>
            </a:r>
            <a:r>
              <a:rPr sz="1150" b="1" u="sng">
                <a:solidFill>
                  <a:srgbClr val="1E5B4F"/>
                </a:solidFill>
                <a:latin typeface="Montserrat"/>
              </a:rPr>
              <a:t>sujetandose estrictamente a las bases, etapas, procedimientos, terminos, modalidades, requisitos, duracion de los cargos y demas disposiciones que senala esta Constitucion para el Poder Judicial de la Federacion en todo lo que resulte aplicable, incluyendo de manera enunciativa: a) el establecimiento de mecanismos publicos, abiertos, transparentes, inclusivos, accesibles y paritarios de evaluacion y seleccion; b) la integracion por cada poder de la Ciudad de Mexico de Comites de Evaluacion que seleccionen a las cuatro personas mejor evaluadas para cada cargo; c) la depuracion mediante insaculacion publica y la postulacion de dos candidaturas por especialidad, observando la paridad de genero, y d) la evaluacion del desempeno de las personas juzgadoras durante su primer ano de ejercicio, asi como de su capacitacion y actualizacion permanente por parte del Tribunal de Disciplina Judicial de la Ciudad de Mexico.</a:t>
            </a:r>
          </a:p>
        </p:txBody>
      </p:sp>
      <p:sp>
        <p:nvSpPr>
          <p:cNvPr id="16" name="TextBox 15"/>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17" name="Rectangle 16"/>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0" name="TextBox 19"/>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42 /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800"/>
          </a:xfrm>
          <a:prstGeom prst="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457200"/>
            <a:ext cx="4261104" cy="292608"/>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Montserrat"/>
              </a:rPr>
              <a:t>ARTICULO 122 - APARTADO A, FRACCION IV (integra)</a:t>
            </a:r>
          </a:p>
        </p:txBody>
      </p:sp>
      <p:sp>
        <p:nvSpPr>
          <p:cNvPr id="5" name="TextBox 4"/>
          <p:cNvSpPr txBox="1"/>
          <p:nvPr/>
        </p:nvSpPr>
        <p:spPr>
          <a:xfrm>
            <a:off x="548640" y="841248"/>
            <a:ext cx="11094415" cy="502920"/>
          </a:xfrm>
          <a:prstGeom prst="rect">
            <a:avLst/>
          </a:prstGeom>
          <a:noFill/>
        </p:spPr>
        <p:txBody>
          <a:bodyPr wrap="square" anchor="t" lIns="0" rIns="0" tIns="0" bIns="0">
            <a:spAutoFit/>
          </a:bodyPr>
          <a:lstStyle/>
          <a:p>
            <a:pPr algn="l">
              <a:lnSpc>
                <a:spcPct val="115000"/>
              </a:lnSpc>
            </a:pPr>
            <a:r>
              <a:rPr sz="2200" b="1">
                <a:solidFill>
                  <a:srgbClr val="6B1531"/>
                </a:solidFill>
                <a:latin typeface="Montserrat"/>
              </a:rPr>
              <a:t>Poder Judicial de la Ciudad de Mexico  (2/2)</a:t>
            </a:r>
          </a:p>
        </p:txBody>
      </p:sp>
      <p:sp>
        <p:nvSpPr>
          <p:cNvPr id="6" name="Rectangle 5"/>
          <p:cNvSpPr/>
          <p:nvPr/>
        </p:nvSpPr>
        <p:spPr>
          <a:xfrm>
            <a:off x="548640" y="1389888"/>
            <a:ext cx="77724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action="ppaction://hlinksldjump" r:id="rId3"/>
          </p:cNvPr>
          <p:cNvSpPr/>
          <p:nvPr/>
        </p:nvSpPr>
        <p:spPr>
          <a:xfrm>
            <a:off x="9128455" y="457200"/>
            <a:ext cx="2514600" cy="329184"/>
          </a:xfrm>
          <a:prstGeom prst="roundRect">
            <a:avLst/>
          </a:prstGeom>
          <a:solidFill>
            <a:srgbClr val="6B15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FFFFFF"/>
                </a:solidFill>
                <a:latin typeface="Montserrat"/>
              </a:rPr>
              <a:t>&lt; Volver al comparativo</a:t>
            </a:r>
          </a:p>
        </p:txBody>
      </p:sp>
      <p:sp>
        <p:nvSpPr>
          <p:cNvPr id="8" name="Rectangle 7"/>
          <p:cNvSpPr/>
          <p:nvPr/>
        </p:nvSpPr>
        <p:spPr>
          <a:xfrm>
            <a:off x="548640" y="1371600"/>
            <a:ext cx="5410047" cy="3246120"/>
          </a:xfrm>
          <a:prstGeom prst="rect">
            <a:avLst/>
          </a:prstGeom>
          <a:solidFill>
            <a:srgbClr val="F6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50800" cy="3246120"/>
          </a:xfrm>
          <a:prstGeom prst="rect">
            <a:avLst/>
          </a:prstGeom>
          <a:solidFill>
            <a:srgbClr val="9B2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444752"/>
            <a:ext cx="5135727" cy="256032"/>
          </a:xfrm>
          <a:prstGeom prst="rect">
            <a:avLst/>
          </a:prstGeom>
          <a:noFill/>
        </p:spPr>
        <p:txBody>
          <a:bodyPr wrap="square" anchor="t" lIns="0" rIns="0" tIns="0" bIns="0">
            <a:spAutoFit/>
          </a:bodyPr>
          <a:lstStyle/>
          <a:p>
            <a:pPr algn="l">
              <a:lnSpc>
                <a:spcPct val="115000"/>
              </a:lnSpc>
            </a:pPr>
            <a:r>
              <a:rPr sz="1100" b="1">
                <a:solidFill>
                  <a:srgbClr val="6B1531"/>
                </a:solidFill>
                <a:latin typeface="Montserrat"/>
              </a:rPr>
              <a:t>TEXTO VIGENTE (ANTES)  -  lo subrayado cambia</a:t>
            </a:r>
          </a:p>
        </p:txBody>
      </p:sp>
      <p:sp>
        <p:nvSpPr>
          <p:cNvPr id="11" name="TextBox 10"/>
          <p:cNvSpPr txBox="1"/>
          <p:nvPr/>
        </p:nvSpPr>
        <p:spPr>
          <a:xfrm>
            <a:off x="713232"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leyes tambien estableceran las condiciones para el funcionamiento de organos de administracion y disciplina con independencia tecnica, de gestion y para emitir sus resoluciones, conforme a las bases establecidas en esta Constitucion para el Poder Judicial de la Federacion; asi como del ingreso, formacion, permanencia y especializacion de quienes integren el Poder Judicial.</a:t>
            </a:r>
          </a:p>
        </p:txBody>
      </p:sp>
      <p:sp>
        <p:nvSpPr>
          <p:cNvPr id="12" name="Rectangle 11"/>
          <p:cNvSpPr/>
          <p:nvPr/>
        </p:nvSpPr>
        <p:spPr>
          <a:xfrm>
            <a:off x="6233007" y="1371600"/>
            <a:ext cx="5410047" cy="3246120"/>
          </a:xfrm>
          <a:prstGeom prst="rect">
            <a:avLst/>
          </a:prstGeom>
          <a:solidFill>
            <a:srgbClr val="EA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371600"/>
            <a:ext cx="50800" cy="3246120"/>
          </a:xfrm>
          <a:prstGeom prst="rect">
            <a:avLst/>
          </a:prstGeom>
          <a:solidFill>
            <a:srgbClr val="1E5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7599" y="1444752"/>
            <a:ext cx="5135727" cy="256032"/>
          </a:xfrm>
          <a:prstGeom prst="rect">
            <a:avLst/>
          </a:prstGeom>
          <a:noFill/>
        </p:spPr>
        <p:txBody>
          <a:bodyPr wrap="square" anchor="t" lIns="0" rIns="0" tIns="0" bIns="0">
            <a:spAutoFit/>
          </a:bodyPr>
          <a:lstStyle/>
          <a:p>
            <a:pPr algn="l">
              <a:lnSpc>
                <a:spcPct val="115000"/>
              </a:lnSpc>
            </a:pPr>
            <a:r>
              <a:rPr sz="1100" b="1">
                <a:solidFill>
                  <a:srgbClr val="1E5B4F"/>
                </a:solidFill>
                <a:latin typeface="Montserrat"/>
              </a:rPr>
              <a:t>TEXTO REFORMADO (DESPUES)  -  lo subrayado cambia</a:t>
            </a:r>
          </a:p>
        </p:txBody>
      </p:sp>
      <p:sp>
        <p:nvSpPr>
          <p:cNvPr id="15" name="TextBox 14"/>
          <p:cNvSpPr txBox="1"/>
          <p:nvPr/>
        </p:nvSpPr>
        <p:spPr>
          <a:xfrm>
            <a:off x="6397599" y="1773936"/>
            <a:ext cx="5099151" cy="2752344"/>
          </a:xfrm>
          <a:prstGeom prst="rect">
            <a:avLst/>
          </a:prstGeom>
          <a:noFill/>
        </p:spPr>
        <p:txBody>
          <a:bodyPr wrap="square" lIns="0" rIns="0" tIns="0" bIns="0">
            <a:normAutofit/>
          </a:bodyPr>
          <a:lstStyle/>
          <a:p>
            <a:pPr>
              <a:lnSpc>
                <a:spcPct val="118000"/>
              </a:lnSpc>
              <a:spcAft>
                <a:spcPts val="300"/>
              </a:spcAft>
            </a:pPr>
            <a:r>
              <a:rPr sz="1150" b="0" u="none">
                <a:solidFill>
                  <a:srgbClr val="1A1A1A"/>
                </a:solidFill>
                <a:latin typeface="Montserrat"/>
              </a:rPr>
              <a:t>Las leyes tambien estableceran las condiciones para el funcionamiento de organos de administracion y disciplina con independencia tecnica, de gestion y para emitir sus resoluciones, conforme a las bases establecidas en esta Constitucion para el Poder Judicial de la Federacion; asi como del ingreso, formacion, permanencia y especializacion de quienes integren el Poder Judicial.</a:t>
            </a:r>
          </a:p>
        </p:txBody>
      </p:sp>
      <p:sp>
        <p:nvSpPr>
          <p:cNvPr id="16" name="Rectangle 15"/>
          <p:cNvSpPr/>
          <p:nvPr/>
        </p:nvSpPr>
        <p:spPr>
          <a:xfrm>
            <a:off x="548640"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QUE CAMBIA</a:t>
            </a:r>
          </a:p>
        </p:txBody>
      </p:sp>
      <p:sp>
        <p:nvSpPr>
          <p:cNvPr id="19" name="TextBox 18"/>
          <p:cNvSpPr txBox="1"/>
          <p:nvPr/>
        </p:nvSpPr>
        <p:spPr>
          <a:xfrm>
            <a:off x="676656"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La CDMX replica obligatoriamente el modelo federal (Comites locales, 4 mejor evaluadas, insaculacion a 2, paridad y evaluacion del 1er ano).</a:t>
            </a:r>
          </a:p>
        </p:txBody>
      </p:sp>
      <p:sp>
        <p:nvSpPr>
          <p:cNvPr id="20" name="Rectangle 19"/>
          <p:cNvSpPr/>
          <p:nvPr/>
        </p:nvSpPr>
        <p:spPr>
          <a:xfrm>
            <a:off x="6233007" y="4727448"/>
            <a:ext cx="5410047" cy="786384"/>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4727448"/>
            <a:ext cx="38100" cy="786384"/>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1023" y="4791456"/>
            <a:ext cx="5154015" cy="219456"/>
          </a:xfrm>
          <a:prstGeom prst="rect">
            <a:avLst/>
          </a:prstGeom>
          <a:noFill/>
        </p:spPr>
        <p:txBody>
          <a:bodyPr wrap="square" anchor="t" lIns="0" rIns="0" tIns="0" bIns="0">
            <a:spAutoFit/>
          </a:bodyPr>
          <a:lstStyle/>
          <a:p>
            <a:pPr algn="l">
              <a:lnSpc>
                <a:spcPct val="115000"/>
              </a:lnSpc>
            </a:pPr>
            <a:r>
              <a:rPr sz="900" b="1">
                <a:solidFill>
                  <a:srgbClr val="A57F2C"/>
                </a:solidFill>
                <a:latin typeface="Montserrat"/>
              </a:rPr>
              <a:t>POR QUE (DICTAMEN)</a:t>
            </a:r>
          </a:p>
        </p:txBody>
      </p:sp>
      <p:sp>
        <p:nvSpPr>
          <p:cNvPr id="23" name="TextBox 22"/>
          <p:cNvSpPr txBox="1"/>
          <p:nvPr/>
        </p:nvSpPr>
        <p:spPr>
          <a:xfrm>
            <a:off x="6361023" y="5001768"/>
            <a:ext cx="5154015" cy="475488"/>
          </a:xfrm>
          <a:prstGeom prst="rect">
            <a:avLst/>
          </a:prstGeom>
          <a:noFill/>
        </p:spPr>
        <p:txBody>
          <a:bodyPr wrap="square" anchor="t" lIns="0" rIns="0" tIns="0" bIns="0">
            <a:spAutoFit/>
          </a:bodyPr>
          <a:lstStyle/>
          <a:p>
            <a:pPr algn="l">
              <a:lnSpc>
                <a:spcPct val="118000"/>
              </a:lnSpc>
            </a:pPr>
            <a:r>
              <a:rPr sz="880" b="0">
                <a:solidFill>
                  <a:srgbClr val="4A4A4A"/>
                </a:solidFill>
                <a:latin typeface="Montserrat"/>
              </a:rPr>
              <a:t>Eje VII: certeza juridica nacional y homologacion de los Poderes Judiciales locales con el orden federal.</a:t>
            </a:r>
          </a:p>
        </p:txBody>
      </p:sp>
      <p:sp>
        <p:nvSpPr>
          <p:cNvPr id="24" name="TextBox 23"/>
          <p:cNvSpPr txBox="1"/>
          <p:nvPr/>
        </p:nvSpPr>
        <p:spPr>
          <a:xfrm>
            <a:off x="548640" y="6181344"/>
            <a:ext cx="11094415" cy="292608"/>
          </a:xfrm>
          <a:prstGeom prst="rect">
            <a:avLst/>
          </a:prstGeom>
          <a:noFill/>
        </p:spPr>
        <p:txBody>
          <a:bodyPr wrap="square" lIns="0" rIns="0" tIns="0" bIns="0">
            <a:spAutoFit/>
          </a:bodyPr>
          <a:lstStyle/>
          <a:p>
            <a:r>
              <a:rPr sz="850" u="sng">
                <a:solidFill>
                  <a:srgbClr val="9B2247"/>
                </a:solidFill>
                <a:latin typeface="Montserrat"/>
                <a:hlinkClick r:id="rId2"/>
              </a:rPr>
              <a:t>Fuente: Camara de Diputados. (2026, 26 de mayo). Dictamen de la Comision de Puntos Constitucionales (Gaceta Parlamentaria num. 7046, anexo III).</a:t>
            </a:r>
          </a:p>
        </p:txBody>
      </p:sp>
      <p:sp>
        <p:nvSpPr>
          <p:cNvPr id="25" name="Rectangle 24"/>
          <p:cNvSpPr/>
          <p:nvPr/>
        </p:nvSpPr>
        <p:spPr>
          <a:xfrm>
            <a:off x="0" y="6510528"/>
            <a:ext cx="12191695" cy="347472"/>
          </a:xfrm>
          <a:prstGeom prst="rect">
            <a:avLst/>
          </a:prstGeom>
          <a:solidFill>
            <a:srgbClr val="F5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6510528"/>
            <a:ext cx="12191695" cy="254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510528"/>
            <a:ext cx="5547207" cy="292608"/>
          </a:xfrm>
          <a:prstGeom prst="rect">
            <a:avLst/>
          </a:prstGeom>
          <a:noFill/>
        </p:spPr>
        <p:txBody>
          <a:bodyPr wrap="square" anchor="ctr" lIns="0" rIns="0" tIns="0" bIns="0">
            <a:spAutoFit/>
          </a:bodyPr>
          <a:lstStyle/>
          <a:p>
            <a:pPr algn="l">
              <a:lnSpc>
                <a:spcPct val="115000"/>
              </a:lnSpc>
            </a:pPr>
            <a:r>
              <a:rPr sz="900" b="1">
                <a:solidFill>
                  <a:srgbClr val="98989A"/>
                </a:solidFill>
                <a:latin typeface="Montserrat"/>
              </a:rPr>
              <a:t>COMPARATIVO</a:t>
            </a:r>
          </a:p>
        </p:txBody>
      </p:sp>
      <p:sp>
        <p:nvSpPr>
          <p:cNvPr id="28" name="TextBox 27"/>
          <p:cNvSpPr txBox="1"/>
          <p:nvPr/>
        </p:nvSpPr>
        <p:spPr>
          <a:xfrm>
            <a:off x="6095847" y="6510528"/>
            <a:ext cx="5547207" cy="292608"/>
          </a:xfrm>
          <a:prstGeom prst="rect">
            <a:avLst/>
          </a:prstGeom>
          <a:noFill/>
        </p:spPr>
        <p:txBody>
          <a:bodyPr wrap="square" anchor="ctr" lIns="0" rIns="0" tIns="0" bIns="0">
            <a:spAutoFit/>
          </a:bodyPr>
          <a:lstStyle/>
          <a:p>
            <a:pPr algn="r">
              <a:lnSpc>
                <a:spcPct val="115000"/>
              </a:lnSpc>
            </a:pPr>
            <a:r>
              <a:rPr sz="900" b="1">
                <a:solidFill>
                  <a:srgbClr val="98989A"/>
                </a:solidFill>
                <a:latin typeface="Montserrat"/>
              </a:rPr>
              <a:t>43 / 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gradFill rotWithShape="1">
            <a:gsLst>
              <a:gs pos="0">
                <a:srgbClr val="3D0A1C"/>
              </a:gs>
              <a:gs pos="100000">
                <a:srgbClr val="1A1A1A"/>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08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10362895" cy="365760"/>
          </a:xfrm>
          <a:prstGeom prst="rect">
            <a:avLst/>
          </a:prstGeom>
          <a:noFill/>
        </p:spPr>
        <p:txBody>
          <a:bodyPr wrap="square" anchor="t" lIns="0" rIns="0" tIns="0" bIns="0">
            <a:spAutoFit/>
          </a:bodyPr>
          <a:lstStyle/>
          <a:p>
            <a:pPr algn="ctr">
              <a:lnSpc>
                <a:spcPct val="115000"/>
              </a:lnSpc>
            </a:pPr>
            <a:r>
              <a:rPr sz="1300" b="1">
                <a:solidFill>
                  <a:srgbClr val="98989A"/>
                </a:solidFill>
                <a:latin typeface="Montserrat"/>
              </a:rPr>
              <a:t>SINTESIS</a:t>
            </a:r>
          </a:p>
        </p:txBody>
      </p:sp>
      <p:sp>
        <p:nvSpPr>
          <p:cNvPr id="6" name="Rectangle 5"/>
          <p:cNvSpPr/>
          <p:nvPr/>
        </p:nvSpPr>
        <p:spPr>
          <a:xfrm>
            <a:off x="5455767" y="2468880"/>
            <a:ext cx="1280160" cy="38100"/>
          </a:xfrm>
          <a:prstGeom prst="rect">
            <a:avLst/>
          </a:prstGeom>
          <a:solidFill>
            <a:srgbClr val="A57F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697480"/>
            <a:ext cx="11094415" cy="822960"/>
          </a:xfrm>
          <a:prstGeom prst="rect">
            <a:avLst/>
          </a:prstGeom>
          <a:noFill/>
        </p:spPr>
        <p:txBody>
          <a:bodyPr wrap="square" anchor="t" lIns="0" rIns="0" tIns="0" bIns="0">
            <a:spAutoFit/>
          </a:bodyPr>
          <a:lstStyle/>
          <a:p>
            <a:pPr algn="ctr">
              <a:lnSpc>
                <a:spcPct val="115000"/>
              </a:lnSpc>
            </a:pPr>
            <a:r>
              <a:rPr sz="3600" b="1">
                <a:solidFill>
                  <a:srgbClr val="E6D194"/>
                </a:solidFill>
                <a:latin typeface="Montserrat"/>
              </a:rPr>
              <a:t>Reforma al Poder Judicial 2026</a:t>
            </a:r>
          </a:p>
        </p:txBody>
      </p:sp>
      <p:sp>
        <p:nvSpPr>
          <p:cNvPr id="8" name="TextBox 7"/>
          <p:cNvSpPr txBox="1"/>
          <p:nvPr/>
        </p:nvSpPr>
        <p:spPr>
          <a:xfrm>
            <a:off x="548640" y="3611880"/>
            <a:ext cx="11094415" cy="457200"/>
          </a:xfrm>
          <a:prstGeom prst="rect">
            <a:avLst/>
          </a:prstGeom>
          <a:noFill/>
        </p:spPr>
        <p:txBody>
          <a:bodyPr wrap="square" anchor="t" lIns="0" rIns="0" tIns="0" bIns="0">
            <a:spAutoFit/>
          </a:bodyPr>
          <a:lstStyle/>
          <a:p>
            <a:pPr algn="ctr">
              <a:lnSpc>
                <a:spcPct val="115000"/>
              </a:lnSpc>
            </a:pPr>
            <a:r>
              <a:rPr sz="2000" b="0">
                <a:solidFill>
                  <a:srgbClr val="F5F0EB"/>
                </a:solidFill>
                <a:latin typeface="Montserrat"/>
              </a:rPr>
              <a:t>Segunda reforma - Comparativo Antes / Despues</a:t>
            </a:r>
          </a:p>
        </p:txBody>
      </p:sp>
      <p:sp>
        <p:nvSpPr>
          <p:cNvPr id="9" name="TextBox 8"/>
          <p:cNvSpPr txBox="1"/>
          <p:nvPr/>
        </p:nvSpPr>
        <p:spPr>
          <a:xfrm>
            <a:off x="1371600" y="4389120"/>
            <a:ext cx="9448495" cy="731520"/>
          </a:xfrm>
          <a:prstGeom prst="rect">
            <a:avLst/>
          </a:prstGeom>
          <a:noFill/>
        </p:spPr>
        <p:txBody>
          <a:bodyPr wrap="square" anchor="t" lIns="0" rIns="0" tIns="0" bIns="0">
            <a:spAutoFit/>
          </a:bodyPr>
          <a:lstStyle/>
          <a:p>
            <a:pPr algn="ctr">
              <a:lnSpc>
                <a:spcPct val="140000"/>
              </a:lnSpc>
            </a:pPr>
            <a:r>
              <a:rPr sz="1200" b="0">
                <a:solidFill>
                  <a:srgbClr val="98989A"/>
                </a:solidFill>
                <a:latin typeface="Montserrat"/>
              </a:rPr>
              <a:t>Fuentes oficiales y academicas priorizadas - Prensa clasificada - APA 7 - 3 de junio de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